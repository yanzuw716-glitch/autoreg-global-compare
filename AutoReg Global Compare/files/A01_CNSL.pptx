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147481198" r:id="rId2"/>
    <p:sldId id="2147481594" r:id="rId3"/>
    <p:sldId id="2147481657" r:id="rId4"/>
    <p:sldId id="2147481665" r:id="rId5"/>
    <p:sldId id="2147481666" r:id="rId6"/>
    <p:sldId id="2147481667" r:id="rId7"/>
    <p:sldId id="2147481668" r:id="rId8"/>
    <p:sldId id="2147481650" r:id="rId9"/>
    <p:sldId id="2147481670" r:id="rId10"/>
    <p:sldId id="2147481320" r:id="rId11"/>
    <p:sldId id="214748161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8CD7FE72-9734-49DE-99DE-EFF48F99C0F0}">
          <p14:sldIdLst/>
        </p14:section>
        <p14:section name="PRESENTATION" id="{704D60C4-1F58-4045-9824-A751DF7B4B41}">
          <p14:sldIdLst>
            <p14:sldId id="2147481198"/>
            <p14:sldId id="2147481594"/>
          </p14:sldIdLst>
        </p14:section>
        <p14:section name="1.1. Basic-Static center console compression" id="{CCC79F0A-3B27-48A0-9F3C-696D3A19F177}">
          <p14:sldIdLst>
            <p14:sldId id="2147481657"/>
            <p14:sldId id="2147481665"/>
            <p14:sldId id="2147481666"/>
            <p14:sldId id="2147481667"/>
            <p14:sldId id="2147481668"/>
          </p14:sldIdLst>
        </p14:section>
        <p14:section name="1.2. Basic-Static center armrest compression" id="{374A48A0-97DD-487A-B9B7-DB9D96856447}">
          <p14:sldIdLst>
            <p14:sldId id="2147481650"/>
            <p14:sldId id="2147481670"/>
          </p14:sldIdLst>
        </p14:section>
        <p14:section name="3.1. Basic-Noise, vibration, and harshness (NVH)" id="{7F05C7C4-0DC2-4D96-82D7-EBD6965B62E7}">
          <p14:sldIdLst>
            <p14:sldId id="2147481320"/>
          </p14:sldIdLst>
        </p14:section>
        <p14:section name="3.5. Basic-Rear impact" id="{F8596C4D-91F8-4498-B4AC-66CF558A8D7B}">
          <p14:sldIdLst>
            <p14:sldId id="2147481611"/>
          </p14:sldIdLst>
        </p14:section>
        <p14:section name="End" id="{3E4D180E-B3D4-40C0-BD3C-B5CB84B695FF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1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2F3F43-EFD5-471A-BCC6-12F57FC31685}" type="datetimeFigureOut">
              <a:rPr lang="de-DE" smtClean="0"/>
              <a:t>19.04.2026</a:t>
            </a:fld>
            <a:endParaRPr lang="de-DE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de-DE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38F870-B312-48F0-B894-36ADD5C5807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8863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E00FE9-537A-CA4E-B1FB-A898AEF39DD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8651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2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2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C63563-86A8-9464-65F2-8C3EDC8705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5AC9F02-6F91-501D-DD56-90F2F76A5A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7EF367-9E11-608B-2BC3-E7F00854C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ED9A6-B1CE-4824-84A7-C75675DC6CF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728555-E2C7-25E6-4631-B954B65D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BCC46-AC1E-D037-3C38-9DFBF87D7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6774-CAF6-45CE-8781-8FE0B1F899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167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CB6ABB-5F0E-EEB9-188B-C16E3B4DC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DA135C-ABAA-96ED-181C-ECEFB53CB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05DEE0-CB68-E619-8730-F93D3D502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ED9A6-B1CE-4824-84A7-C75675DC6CF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430790-DE06-1CB8-566A-FFEC75ADC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DB474A-B5CB-A792-1536-0C9F09A8F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6774-CAF6-45CE-8781-8FE0B1F899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603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ABFB6A-28E8-3430-9F84-4F4B87FC7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E58CDD-CB0C-24D3-C288-65C11C4B5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9C930F-3FC1-E58F-3F54-D50C5E019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ED9A6-B1CE-4824-84A7-C75675DC6CF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4E6F63-96DA-4586-BAB0-E424F2E54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EC0795-3D03-94F6-BDE5-574EA3B81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6774-CAF6-45CE-8781-8FE0B1F899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711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42C65D-BB8E-FBEA-CD20-1825A86BC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3FD89C-F448-5F51-39BB-ADC77D0FCF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486FB94-FC79-5AB8-AC15-F2DD699EFE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CBFF79D-9381-E0ED-D30C-01DCE1FD2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ED9A6-B1CE-4824-84A7-C75675DC6CF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385D13C-66F0-D260-722E-27C010A8D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7FC9D79-00D2-91B6-131D-92B6CBB92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6774-CAF6-45CE-8781-8FE0B1F899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577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F88EC9-0F5C-D1A7-062C-BC61C6122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FD50968-BE2F-7BAD-1216-6FA31B3529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C36A68D-BD42-FDB2-467F-73C661702D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ED2E28B-6D00-1C76-D1F1-3355C3E2C0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B7C5642-BFA5-AEC6-ECA4-7083831D49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311B00A-9C80-9255-1975-EB06E01F9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ED9A6-B1CE-4824-84A7-C75675DC6CF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AB7CE3E-309C-18E6-5389-3EE0216B6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F2A6E47-31D3-7A11-4193-7C06379C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6774-CAF6-45CE-8781-8FE0B1F899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527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1C63CD-CC8F-886B-D700-917B75E53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AED57C6-5D00-7521-26DF-8C3484EF6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ED9A6-B1CE-4824-84A7-C75675DC6CF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0800C27-1336-808B-E51B-C6722A5F4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C1F2F63-879A-613D-B955-5C4A74616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6774-CAF6-45CE-8781-8FE0B1F899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926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4713BB4-A6A3-E8AE-14EF-A09066755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ED9A6-B1CE-4824-84A7-C75675DC6CF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FC72D57-A5DC-5341-E311-F8E56BB80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730B2B-6AA1-D2A3-B020-73B8DDADE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6774-CAF6-45CE-8781-8FE0B1F899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834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CA4346-14C9-E79B-5680-F6103D0E8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27B486-9954-E27F-E6A8-1ABB2B9DA8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C157382-05CD-E26A-E003-2B16FBE0AD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7CC89F-2B37-3DDF-0791-D98806C0B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ED9A6-B1CE-4824-84A7-C75675DC6CF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C72E9B9-D9B6-3596-176A-9BE0BF7A5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3F86A60-9E3A-82E3-5492-E963B192F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6774-CAF6-45CE-8781-8FE0B1F899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407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4B354A-7150-2DE4-2F18-F9A4B34B4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3AA4E34-91C8-5B6C-4573-BB57F72E1C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02768D5-16B0-83D7-4742-255808A86E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E0BF67-8F52-DDA3-7F17-1145F3A57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ED9A6-B1CE-4824-84A7-C75675DC6CF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28BEBF-319B-7E99-34E9-B7AEF7CD9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CD50DEB-58A9-B78C-04CE-4B3975FF2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6774-CAF6-45CE-8781-8FE0B1F899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523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DFA508-8BC9-6A07-13A5-16DAED8A4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8D2D298-9D72-83BB-1742-DC0425E15E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5B538A-4B2B-D15D-A454-EAA77321D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ED9A6-B1CE-4824-84A7-C75675DC6CF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EAFCE7-4991-A461-6DDB-C575F14D1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19390B-888B-A920-C5A8-F7CC214B0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6774-CAF6-45CE-8781-8FE0B1F899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137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111B923-4A9E-EE42-68C3-94936C12B1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02983B5-0C92-ADCE-8195-3A82B076BA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04D363-9BF4-E781-B382-1E7EC4B7B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ED9A6-B1CE-4824-84A7-C75675DC6CF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649896-20C3-9086-F005-699D1A581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FAE5EA-AA86-5A2F-2778-C75B3EDDC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6774-CAF6-45CE-8781-8FE0B1F899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6774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Mgmt-Zusammenfassung (ohne Bild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/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65472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2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hteck 10"/>
          <p:cNvSpPr/>
          <p:nvPr userDrawn="1"/>
        </p:nvSpPr>
        <p:spPr>
          <a:xfrm>
            <a:off x="401826" y="1428576"/>
            <a:ext cx="11376025" cy="4140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vert="horz" lIns="72000" tIns="36000" rIns="72000" bIns="36000" rtlCol="0">
            <a:noAutofit/>
          </a:bodyPr>
          <a:lstStyle/>
          <a:p>
            <a:pPr marR="0" lvl="0" indent="0" defTabSz="584439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lang="de-DE" sz="1800" b="1" u="sng" kern="100" baseline="0" dirty="0">
              <a:solidFill>
                <a:schemeClr val="tx1"/>
              </a:solidFill>
              <a:latin typeface="VW Text Office"/>
            </a:endParaRPr>
          </a:p>
        </p:txBody>
      </p:sp>
      <p:sp>
        <p:nvSpPr>
          <p:cNvPr id="21" name="Textfeld 20"/>
          <p:cNvSpPr txBox="1"/>
          <p:nvPr userDrawn="1"/>
        </p:nvSpPr>
        <p:spPr>
          <a:xfrm>
            <a:off x="478800" y="1445666"/>
            <a:ext cx="11222076" cy="25581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10884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2000" b="1" dirty="0">
                <a:latin typeface="+mn-lt"/>
              </a:rPr>
              <a:t>Thema:</a:t>
            </a:r>
            <a:endParaRPr lang="de-DE" sz="2000" b="1" dirty="0">
              <a:latin typeface="VW Text Office" panose="020B0504040200000003" pitchFamily="34" charset="0"/>
            </a:endParaRPr>
          </a:p>
        </p:txBody>
      </p:sp>
      <p:sp>
        <p:nvSpPr>
          <p:cNvPr id="26" name="Inhaltsplatzhalter 25"/>
          <p:cNvSpPr>
            <a:spLocks noGrp="1"/>
          </p:cNvSpPr>
          <p:nvPr>
            <p:ph sz="quarter" idx="44" hasCustomPrompt="1"/>
          </p:nvPr>
        </p:nvSpPr>
        <p:spPr>
          <a:xfrm>
            <a:off x="1386807" y="1481970"/>
            <a:ext cx="10468018" cy="315700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de-DE" dirty="0"/>
              <a:t>Thema</a:t>
            </a:r>
          </a:p>
        </p:txBody>
      </p:sp>
      <p:sp>
        <p:nvSpPr>
          <p:cNvPr id="19" name="Foliennummernplatzhalter 28">
            <a:extLst>
              <a:ext uri="{FF2B5EF4-FFF2-40B4-BE49-F238E27FC236}">
                <a16:creationId xmlns:a16="http://schemas.microsoft.com/office/drawing/2014/main" id="{F885C57F-AD33-4E02-982D-AFB5FBE995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478801" y="6551476"/>
            <a:ext cx="360040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spcBef>
                <a:spcPts val="0"/>
              </a:spcBef>
              <a:defRPr sz="1000">
                <a:solidFill>
                  <a:schemeClr val="tx1"/>
                </a:solidFill>
              </a:defRPr>
            </a:lvl1pPr>
          </a:lstStyle>
          <a:p>
            <a:fld id="{D9249B2F-9173-48D3-A5BC-90A6758C671B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0" name="Rechteck 19"/>
          <p:cNvSpPr/>
          <p:nvPr userDrawn="1"/>
        </p:nvSpPr>
        <p:spPr>
          <a:xfrm>
            <a:off x="410535" y="1844675"/>
            <a:ext cx="11376025" cy="335382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vert="horz" lIns="72000" tIns="36000" rIns="72000" bIns="36000" rtlCol="0">
            <a:noAutofit/>
          </a:bodyPr>
          <a:lstStyle/>
          <a:p>
            <a:pPr marL="0" marR="0" lvl="0" indent="0" algn="l" defTabSz="10884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800" b="1" dirty="0">
                <a:latin typeface="+mn-lt"/>
              </a:rPr>
              <a:t>Situation/Optionen:</a:t>
            </a:r>
            <a:endParaRPr lang="de-DE" sz="1800" b="1" dirty="0">
              <a:latin typeface="VW Text Office" panose="020B0504040200000003" pitchFamily="34" charset="0"/>
            </a:endParaRPr>
          </a:p>
        </p:txBody>
      </p:sp>
      <p:sp>
        <p:nvSpPr>
          <p:cNvPr id="27" name="Rechteck 26"/>
          <p:cNvSpPr/>
          <p:nvPr userDrawn="1"/>
        </p:nvSpPr>
        <p:spPr>
          <a:xfrm>
            <a:off x="407989" y="5296786"/>
            <a:ext cx="11376024" cy="115640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vert="horz" lIns="72000" tIns="36000" rIns="72000" bIns="36000" rtlCol="0">
            <a:noAutofit/>
          </a:bodyPr>
          <a:lstStyle/>
          <a:p>
            <a:pPr marR="0" lvl="0" indent="0" defTabSz="584439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lang="de-DE" sz="1800" b="1" kern="100" baseline="0">
              <a:solidFill>
                <a:schemeClr val="tx1"/>
              </a:solidFill>
              <a:latin typeface="VW Text Office"/>
            </a:endParaRPr>
          </a:p>
        </p:txBody>
      </p:sp>
      <p:sp>
        <p:nvSpPr>
          <p:cNvPr id="29" name="Textfeld 28"/>
          <p:cNvSpPr txBox="1"/>
          <p:nvPr userDrawn="1"/>
        </p:nvSpPr>
        <p:spPr>
          <a:xfrm>
            <a:off x="478801" y="5317039"/>
            <a:ext cx="3784279" cy="25581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10884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800" b="1" dirty="0">
                <a:latin typeface="+mn-lt"/>
              </a:rPr>
              <a:t>S</a:t>
            </a:r>
            <a:r>
              <a:rPr lang="en-US" altLang="zh-CN" sz="1800" b="1" dirty="0" err="1">
                <a:latin typeface="+mn-lt"/>
              </a:rPr>
              <a:t>ummary</a:t>
            </a:r>
            <a:r>
              <a:rPr lang="de-DE" sz="1800" b="1" dirty="0">
                <a:latin typeface="+mn-lt"/>
              </a:rPr>
              <a:t>:</a:t>
            </a:r>
            <a:endParaRPr lang="de-DE" sz="1800" b="1" dirty="0">
              <a:latin typeface="VW Text Office" panose="020B0504040200000003" pitchFamily="34" charset="0"/>
            </a:endParaRPr>
          </a:p>
        </p:txBody>
      </p:sp>
      <p:sp>
        <p:nvSpPr>
          <p:cNvPr id="31" name="Textplatzhalter 2"/>
          <p:cNvSpPr>
            <a:spLocks noGrp="1"/>
          </p:cNvSpPr>
          <p:nvPr>
            <p:ph idx="45" hasCustomPrompt="1"/>
          </p:nvPr>
        </p:nvSpPr>
        <p:spPr>
          <a:xfrm>
            <a:off x="478801" y="5626955"/>
            <a:ext cx="11305212" cy="697389"/>
          </a:xfrm>
          <a:prstGeom prst="rect">
            <a:avLst/>
          </a:prstGeom>
        </p:spPr>
        <p:txBody>
          <a:bodyPr vert="horz" lIns="72000" tIns="0" rIns="0" bIns="0" rtlCol="0">
            <a:noAutofit/>
          </a:bodyPr>
          <a:lstStyle>
            <a:lvl1pPr marL="0" marR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1600" b="0"/>
            </a:lvl1pPr>
            <a:lvl2pPr marL="539750" indent="-269875">
              <a:buClrTx/>
              <a:buFont typeface="Webdings" panose="05030102010509060703" pitchFamily="18" charset="2"/>
              <a:buChar char="4"/>
              <a:defRPr sz="1400"/>
            </a:lvl2pPr>
            <a:lvl3pPr marL="809625" indent="-269875">
              <a:buClrTx/>
              <a:buFont typeface="Wingdings" panose="05000000000000000000" pitchFamily="2" charset="2"/>
              <a:buChar char="§"/>
              <a:tabLst>
                <a:tab pos="809625" algn="l"/>
              </a:tabLst>
              <a:defRPr sz="1400"/>
            </a:lvl3pPr>
            <a:lvl4pPr marL="1079500" indent="-203200">
              <a:buClrTx/>
              <a:buFont typeface="Arial" panose="020B0604020202020204" pitchFamily="34" charset="0"/>
              <a:buChar char="-"/>
              <a:defRPr sz="1400"/>
            </a:lvl4pPr>
            <a:lvl5pPr marL="1341438" indent="-173038">
              <a:buClrTx/>
              <a:buFont typeface="Arial" panose="020B0604020202020204" pitchFamily="34" charset="0"/>
              <a:buChar char="-"/>
              <a:defRPr sz="1400"/>
            </a:lvl5pPr>
          </a:lstStyle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de-DE" noProof="0" dirty="0"/>
              <a:t>S</a:t>
            </a:r>
            <a:r>
              <a:rPr lang="en-US" altLang="zh-CN" noProof="0" dirty="0" err="1"/>
              <a:t>ummary</a:t>
            </a:r>
            <a:r>
              <a:rPr lang="en-US" altLang="zh-CN" noProof="0" dirty="0"/>
              <a:t> </a:t>
            </a:r>
            <a:r>
              <a:rPr lang="de-DE" noProof="0" dirty="0"/>
              <a:t>1</a:t>
            </a:r>
            <a:r>
              <a:rPr lang="zh-CN" altLang="en-US" dirty="0"/>
              <a:t>简单描述工况计算结果</a:t>
            </a:r>
            <a:endParaRPr lang="de-DE" noProof="0" dirty="0"/>
          </a:p>
          <a:p>
            <a:pPr lvl="0"/>
            <a:r>
              <a:rPr lang="de-DE" noProof="0" dirty="0"/>
              <a:t>S</a:t>
            </a:r>
            <a:r>
              <a:rPr lang="en-US" altLang="zh-CN" noProof="0" dirty="0" err="1"/>
              <a:t>ummary</a:t>
            </a:r>
            <a:r>
              <a:rPr lang="de-DE" noProof="0" dirty="0"/>
              <a:t> 2</a:t>
            </a:r>
          </a:p>
          <a:p>
            <a:pPr lvl="0"/>
            <a:r>
              <a:rPr lang="de-DE" noProof="0" dirty="0"/>
              <a:t>S</a:t>
            </a:r>
            <a:r>
              <a:rPr lang="en-US" altLang="zh-CN" noProof="0" dirty="0" err="1"/>
              <a:t>ummary</a:t>
            </a:r>
            <a:r>
              <a:rPr lang="en-US" altLang="zh-CN" noProof="0" dirty="0"/>
              <a:t> </a:t>
            </a:r>
            <a:r>
              <a:rPr lang="de-DE" noProof="0" dirty="0"/>
              <a:t>3</a:t>
            </a:r>
          </a:p>
          <a:p>
            <a:pPr lvl="0"/>
            <a:endParaRPr lang="de-DE" noProof="0" dirty="0"/>
          </a:p>
        </p:txBody>
      </p:sp>
      <p:sp>
        <p:nvSpPr>
          <p:cNvPr id="25" name="Textplatzhalter 7">
            <a:extLst>
              <a:ext uri="{FF2B5EF4-FFF2-40B4-BE49-F238E27FC236}">
                <a16:creationId xmlns:a16="http://schemas.microsoft.com/office/drawing/2014/main" id="{B365DD1F-E103-4D8F-81A3-7E80E5BAAF2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07988" y="1052513"/>
            <a:ext cx="11379164" cy="360099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600" spc="10" baseline="0"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2600"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2600"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2600"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2600">
                <a:latin typeface="+mn-lt"/>
              </a:defRPr>
            </a:lvl5pPr>
          </a:lstStyle>
          <a:p>
            <a:pPr lvl="0"/>
            <a:r>
              <a:rPr lang="en-US" noProof="0" dirty="0"/>
              <a:t>Overview</a:t>
            </a:r>
          </a:p>
        </p:txBody>
      </p:sp>
      <p:sp>
        <p:nvSpPr>
          <p:cNvPr id="28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407986" y="647687"/>
            <a:ext cx="11376025" cy="387798"/>
          </a:xfrm>
        </p:spPr>
        <p:txBody>
          <a:bodyPr vert="horz"/>
          <a:lstStyle>
            <a:lvl1pPr>
              <a:defRPr b="0"/>
            </a:lvl1pPr>
          </a:lstStyle>
          <a:p>
            <a:r>
              <a:rPr lang="en-US" noProof="0" dirty="0" err="1"/>
              <a:t>VWxxx</a:t>
            </a:r>
            <a:r>
              <a:rPr lang="en-US" noProof="0" dirty="0"/>
              <a:t>/</a:t>
            </a:r>
            <a:r>
              <a:rPr lang="en-US" noProof="0" dirty="0" err="1"/>
              <a:t>xCM</a:t>
            </a:r>
            <a:r>
              <a:rPr lang="en-US" noProof="0" dirty="0"/>
              <a:t> </a:t>
            </a:r>
            <a:r>
              <a:rPr lang="en-US" altLang="zh-CN" noProof="0" dirty="0"/>
              <a:t>part</a:t>
            </a:r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46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52570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Mgmt-Zusammenfassung (ohne Bild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/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710343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Foliennummernplatzhalter 28">
            <a:extLst>
              <a:ext uri="{FF2B5EF4-FFF2-40B4-BE49-F238E27FC236}">
                <a16:creationId xmlns:a16="http://schemas.microsoft.com/office/drawing/2014/main" id="{F885C57F-AD33-4E02-982D-AFB5FBE995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478801" y="6551476"/>
            <a:ext cx="360040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spcBef>
                <a:spcPts val="0"/>
              </a:spcBef>
              <a:defRPr sz="1000">
                <a:solidFill>
                  <a:schemeClr val="tx1"/>
                </a:solidFill>
              </a:defRPr>
            </a:lvl1pPr>
          </a:lstStyle>
          <a:p>
            <a:fld id="{D9249B2F-9173-48D3-A5BC-90A6758C671B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0" name="Rechteck 19"/>
          <p:cNvSpPr/>
          <p:nvPr userDrawn="1"/>
        </p:nvSpPr>
        <p:spPr>
          <a:xfrm>
            <a:off x="407988" y="1844675"/>
            <a:ext cx="11376025" cy="4608513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vert="horz" lIns="72000" tIns="36000" rIns="72000" bIns="36000" rtlCol="0">
            <a:noAutofit/>
          </a:bodyPr>
          <a:lstStyle/>
          <a:p>
            <a:pPr marL="0" marR="0" lvl="0" indent="0" algn="l" defTabSz="10884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800" b="1" dirty="0">
              <a:latin typeface="VW Text Office" panose="020B0504040200000003" pitchFamily="34" charset="0"/>
            </a:endParaRPr>
          </a:p>
        </p:txBody>
      </p:sp>
      <p:sp>
        <p:nvSpPr>
          <p:cNvPr id="13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407986" y="647687"/>
            <a:ext cx="11376025" cy="387798"/>
          </a:xfrm>
        </p:spPr>
        <p:txBody>
          <a:bodyPr vert="horz"/>
          <a:lstStyle>
            <a:lvl1pPr>
              <a:defRPr b="0"/>
            </a:lvl1pPr>
          </a:lstStyle>
          <a:p>
            <a:r>
              <a:rPr lang="en-US" noProof="0" dirty="0" err="1"/>
              <a:t>VWxxx</a:t>
            </a:r>
            <a:r>
              <a:rPr lang="en-US" noProof="0" dirty="0"/>
              <a:t>/</a:t>
            </a:r>
            <a:r>
              <a:rPr lang="en-US" noProof="0" dirty="0" err="1"/>
              <a:t>xCM</a:t>
            </a:r>
            <a:r>
              <a:rPr lang="en-US" noProof="0" dirty="0"/>
              <a:t> </a:t>
            </a:r>
            <a:r>
              <a:rPr lang="en-US" altLang="zh-CN" noProof="0" dirty="0"/>
              <a:t>part</a:t>
            </a:r>
            <a:endParaRPr lang="en-US" noProof="0" dirty="0"/>
          </a:p>
        </p:txBody>
      </p:sp>
      <p:sp>
        <p:nvSpPr>
          <p:cNvPr id="16" name="Textplatzhalter 7">
            <a:extLst>
              <a:ext uri="{FF2B5EF4-FFF2-40B4-BE49-F238E27FC236}">
                <a16:creationId xmlns:a16="http://schemas.microsoft.com/office/drawing/2014/main" id="{B365DD1F-E103-4D8F-81A3-7E80E5BAAF2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07988" y="1052513"/>
            <a:ext cx="11379164" cy="360099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600" spc="10" baseline="0"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2600"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2600"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2600"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2600">
                <a:latin typeface="+mn-lt"/>
              </a:defRPr>
            </a:lvl5pPr>
          </a:lstStyle>
          <a:p>
            <a:pPr lvl="0"/>
            <a:r>
              <a:rPr lang="en-US" noProof="0" dirty="0"/>
              <a:t>Results Summary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29945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Mgmt-Zusammenfassung (ohne Bild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/>
          <p:cNvGraphicFramePr>
            <a:graphicFrameLocks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4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Foliennummernplatzhalter 28">
            <a:extLst>
              <a:ext uri="{FF2B5EF4-FFF2-40B4-BE49-F238E27FC236}">
                <a16:creationId xmlns:a16="http://schemas.microsoft.com/office/drawing/2014/main" id="{F885C57F-AD33-4E02-982D-AFB5FBE995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478801" y="6551476"/>
            <a:ext cx="360040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spcBef>
                <a:spcPts val="0"/>
              </a:spcBef>
              <a:defRPr sz="1000">
                <a:solidFill>
                  <a:schemeClr val="tx1"/>
                </a:solidFill>
              </a:defRPr>
            </a:lvl1pPr>
          </a:lstStyle>
          <a:p>
            <a:fld id="{D9249B2F-9173-48D3-A5BC-90A6758C671B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0" name="Rechteck 19"/>
          <p:cNvSpPr/>
          <p:nvPr userDrawn="1"/>
        </p:nvSpPr>
        <p:spPr>
          <a:xfrm>
            <a:off x="407987" y="1844675"/>
            <a:ext cx="11376025" cy="373982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vert="horz" lIns="72000" tIns="36000" rIns="72000" bIns="36000" rtlCol="0">
            <a:noAutofit/>
          </a:bodyPr>
          <a:lstStyle/>
          <a:p>
            <a:pPr marL="0" marR="0" lvl="0" indent="0" algn="l" defTabSz="10884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800" b="1" dirty="0">
              <a:latin typeface="VW Text Office" panose="020B0504040200000003" pitchFamily="34" charset="0"/>
            </a:endParaRPr>
          </a:p>
        </p:txBody>
      </p:sp>
      <p:sp>
        <p:nvSpPr>
          <p:cNvPr id="27" name="Rechteck 26"/>
          <p:cNvSpPr/>
          <p:nvPr userDrawn="1"/>
        </p:nvSpPr>
        <p:spPr>
          <a:xfrm>
            <a:off x="407989" y="5682788"/>
            <a:ext cx="11376024" cy="7704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vert="horz" lIns="72000" tIns="36000" rIns="72000" bIns="36000" rtlCol="0">
            <a:noAutofit/>
          </a:bodyPr>
          <a:lstStyle/>
          <a:p>
            <a:pPr marR="0" lvl="0" indent="0" defTabSz="584439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lang="de-DE" sz="1800" b="1" kern="100" baseline="0">
              <a:solidFill>
                <a:schemeClr val="tx1"/>
              </a:solidFill>
              <a:latin typeface="VW Text Office"/>
            </a:endParaRPr>
          </a:p>
        </p:txBody>
      </p:sp>
      <p:sp>
        <p:nvSpPr>
          <p:cNvPr id="31" name="Textplatzhalter 2"/>
          <p:cNvSpPr>
            <a:spLocks noGrp="1"/>
          </p:cNvSpPr>
          <p:nvPr>
            <p:ph idx="45" hasCustomPrompt="1"/>
          </p:nvPr>
        </p:nvSpPr>
        <p:spPr>
          <a:xfrm>
            <a:off x="526426" y="5716935"/>
            <a:ext cx="11132462" cy="697389"/>
          </a:xfrm>
          <a:prstGeom prst="rect">
            <a:avLst/>
          </a:prstGeom>
        </p:spPr>
        <p:txBody>
          <a:bodyPr vert="horz" lIns="72000" tIns="0" rIns="0" bIns="0" rtlCol="0">
            <a:noAutofit/>
          </a:bodyPr>
          <a:lstStyle>
            <a:lvl1pPr marL="0" marR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1600" b="0"/>
            </a:lvl1pPr>
            <a:lvl2pPr marL="539750" indent="-269875">
              <a:buClrTx/>
              <a:buFont typeface="Webdings" panose="05030102010509060703" pitchFamily="18" charset="2"/>
              <a:buChar char="4"/>
              <a:defRPr sz="1400"/>
            </a:lvl2pPr>
            <a:lvl3pPr marL="809625" indent="-269875">
              <a:buClrTx/>
              <a:buFont typeface="Wingdings" panose="05000000000000000000" pitchFamily="2" charset="2"/>
              <a:buChar char="§"/>
              <a:tabLst>
                <a:tab pos="809625" algn="l"/>
              </a:tabLst>
              <a:defRPr sz="1400"/>
            </a:lvl3pPr>
            <a:lvl4pPr marL="1079500" indent="-203200">
              <a:buClrTx/>
              <a:buFont typeface="Arial" panose="020B0604020202020204" pitchFamily="34" charset="0"/>
              <a:buChar char="-"/>
              <a:defRPr sz="1400"/>
            </a:lvl4pPr>
            <a:lvl5pPr marL="1341438" indent="-173038">
              <a:buClrTx/>
              <a:buFont typeface="Arial" panose="020B0604020202020204" pitchFamily="34" charset="0"/>
              <a:buChar char="-"/>
              <a:defRPr sz="1400"/>
            </a:lvl5pPr>
          </a:lstStyle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de-DE" noProof="0" dirty="0"/>
              <a:t>S</a:t>
            </a:r>
            <a:r>
              <a:rPr lang="en-US" altLang="zh-CN" noProof="0" dirty="0" err="1"/>
              <a:t>ummary</a:t>
            </a:r>
            <a:r>
              <a:rPr lang="en-US" altLang="zh-CN" noProof="0" dirty="0"/>
              <a:t> </a:t>
            </a:r>
            <a:r>
              <a:rPr lang="de-DE" noProof="0" dirty="0"/>
              <a:t>1</a:t>
            </a:r>
            <a:r>
              <a:rPr lang="zh-CN" altLang="en-US" dirty="0"/>
              <a:t>简单描述工况计算结果</a:t>
            </a:r>
            <a:endParaRPr lang="de-DE" noProof="0" dirty="0"/>
          </a:p>
          <a:p>
            <a:pPr lvl="0"/>
            <a:r>
              <a:rPr lang="de-DE" noProof="0" dirty="0"/>
              <a:t>S</a:t>
            </a:r>
            <a:r>
              <a:rPr lang="en-US" altLang="zh-CN" noProof="0" dirty="0" err="1"/>
              <a:t>ummary</a:t>
            </a:r>
            <a:r>
              <a:rPr lang="de-DE" noProof="0" dirty="0"/>
              <a:t> 2</a:t>
            </a:r>
          </a:p>
          <a:p>
            <a:pPr lvl="0"/>
            <a:r>
              <a:rPr lang="de-DE" noProof="0" dirty="0"/>
              <a:t>S</a:t>
            </a:r>
            <a:r>
              <a:rPr lang="en-US" altLang="zh-CN" noProof="0" dirty="0" err="1"/>
              <a:t>ummary</a:t>
            </a:r>
            <a:r>
              <a:rPr lang="en-US" altLang="zh-CN" noProof="0" dirty="0"/>
              <a:t> </a:t>
            </a:r>
            <a:r>
              <a:rPr lang="de-DE" noProof="0" dirty="0"/>
              <a:t>3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46"/>
          </p:nvPr>
        </p:nvSpPr>
        <p:spPr>
          <a:xfrm>
            <a:off x="7129849" y="1964723"/>
            <a:ext cx="4529039" cy="3550552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16" name="Tabellenplatzhalter 3"/>
          <p:cNvSpPr>
            <a:spLocks noGrp="1"/>
          </p:cNvSpPr>
          <p:nvPr>
            <p:ph type="tbl" sz="quarter" idx="47"/>
          </p:nvPr>
        </p:nvSpPr>
        <p:spPr>
          <a:xfrm>
            <a:off x="526426" y="1964724"/>
            <a:ext cx="6529282" cy="3550551"/>
          </a:xfrm>
        </p:spPr>
        <p:txBody>
          <a:bodyPr/>
          <a:lstStyle/>
          <a:p>
            <a:endParaRPr lang="de-DE"/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B365DD1F-E103-4D8F-81A3-7E80E5BAAF2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07988" y="1052513"/>
            <a:ext cx="11379164" cy="360099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600" spc="10" baseline="0"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2600"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2600"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2600"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2600">
                <a:latin typeface="+mn-lt"/>
              </a:defRPr>
            </a:lvl5pPr>
          </a:lstStyle>
          <a:p>
            <a:pPr lvl="0"/>
            <a:r>
              <a:rPr lang="en-US" altLang="zh-CN" noProof="0" dirty="0" err="1"/>
              <a:t>Loadcase</a:t>
            </a:r>
            <a:r>
              <a:rPr lang="en-US" altLang="zh-CN" noProof="0" dirty="0"/>
              <a:t> results overview</a:t>
            </a:r>
            <a:endParaRPr lang="en-US" noProof="0" dirty="0"/>
          </a:p>
        </p:txBody>
      </p:sp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407986" y="647687"/>
            <a:ext cx="11376025" cy="387798"/>
          </a:xfrm>
        </p:spPr>
        <p:txBody>
          <a:bodyPr vert="horz"/>
          <a:lstStyle>
            <a:lvl1pPr>
              <a:defRPr b="0"/>
            </a:lvl1pPr>
          </a:lstStyle>
          <a:p>
            <a:r>
              <a:rPr lang="en-US" noProof="0" dirty="0" err="1"/>
              <a:t>VWxxx</a:t>
            </a:r>
            <a:r>
              <a:rPr lang="en-US" noProof="0" dirty="0"/>
              <a:t>/</a:t>
            </a:r>
            <a:r>
              <a:rPr lang="en-US" noProof="0" dirty="0" err="1"/>
              <a:t>xCM</a:t>
            </a:r>
            <a:r>
              <a:rPr lang="en-US" noProof="0" dirty="0"/>
              <a:t> </a:t>
            </a:r>
            <a:r>
              <a:rPr lang="en-US" altLang="zh-CN" noProof="0" dirty="0"/>
              <a:t>part</a:t>
            </a:r>
            <a:endParaRPr lang="en-US" noProof="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98776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422CE02A-6E83-E3BC-B092-3C48570DD49C}"/>
              </a:ext>
            </a:extLst>
          </p:cNvPr>
          <p:cNvGraphicFramePr>
            <a:graphicFrameLocks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5138455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7" imgW="395" imgH="394" progId="TCLayout.ActiveDocument.1">
                  <p:embed/>
                </p:oleObj>
              </mc:Choice>
              <mc:Fallback>
                <p:oleObj name="think-cell 幻灯片" r:id="rId17" imgW="395" imgH="394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22CE02A-6E83-E3BC-B092-3C48570DD4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D27510-44DE-E933-1AB4-D72DB378B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0D696D-F202-57C8-72B4-20C92A792E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0C6236-91A3-8006-52EC-783EC6333A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9ED9A6-B1CE-4824-84A7-C75675DC6CF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4D7050-33E9-B617-441A-6F89C667CA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F967DD-8FEB-A3BB-03F5-CB3FD449D3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A16774-CAF6-45CE-8781-8FE0B1F899E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1A7D635-F4B5-1084-5741-FCD20B900E1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5445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588481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5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.xml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8.xml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9.xml"/><Relationship Id="rId4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0.xml"/><Relationship Id="rId4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1.xml"/><Relationship Id="rId4" Type="http://schemas.openxmlformats.org/officeDocument/2006/relationships/image" Target="../media/image3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2.xml"/><Relationship Id="rId4" Type="http://schemas.openxmlformats.org/officeDocument/2006/relationships/image" Target="../media/image3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3.xml"/><Relationship Id="rId4" Type="http://schemas.openxmlformats.org/officeDocument/2006/relationships/image" Target="../media/image3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4.xml"/><Relationship Id="rId4" Type="http://schemas.openxmlformats.org/officeDocument/2006/relationships/image" Target="../media/image3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5.xml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think-cell data - do not delete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25" imgH="426" progId="TCLayout.ActiveDocument.1">
                  <p:embed/>
                </p:oleObj>
              </mc:Choice>
              <mc:Fallback>
                <p:oleObj name="think-cell 幻灯片" r:id="rId4" imgW="425" imgH="426" progId="TCLayout.ActiveDocument.1">
                  <p:embed/>
                  <p:pic>
                    <p:nvPicPr>
                      <p:cNvPr id="21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9249B2F-9173-48D3-A5BC-90A6758C671B}" type="slidenum">
              <a:rPr lang="en-GB" noProof="0" smtClean="0"/>
              <a:pPr/>
              <a:t>1</a:t>
            </a:fld>
            <a:endParaRPr lang="en-GB" noProof="0" dirty="0"/>
          </a:p>
        </p:txBody>
      </p:sp>
      <p:sp>
        <p:nvSpPr>
          <p:cNvPr id="20" name="内容占位符 19"/>
          <p:cNvSpPr>
            <a:spLocks noGrp="1"/>
          </p:cNvSpPr>
          <p:nvPr>
            <p:ph idx="45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400" dirty="0"/>
              <a:t>All the load cases can meet the target.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vert="horz" rIns="91440">
            <a:normAutofit fontScale="90000"/>
          </a:bodyPr>
          <a:lstStyle/>
          <a:p>
            <a:r>
              <a:rPr lang="en-US" altLang="zh-CN" dirty="0"/>
              <a:t>A01_CNSL</a:t>
            </a:r>
            <a:endParaRPr lang="en-US" dirty="0"/>
          </a:p>
        </p:txBody>
      </p:sp>
      <p:graphicFrame>
        <p:nvGraphicFramePr>
          <p:cNvPr id="26" name="表格 28"/>
          <p:cNvGraphicFramePr>
            <a:graphicFrameLocks noGrp="1"/>
          </p:cNvGraphicFramePr>
          <p:nvPr/>
        </p:nvGraphicFramePr>
        <p:xfrm>
          <a:off x="526426" y="2358660"/>
          <a:ext cx="11163066" cy="9117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2190">
                  <a:extLst>
                    <a:ext uri="{9D8B030D-6E8A-4147-A177-3AD203B41FA5}">
                      <a16:colId xmlns:a16="http://schemas.microsoft.com/office/drawing/2014/main" val="4037735613"/>
                    </a:ext>
                  </a:extLst>
                </a:gridCol>
                <a:gridCol w="8550876">
                  <a:extLst>
                    <a:ext uri="{9D8B030D-6E8A-4147-A177-3AD203B41FA5}">
                      <a16:colId xmlns:a16="http://schemas.microsoft.com/office/drawing/2014/main" val="3789046102"/>
                    </a:ext>
                  </a:extLst>
                </a:gridCol>
              </a:tblGrid>
              <a:tr h="455883">
                <a:tc>
                  <a:txBody>
                    <a:bodyPr/>
                    <a:lstStyle/>
                    <a:p>
                      <a:pPr rtl="0"/>
                      <a:r>
                        <a:rPr 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PAMCRASH</a:t>
                      </a:r>
                      <a:r>
                        <a:rPr lang="en-US" sz="16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6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ersion:</a:t>
                      </a:r>
                      <a:endParaRPr lang="en-US" sz="16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2022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0546"/>
                  </a:ext>
                </a:extLst>
              </a:tr>
              <a:tr h="455883">
                <a:tc>
                  <a:txBody>
                    <a:bodyPr/>
                    <a:lstStyle/>
                    <a:p>
                      <a:pPr marL="0" algn="l" defTabSz="1219140" rtl="0" eaLnBrk="1" latinLnBrk="0" hangingPunct="1"/>
                      <a:r>
                        <a:rPr 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CAD Version: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2024.11.20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</a:rPr>
                        <a:t>2024.12.20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</a:rPr>
                        <a:t>2025.01.08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8267508"/>
                  </a:ext>
                </a:extLst>
              </a:tr>
            </a:tbl>
          </a:graphicData>
        </a:graphic>
      </p:graphicFrame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3594CE5-D5F9-4225-1C7C-F3A88DE15E69}"/>
              </a:ext>
            </a:extLst>
          </p:cNvPr>
          <p:cNvSpPr>
            <a:spLocks noGrp="1"/>
          </p:cNvSpPr>
          <p:nvPr>
            <p:ph sz="quarter" idx="44"/>
          </p:nvPr>
        </p:nvSpPr>
        <p:spPr/>
        <p:txBody>
          <a:bodyPr>
            <a:normAutofit fontScale="92500" lnSpcReduction="2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543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8AD86EB-746D-D37F-9ADB-43D8840C61F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895474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395" imgH="394" progId="TCLayout.ActiveDocument.1">
                  <p:embed/>
                </p:oleObj>
              </mc:Choice>
              <mc:Fallback>
                <p:oleObj name="think-cell 幻灯片" r:id="rId3" imgW="395" imgH="39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8AD86EB-746D-D37F-9ADB-43D8840C61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654120-EFC8-4CD8-BA0C-B3D98888E5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9249B2F-9173-48D3-A5BC-90A6758C671B}" type="slidenum">
              <a:rPr lang="en-GB" noProof="0" smtClean="0"/>
              <a:pPr/>
              <a:t>2</a:t>
            </a:fld>
            <a:endParaRPr lang="en-GB" noProof="0" dirty="0"/>
          </a:p>
        </p:txBody>
      </p:sp>
      <p:sp>
        <p:nvSpPr>
          <p:cNvPr id="40" name="Title 39">
            <a:extLst>
              <a:ext uri="{FF2B5EF4-FFF2-40B4-BE49-F238E27FC236}">
                <a16:creationId xmlns:a16="http://schemas.microsoft.com/office/drawing/2014/main" id="{F9EEBF85-A0A9-495E-8ADD-5AB4FD224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91440">
            <a:normAutofit fontScale="90000"/>
          </a:bodyPr>
          <a:lstStyle/>
          <a:p>
            <a:r>
              <a:rPr lang="en-US" altLang="zh-CN" dirty="0"/>
              <a:t>A01_CNSL</a:t>
            </a:r>
            <a:endParaRPr lang="en-US" dirty="0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D418E1F7-BBA2-4399-ACC8-FFA61CFCA15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07988" y="1052513"/>
            <a:ext cx="11379164" cy="360099"/>
          </a:xfrm>
        </p:spPr>
        <p:txBody>
          <a:bodyPr/>
          <a:lstStyle/>
          <a:p>
            <a:r>
              <a:rPr lang="en-US" dirty="0"/>
              <a:t>All reports of load cases summary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65CF82A-E75F-401A-AE79-30E8654172F7}"/>
              </a:ext>
            </a:extLst>
          </p:cNvPr>
          <p:cNvGraphicFramePr>
            <a:graphicFrameLocks noGrp="1"/>
          </p:cNvGraphicFramePr>
          <p:nvPr/>
        </p:nvGraphicFramePr>
        <p:xfrm>
          <a:off x="426631" y="1837209"/>
          <a:ext cx="11338561" cy="2618584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285725">
                  <a:extLst>
                    <a:ext uri="{9D8B030D-6E8A-4147-A177-3AD203B41FA5}">
                      <a16:colId xmlns:a16="http://schemas.microsoft.com/office/drawing/2014/main" val="3069748130"/>
                    </a:ext>
                  </a:extLst>
                </a:gridCol>
                <a:gridCol w="4286816">
                  <a:extLst>
                    <a:ext uri="{9D8B030D-6E8A-4147-A177-3AD203B41FA5}">
                      <a16:colId xmlns:a16="http://schemas.microsoft.com/office/drawing/2014/main" val="427999194"/>
                    </a:ext>
                  </a:extLst>
                </a:gridCol>
                <a:gridCol w="912089">
                  <a:extLst>
                    <a:ext uri="{9D8B030D-6E8A-4147-A177-3AD203B41FA5}">
                      <a16:colId xmlns:a16="http://schemas.microsoft.com/office/drawing/2014/main" val="1301751826"/>
                    </a:ext>
                  </a:extLst>
                </a:gridCol>
                <a:gridCol w="4853931">
                  <a:extLst>
                    <a:ext uri="{9D8B030D-6E8A-4147-A177-3AD203B41FA5}">
                      <a16:colId xmlns:a16="http://schemas.microsoft.com/office/drawing/2014/main" val="1881789546"/>
                    </a:ext>
                  </a:extLst>
                </a:gridCol>
              </a:tblGrid>
              <a:tr h="64694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CNSL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Load case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RT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Remark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7176208"/>
                  </a:ext>
                </a:extLst>
              </a:tr>
              <a:tr h="462103">
                <a:tc rowSpan="4"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Basic</a:t>
                      </a:r>
                    </a:p>
                    <a:p>
                      <a:pPr algn="ctr"/>
                      <a:r>
                        <a:rPr lang="en-US" sz="1800" dirty="0"/>
                        <a:t>version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1.1. Static center console compression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OK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All the load cases can meet the target.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7283151"/>
                  </a:ext>
                </a:extLst>
              </a:tr>
              <a:tr h="46210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1.2. Static center armrest compression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OK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All the load cases can meet the target.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2452680"/>
                  </a:ext>
                </a:extLst>
              </a:tr>
              <a:tr h="52371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3.1. Noise, vibration, and harshness (NVH)</a:t>
                      </a:r>
                      <a:endParaRPr lang="zh-CN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OK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1</a:t>
                      </a:r>
                      <a:r>
                        <a:rPr lang="en-US" altLang="zh-CN" sz="1400" baseline="30000" dirty="0"/>
                        <a:t>st</a:t>
                      </a:r>
                      <a:r>
                        <a:rPr lang="en-US" altLang="zh-CN" sz="1400" dirty="0"/>
                        <a:t> global modal</a:t>
                      </a:r>
                      <a:r>
                        <a:rPr lang="en-US" altLang="zh-CN" sz="1400"/>
                        <a:t>= 33.2Hz </a:t>
                      </a:r>
                      <a:r>
                        <a:rPr lang="en-US" altLang="zh-CN" sz="1400" dirty="0"/>
                        <a:t>&gt; 28Hz,</a:t>
                      </a:r>
                      <a:r>
                        <a:rPr lang="zh-CN" altLang="en-US" sz="1400" dirty="0"/>
                        <a:t> </a:t>
                      </a:r>
                      <a:r>
                        <a:rPr lang="en-US" altLang="zh-CN" sz="1400" dirty="0"/>
                        <a:t>and it can meet the target.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8803351"/>
                  </a:ext>
                </a:extLst>
              </a:tr>
              <a:tr h="52371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3.5. </a:t>
                      </a:r>
                      <a:r>
                        <a:rPr lang="en-US" altLang="zh-CN" sz="14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Rear impact</a:t>
                      </a:r>
                      <a:endParaRPr lang="zh-CN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OK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All components</a:t>
                      </a:r>
                      <a:r>
                        <a:rPr lang="en-US" altLang="zh-CN" sz="1400" baseline="0" dirty="0"/>
                        <a:t> have no faults.</a:t>
                      </a:r>
                      <a:endParaRPr lang="en-US" altLang="zh-CN" sz="1400" dirty="0"/>
                    </a:p>
                    <a:p>
                      <a:pPr algn="l"/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CNSL components are not separate.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4030797"/>
                  </a:ext>
                </a:extLst>
              </a:tr>
            </a:tbl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88A103F9-2700-4C13-724A-CA3CC9881643}"/>
              </a:ext>
            </a:extLst>
          </p:cNvPr>
          <p:cNvSpPr/>
          <p:nvPr/>
        </p:nvSpPr>
        <p:spPr>
          <a:xfrm>
            <a:off x="6955972" y="3363686"/>
            <a:ext cx="2147208" cy="3673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algn="ctr"/>
            <a:endParaRPr lang="de-DE" sz="1400" dirty="0" err="1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64E0909-92FA-5C80-6F7F-D916DFEC788E}"/>
              </a:ext>
            </a:extLst>
          </p:cNvPr>
          <p:cNvSpPr/>
          <p:nvPr/>
        </p:nvSpPr>
        <p:spPr>
          <a:xfrm>
            <a:off x="6095911" y="3989615"/>
            <a:ext cx="688610" cy="3673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algn="ctr"/>
            <a:endParaRPr lang="de-DE" sz="1400" dirty="0" err="1"/>
          </a:p>
        </p:txBody>
      </p:sp>
    </p:spTree>
    <p:extLst>
      <p:ext uri="{BB962C8B-B14F-4D97-AF65-F5344CB8AC3E}">
        <p14:creationId xmlns:p14="http://schemas.microsoft.com/office/powerpoint/2010/main" val="3228687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23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9249B2F-9173-48D3-A5BC-90A6758C671B}" type="slidenum">
              <a:rPr lang="en-GB" noProof="0" smtClean="0"/>
              <a:pPr/>
              <a:t>3</a:t>
            </a:fld>
            <a:endParaRPr lang="en-GB" noProof="0" dirty="0"/>
          </a:p>
        </p:txBody>
      </p:sp>
      <p:sp>
        <p:nvSpPr>
          <p:cNvPr id="43" name="Content Placeholder 42"/>
          <p:cNvSpPr>
            <a:spLocks noGrp="1"/>
          </p:cNvSpPr>
          <p:nvPr>
            <p:ph idx="45"/>
          </p:nvPr>
        </p:nvSpPr>
        <p:spPr/>
        <p:txBody>
          <a:bodyPr/>
          <a:lstStyle/>
          <a:p>
            <a:r>
              <a:rPr lang="en-US" altLang="zh-CN" dirty="0"/>
              <a:t>All cases in this page can meet the target in final.</a:t>
            </a:r>
          </a:p>
        </p:txBody>
      </p:sp>
      <p:sp>
        <p:nvSpPr>
          <p:cNvPr id="46" name="Text Placeholder 45"/>
          <p:cNvSpPr>
            <a:spLocks noGrp="1"/>
          </p:cNvSpPr>
          <p:nvPr>
            <p:ph type="body" sz="quarter" idx="48"/>
          </p:nvPr>
        </p:nvSpPr>
        <p:spPr>
          <a:xfrm>
            <a:off x="407988" y="1052513"/>
            <a:ext cx="11379164" cy="360099"/>
          </a:xfrm>
        </p:spPr>
        <p:txBody>
          <a:bodyPr/>
          <a:lstStyle/>
          <a:p>
            <a:r>
              <a:rPr lang="en-US" altLang="zh-CN" dirty="0"/>
              <a:t>Static center console compression result overview</a:t>
            </a:r>
          </a:p>
        </p:txBody>
      </p:sp>
      <p:sp>
        <p:nvSpPr>
          <p:cNvPr id="42" name="Title 41"/>
          <p:cNvSpPr>
            <a:spLocks noGrp="1"/>
          </p:cNvSpPr>
          <p:nvPr>
            <p:ph type="title"/>
          </p:nvPr>
        </p:nvSpPr>
        <p:spPr/>
        <p:txBody>
          <a:bodyPr vert="horz" rIns="91440">
            <a:normAutofit fontScale="90000"/>
          </a:bodyPr>
          <a:lstStyle/>
          <a:p>
            <a:r>
              <a:rPr lang="en-US" altLang="zh-CN" dirty="0"/>
              <a:t>A01_CNSL - Basic Version</a:t>
            </a:r>
            <a:endParaRPr lang="en-US" dirty="0"/>
          </a:p>
        </p:txBody>
      </p:sp>
      <p:grpSp>
        <p:nvGrpSpPr>
          <p:cNvPr id="45" name="Grupo 19">
            <a:extLst>
              <a:ext uri="{FF2B5EF4-FFF2-40B4-BE49-F238E27FC236}">
                <a16:creationId xmlns:a16="http://schemas.microsoft.com/office/drawing/2014/main" id="{65807E3A-2EBC-0091-E5BC-48C1C063DEE8}"/>
              </a:ext>
            </a:extLst>
          </p:cNvPr>
          <p:cNvGrpSpPr/>
          <p:nvPr/>
        </p:nvGrpSpPr>
        <p:grpSpPr>
          <a:xfrm>
            <a:off x="11206995" y="1020015"/>
            <a:ext cx="264755" cy="711903"/>
            <a:chOff x="8749258" y="52264"/>
            <a:chExt cx="216024" cy="594066"/>
          </a:xfrm>
        </p:grpSpPr>
        <p:sp>
          <p:nvSpPr>
            <p:cNvPr id="47" name="CustomShape 9">
              <a:extLst>
                <a:ext uri="{FF2B5EF4-FFF2-40B4-BE49-F238E27FC236}">
                  <a16:creationId xmlns:a16="http://schemas.microsoft.com/office/drawing/2014/main" id="{FE2BCD45-2342-4FEC-D619-5421639BCF17}"/>
                </a:ext>
              </a:extLst>
            </p:cNvPr>
            <p:cNvSpPr/>
            <p:nvPr/>
          </p:nvSpPr>
          <p:spPr>
            <a:xfrm>
              <a:off x="8775573" y="80460"/>
              <a:ext cx="160650" cy="160650"/>
            </a:xfrm>
            <a:prstGeom prst="ellipse">
              <a:avLst/>
            </a:prstGeom>
            <a:solidFill>
              <a:srgbClr val="FF00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8" name="CustomShape 9">
              <a:extLst>
                <a:ext uri="{FF2B5EF4-FFF2-40B4-BE49-F238E27FC236}">
                  <a16:creationId xmlns:a16="http://schemas.microsoft.com/office/drawing/2014/main" id="{D22B1C40-316F-19CD-AAA0-54278A771608}"/>
                </a:ext>
              </a:extLst>
            </p:cNvPr>
            <p:cNvSpPr/>
            <p:nvPr/>
          </p:nvSpPr>
          <p:spPr>
            <a:xfrm>
              <a:off x="8771413" y="257107"/>
              <a:ext cx="160650" cy="160650"/>
            </a:xfrm>
            <a:prstGeom prst="ellipse">
              <a:avLst/>
            </a:prstGeom>
            <a:solidFill>
              <a:srgbClr val="FFFF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9" name="CustomShape 9">
              <a:extLst>
                <a:ext uri="{FF2B5EF4-FFF2-40B4-BE49-F238E27FC236}">
                  <a16:creationId xmlns:a16="http://schemas.microsoft.com/office/drawing/2014/main" id="{73D9DABE-6F76-F8D7-47E1-4DBC98B03329}"/>
                </a:ext>
              </a:extLst>
            </p:cNvPr>
            <p:cNvSpPr/>
            <p:nvPr/>
          </p:nvSpPr>
          <p:spPr>
            <a:xfrm>
              <a:off x="8773488" y="446224"/>
              <a:ext cx="160650" cy="160650"/>
            </a:xfrm>
            <a:prstGeom prst="ellipse">
              <a:avLst/>
            </a:prstGeom>
            <a:solidFill>
              <a:srgbClr val="339933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0" name="CustomShape 8">
              <a:extLst>
                <a:ext uri="{FF2B5EF4-FFF2-40B4-BE49-F238E27FC236}">
                  <a16:creationId xmlns:a16="http://schemas.microsoft.com/office/drawing/2014/main" id="{F59611EE-A93F-4604-F8D2-912B01C376E2}"/>
                </a:ext>
              </a:extLst>
            </p:cNvPr>
            <p:cNvSpPr/>
            <p:nvPr/>
          </p:nvSpPr>
          <p:spPr>
            <a:xfrm>
              <a:off x="8749258" y="52264"/>
              <a:ext cx="216024" cy="594066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65000"/>
              </a:schemeClr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 dirty="0"/>
            </a:p>
          </p:txBody>
        </p:sp>
        <p:grpSp>
          <p:nvGrpSpPr>
            <p:cNvPr id="51" name="Grupo 1">
              <a:extLst>
                <a:ext uri="{FF2B5EF4-FFF2-40B4-BE49-F238E27FC236}">
                  <a16:creationId xmlns:a16="http://schemas.microsoft.com/office/drawing/2014/main" id="{B66FCDD5-CE05-6EE1-4390-43818A3C0A9A}"/>
                </a:ext>
              </a:extLst>
            </p:cNvPr>
            <p:cNvGrpSpPr/>
            <p:nvPr/>
          </p:nvGrpSpPr>
          <p:grpSpPr>
            <a:xfrm>
              <a:off x="8776118" y="86090"/>
              <a:ext cx="160650" cy="526414"/>
              <a:chOff x="8776118" y="80460"/>
              <a:chExt cx="160650" cy="526414"/>
            </a:xfrm>
          </p:grpSpPr>
          <p:sp>
            <p:nvSpPr>
              <p:cNvPr id="52" name="CustomShape 9">
                <a:extLst>
                  <a:ext uri="{FF2B5EF4-FFF2-40B4-BE49-F238E27FC236}">
                    <a16:creationId xmlns:a16="http://schemas.microsoft.com/office/drawing/2014/main" id="{D0D42244-D890-E5B4-8510-7239FC43DF1F}"/>
                  </a:ext>
                </a:extLst>
              </p:cNvPr>
              <p:cNvSpPr/>
              <p:nvPr/>
            </p:nvSpPr>
            <p:spPr>
              <a:xfrm>
                <a:off x="8776118" y="80460"/>
                <a:ext cx="160650" cy="160650"/>
              </a:xfrm>
              <a:prstGeom prst="ellipse">
                <a:avLst/>
              </a:prstGeom>
              <a:solidFill>
                <a:srgbClr val="92D050"/>
              </a:solidFill>
              <a:ln w="9360">
                <a:solidFill>
                  <a:srgbClr val="92D050"/>
                </a:solidFill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53" name="CustomShape 9">
                <a:extLst>
                  <a:ext uri="{FF2B5EF4-FFF2-40B4-BE49-F238E27FC236}">
                    <a16:creationId xmlns:a16="http://schemas.microsoft.com/office/drawing/2014/main" id="{7AD920B2-E963-17E2-E767-0A9EDA41884E}"/>
                  </a:ext>
                </a:extLst>
              </p:cNvPr>
              <p:cNvSpPr/>
              <p:nvPr/>
            </p:nvSpPr>
            <p:spPr>
              <a:xfrm>
                <a:off x="8776118" y="263342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54" name="CustomShape 9">
                <a:extLst>
                  <a:ext uri="{FF2B5EF4-FFF2-40B4-BE49-F238E27FC236}">
                    <a16:creationId xmlns:a16="http://schemas.microsoft.com/office/drawing/2014/main" id="{66148CFA-B28C-7644-A1EC-2934B627E4CD}"/>
                  </a:ext>
                </a:extLst>
              </p:cNvPr>
              <p:cNvSpPr/>
              <p:nvPr/>
            </p:nvSpPr>
            <p:spPr>
              <a:xfrm>
                <a:off x="8776118" y="446224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</p:grp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C0E3E61C-6927-4CB9-C39E-107915FF9581}"/>
              </a:ext>
            </a:extLst>
          </p:cNvPr>
          <p:cNvSpPr/>
          <p:nvPr/>
        </p:nvSpPr>
        <p:spPr>
          <a:xfrm>
            <a:off x="9107492" y="5075389"/>
            <a:ext cx="741183" cy="4277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algn="ctr"/>
            <a:endParaRPr lang="zh-CN" altLang="en-US" sz="1400" dirty="0" err="1"/>
          </a:p>
        </p:txBody>
      </p:sp>
      <p:graphicFrame>
        <p:nvGraphicFramePr>
          <p:cNvPr id="22" name="表格占位符 10">
            <a:extLst>
              <a:ext uri="{FF2B5EF4-FFF2-40B4-BE49-F238E27FC236}">
                <a16:creationId xmlns:a16="http://schemas.microsoft.com/office/drawing/2014/main" id="{05AE0B61-F18E-4D76-A52B-B769E388AC4C}"/>
              </a:ext>
            </a:extLst>
          </p:cNvPr>
          <p:cNvGraphicFramePr>
            <a:graphicFrameLocks noGrp="1"/>
          </p:cNvGraphicFramePr>
          <p:nvPr>
            <p:ph type="tbl" sz="quarter" idx="47"/>
          </p:nvPr>
        </p:nvGraphicFramePr>
        <p:xfrm>
          <a:off x="7176752" y="1865827"/>
          <a:ext cx="2629717" cy="36702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082">
                  <a:extLst>
                    <a:ext uri="{9D8B030D-6E8A-4147-A177-3AD203B41FA5}">
                      <a16:colId xmlns:a16="http://schemas.microsoft.com/office/drawing/2014/main" val="76915138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447518341"/>
                    </a:ext>
                  </a:extLst>
                </a:gridCol>
                <a:gridCol w="827602">
                  <a:extLst>
                    <a:ext uri="{9D8B030D-6E8A-4147-A177-3AD203B41FA5}">
                      <a16:colId xmlns:a16="http://schemas.microsoft.com/office/drawing/2014/main" val="269377654"/>
                    </a:ext>
                  </a:extLst>
                </a:gridCol>
                <a:gridCol w="465028">
                  <a:extLst>
                    <a:ext uri="{9D8B030D-6E8A-4147-A177-3AD203B41FA5}">
                      <a16:colId xmlns:a16="http://schemas.microsoft.com/office/drawing/2014/main" val="548093987"/>
                    </a:ext>
                  </a:extLst>
                </a:gridCol>
              </a:tblGrid>
              <a:tr h="248251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Point Number</a:t>
                      </a:r>
                      <a:endParaRPr lang="zh-CN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V00</a:t>
                      </a:r>
                      <a:endParaRPr lang="zh-CN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altLang="zh-CN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8524182"/>
                  </a:ext>
                </a:extLst>
              </a:tr>
              <a:tr h="443018"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CAE </a:t>
                      </a:r>
                    </a:p>
                    <a:p>
                      <a:pPr algn="ctr"/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Result</a:t>
                      </a:r>
                      <a:endParaRPr lang="zh-CN" altLang="en-US" sz="10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002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Less</a:t>
                      </a:r>
                      <a:r>
                        <a:rPr lang="en-US" altLang="zh-CN" sz="100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than </a:t>
                      </a: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yield stress</a:t>
                      </a:r>
                    </a:p>
                  </a:txBody>
                  <a:tcPr anchor="ctr">
                    <a:solidFill>
                      <a:srgbClr val="0027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Status</a:t>
                      </a:r>
                      <a:endParaRPr lang="zh-CN" altLang="en-US" sz="10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002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485947"/>
                  </a:ext>
                </a:extLst>
              </a:tr>
              <a:tr h="24825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ASP01</a:t>
                      </a:r>
                      <a:endParaRPr lang="zh-CN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1.54mm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YES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OK</a:t>
                      </a:r>
                      <a:endParaRPr lang="zh-CN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6721345"/>
                  </a:ext>
                </a:extLst>
              </a:tr>
              <a:tr h="24825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ASP02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1.81mm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YES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OK</a:t>
                      </a:r>
                      <a:endParaRPr lang="zh-CN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7134693"/>
                  </a:ext>
                </a:extLst>
              </a:tr>
              <a:tr h="24825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ASP03</a:t>
                      </a:r>
                      <a:endParaRPr lang="zh-CN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1.86mm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YES</a:t>
                      </a:r>
                      <a:endParaRPr lang="zh-CN" altLang="en-US" sz="10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OK</a:t>
                      </a:r>
                      <a:endParaRPr lang="zh-CN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522542"/>
                  </a:ext>
                </a:extLst>
              </a:tr>
              <a:tr h="24825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ASP04</a:t>
                      </a:r>
                      <a:endParaRPr lang="zh-CN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1.23mm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YES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OK</a:t>
                      </a:r>
                      <a:endParaRPr lang="zh-CN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858869"/>
                  </a:ext>
                </a:extLst>
              </a:tr>
              <a:tr h="24825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ASP05</a:t>
                      </a:r>
                      <a:endParaRPr lang="zh-CN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1.59mm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YES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OK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23620"/>
                  </a:ext>
                </a:extLst>
              </a:tr>
              <a:tr h="2482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ASP06</a:t>
                      </a:r>
                      <a:endParaRPr lang="zh-CN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1.87mm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rgbClr val="002733"/>
                          </a:solidFill>
                          <a:latin typeface="+mn-ea"/>
                          <a:ea typeface="+mn-ea"/>
                        </a:rPr>
                        <a:t>YES</a:t>
                      </a:r>
                      <a:endParaRPr lang="zh-CN" altLang="en-US" sz="1000" dirty="0">
                        <a:solidFill>
                          <a:srgbClr val="002733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OK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9310762"/>
                  </a:ext>
                </a:extLst>
              </a:tr>
              <a:tr h="2482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ASP07</a:t>
                      </a:r>
                      <a:endParaRPr lang="zh-CN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1.90mm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YES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OK</a:t>
                      </a:r>
                      <a:endParaRPr lang="zh-CN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157234"/>
                  </a:ext>
                </a:extLst>
              </a:tr>
              <a:tr h="2482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ASP08</a:t>
                      </a:r>
                      <a:endParaRPr lang="zh-CN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1.09mm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YES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OK</a:t>
                      </a:r>
                      <a:endParaRPr lang="zh-CN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2430184"/>
                  </a:ext>
                </a:extLst>
              </a:tr>
              <a:tr h="2482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ASP09</a:t>
                      </a:r>
                      <a:endParaRPr lang="zh-CN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2.75mm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YES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OK</a:t>
                      </a:r>
                      <a:endParaRPr lang="zh-CN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237308"/>
                  </a:ext>
                </a:extLst>
              </a:tr>
              <a:tr h="2482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ASP10</a:t>
                      </a:r>
                      <a:endParaRPr lang="zh-CN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0.45mm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YES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OK</a:t>
                      </a:r>
                      <a:endParaRPr lang="zh-CN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94891"/>
                  </a:ext>
                </a:extLst>
              </a:tr>
              <a:tr h="24825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ASP11</a:t>
                      </a:r>
                      <a:endParaRPr lang="zh-CN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1.28mm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YES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OK</a:t>
                      </a:r>
                      <a:endParaRPr lang="zh-CN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1551758"/>
                  </a:ext>
                </a:extLst>
              </a:tr>
              <a:tr h="24825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ASP12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1.18mm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YES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OK</a:t>
                      </a:r>
                      <a:endParaRPr lang="zh-CN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383157"/>
                  </a:ext>
                </a:extLst>
              </a:tr>
            </a:tbl>
          </a:graphicData>
        </a:graphic>
      </p:graphicFrame>
      <p:graphicFrame>
        <p:nvGraphicFramePr>
          <p:cNvPr id="21" name="内容占位符 3">
            <a:extLst>
              <a:ext uri="{FF2B5EF4-FFF2-40B4-BE49-F238E27FC236}">
                <a16:creationId xmlns:a16="http://schemas.microsoft.com/office/drawing/2014/main" id="{6CBD37B4-B83B-444A-9C4B-0CEAC8E2C1FE}"/>
              </a:ext>
            </a:extLst>
          </p:cNvPr>
          <p:cNvGraphicFramePr>
            <a:graphicFrameLocks/>
          </p:cNvGraphicFramePr>
          <p:nvPr/>
        </p:nvGraphicFramePr>
        <p:xfrm>
          <a:off x="4094829" y="1903443"/>
          <a:ext cx="2969014" cy="36339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13001367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139885948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3051455794"/>
                    </a:ext>
                  </a:extLst>
                </a:gridCol>
                <a:gridCol w="774454">
                  <a:extLst>
                    <a:ext uri="{9D8B030D-6E8A-4147-A177-3AD203B41FA5}">
                      <a16:colId xmlns:a16="http://schemas.microsoft.com/office/drawing/2014/main" val="244192708"/>
                    </a:ext>
                  </a:extLst>
                </a:gridCol>
              </a:tblGrid>
              <a:tr h="56158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 dirty="0"/>
                        <a:t>Point</a:t>
                      </a:r>
                      <a:endParaRPr lang="zh-CN" altLang="en-US" sz="11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 dirty="0"/>
                        <a:t>X/mm</a:t>
                      </a:r>
                      <a:endParaRPr lang="zh-CN" altLang="en-US" sz="11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 dirty="0"/>
                        <a:t>Y/mm</a:t>
                      </a:r>
                      <a:endParaRPr lang="zh-CN" altLang="en-US" sz="11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 dirty="0"/>
                        <a:t>Z/mm</a:t>
                      </a:r>
                      <a:endParaRPr lang="zh-CN" altLang="en-US" sz="11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564108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/>
                        <a:t>ASP01</a:t>
                      </a:r>
                      <a:endParaRPr lang="zh-CN" altLang="en-US" sz="1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2535.045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-137.608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1494.316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5805429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dirty="0"/>
                        <a:t>ASP02</a:t>
                      </a:r>
                      <a:endParaRPr lang="zh-CN" altLang="en-US" sz="1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2690.554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-123.977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1477.510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8859592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dirty="0"/>
                        <a:t>ASP03</a:t>
                      </a:r>
                      <a:endParaRPr lang="zh-CN" altLang="en-US" sz="1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2824.061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-114.450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1464.855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5245617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dirty="0"/>
                        <a:t>ASP04</a:t>
                      </a:r>
                      <a:endParaRPr lang="zh-CN" altLang="en-US" sz="1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2963.569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-114.971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1413.031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4375214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dirty="0"/>
                        <a:t>ASP05</a:t>
                      </a:r>
                      <a:endParaRPr lang="zh-CN" altLang="en-US" sz="1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3101.078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-109.881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1402.665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999849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dirty="0"/>
                        <a:t>ASP06</a:t>
                      </a:r>
                      <a:endParaRPr lang="zh-CN" altLang="en-US" sz="1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3250.269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-106.533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1391.180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700084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dirty="0"/>
                        <a:t>ASP07</a:t>
                      </a:r>
                      <a:endParaRPr lang="zh-CN" altLang="en-US" sz="1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3262.292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-108.134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1336.864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053299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dirty="0"/>
                        <a:t>ASP08</a:t>
                      </a:r>
                      <a:endParaRPr lang="zh-CN" altLang="en-US" sz="1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3116.555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-112.396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1268.835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7338304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dirty="0"/>
                        <a:t>ASP09</a:t>
                      </a:r>
                      <a:endParaRPr lang="zh-CN" altLang="en-US" sz="1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3256.077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-113.973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1169.689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7038311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dirty="0"/>
                        <a:t>ASP10</a:t>
                      </a:r>
                      <a:endParaRPr lang="zh-CN" altLang="en-US" sz="1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3138.611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-118.225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1184.385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61349139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dirty="0"/>
                        <a:t>ASP11</a:t>
                      </a:r>
                      <a:endParaRPr lang="zh-CN" altLang="en-US" sz="1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2905.215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-115.373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1381.423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4280661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dirty="0"/>
                        <a:t>ASP12</a:t>
                      </a:r>
                      <a:endParaRPr lang="zh-CN" altLang="en-US" sz="1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3030.039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-113.218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1364.742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33646625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F1B44932-CC8B-4383-9ED3-D73921B2FD1B}"/>
              </a:ext>
            </a:extLst>
          </p:cNvPr>
          <p:cNvGrpSpPr/>
          <p:nvPr/>
        </p:nvGrpSpPr>
        <p:grpSpPr>
          <a:xfrm>
            <a:off x="526426" y="3351840"/>
            <a:ext cx="1952921" cy="1723549"/>
            <a:chOff x="633525" y="2540175"/>
            <a:chExt cx="1952921" cy="1723549"/>
          </a:xfrm>
        </p:grpSpPr>
        <p:sp>
          <p:nvSpPr>
            <p:cNvPr id="24" name="文本框 85">
              <a:extLst>
                <a:ext uri="{FF2B5EF4-FFF2-40B4-BE49-F238E27FC236}">
                  <a16:creationId xmlns:a16="http://schemas.microsoft.com/office/drawing/2014/main" id="{2A8E0C65-A33A-4CD1-8761-0A58768F8BC3}"/>
                </a:ext>
              </a:extLst>
            </p:cNvPr>
            <p:cNvSpPr txBox="1"/>
            <p:nvPr/>
          </p:nvSpPr>
          <p:spPr>
            <a:xfrm>
              <a:off x="633525" y="2540175"/>
              <a:ext cx="1952921" cy="172354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200" dirty="0">
                  <a:solidFill>
                    <a:schemeClr val="dk1"/>
                  </a:solidFill>
                  <a:ea typeface="宋体" panose="02010600030101010101" pitchFamily="2" charset="-122"/>
                </a:rPr>
                <a:t>Y</a:t>
              </a:r>
              <a:r>
                <a:rPr lang="en-US" altLang="zh-CN" sz="1200" b="0" i="0" u="none" strike="noStrike" kern="1200" baseline="0" dirty="0">
                  <a:solidFill>
                    <a:schemeClr val="dk1"/>
                  </a:solidFill>
                  <a:ea typeface="宋体" panose="02010600030101010101" pitchFamily="2" charset="-122"/>
                </a:rPr>
                <a:t>-direction</a:t>
              </a:r>
            </a:p>
            <a:p>
              <a:r>
                <a:rPr lang="en-US" altLang="zh-CN" sz="1200" b="1" i="0" u="none" strike="noStrike" kern="1200" baseline="0" dirty="0">
                  <a:solidFill>
                    <a:schemeClr val="dk1"/>
                  </a:solidFill>
                  <a:ea typeface="+mn-ea"/>
                  <a:cs typeface="+mn-cs"/>
                </a:rPr>
                <a:t>Force:</a:t>
              </a:r>
              <a:r>
                <a:rPr lang="en-US" altLang="zh-CN" sz="1200" dirty="0">
                  <a:solidFill>
                    <a:schemeClr val="dk1"/>
                  </a:solidFill>
                </a:rPr>
                <a:t>150N(P01~19)</a:t>
              </a:r>
            </a:p>
            <a:p>
              <a:r>
                <a:rPr lang="en-US" altLang="zh-CN" sz="1200" dirty="0">
                  <a:solidFill>
                    <a:schemeClr val="dk1"/>
                  </a:solidFill>
                </a:rPr>
                <a:t>(1st row center </a:t>
              </a:r>
              <a:r>
                <a:rPr lang="en-US" altLang="zh-CN" sz="1200" b="0" i="0" u="none" strike="noStrike" kern="1200" baseline="0" dirty="0">
                  <a:solidFill>
                    <a:schemeClr val="dk1"/>
                  </a:solidFill>
                  <a:ea typeface="+mn-ea"/>
                  <a:cs typeface="+mn-cs"/>
                </a:rPr>
                <a:t>console)</a:t>
              </a:r>
            </a:p>
            <a:p>
              <a:r>
                <a:rPr lang="en-US" altLang="zh-CN" sz="1200" dirty="0">
                  <a:solidFill>
                    <a:schemeClr val="dk1"/>
                  </a:solidFill>
                </a:rPr>
                <a:t>displacement&lt;3mm</a:t>
              </a:r>
              <a:endParaRPr lang="en-US" altLang="zh-CN" sz="1200" b="0" i="0" u="none" strike="noStrike" kern="1200" baseline="0" dirty="0">
                <a:solidFill>
                  <a:schemeClr val="dk1"/>
                </a:solidFill>
                <a:ea typeface="+mn-ea"/>
                <a:cs typeface="+mn-cs"/>
              </a:endParaRPr>
            </a:p>
            <a:p>
              <a:r>
                <a:rPr lang="en-US" altLang="zh-CN" sz="1200" b="1" i="0" u="none" strike="noStrike" kern="1200" baseline="0" dirty="0">
                  <a:solidFill>
                    <a:schemeClr val="dk1"/>
                  </a:solidFill>
                  <a:ea typeface="+mn-ea"/>
                  <a:cs typeface="+mn-cs"/>
                </a:rPr>
                <a:t>Force:</a:t>
              </a:r>
              <a:r>
                <a:rPr lang="en-US" altLang="zh-CN" sz="1200" b="0" i="0" u="none" strike="noStrike" kern="1200" baseline="0" dirty="0">
                  <a:solidFill>
                    <a:schemeClr val="dk1"/>
                  </a:solidFill>
                  <a:ea typeface="+mn-ea"/>
                  <a:cs typeface="+mn-cs"/>
                </a:rPr>
                <a:t>75N</a:t>
              </a:r>
              <a:r>
                <a:rPr lang="en-US" altLang="zh-CN" sz="1200" dirty="0">
                  <a:solidFill>
                    <a:schemeClr val="dk1"/>
                  </a:solidFill>
                </a:rPr>
                <a:t> (P20~27)</a:t>
              </a:r>
              <a:endParaRPr lang="en-US" altLang="zh-CN" sz="1200" b="0" i="0" u="none" strike="noStrike" kern="1200" baseline="0" dirty="0">
                <a:solidFill>
                  <a:schemeClr val="dk1"/>
                </a:solidFill>
                <a:ea typeface="+mn-ea"/>
                <a:cs typeface="+mn-cs"/>
              </a:endParaRPr>
            </a:p>
            <a:p>
              <a:r>
                <a:rPr lang="en-US" altLang="zh-CN" sz="1200" b="0" i="0" u="none" strike="noStrike" kern="1200" baseline="0" dirty="0">
                  <a:solidFill>
                    <a:schemeClr val="dk1"/>
                  </a:solidFill>
                  <a:ea typeface="+mn-ea"/>
                  <a:cs typeface="+mn-cs"/>
                </a:rPr>
                <a:t>(2nd row center console)</a:t>
              </a:r>
            </a:p>
            <a:p>
              <a:pPr defTabSz="914377">
                <a:defRPr/>
              </a:pPr>
              <a:r>
                <a:rPr lang="en-US" altLang="zh-CN" sz="1200" dirty="0">
                  <a:solidFill>
                    <a:schemeClr val="dk1"/>
                  </a:solidFill>
                </a:rPr>
                <a:t>displacement&lt;3mm</a:t>
              </a:r>
              <a:br>
                <a:rPr lang="en-US" altLang="zh-CN" sz="1200" dirty="0">
                  <a:solidFill>
                    <a:schemeClr val="dk1"/>
                  </a:solidFill>
                </a:rPr>
              </a:br>
              <a:r>
                <a:rPr lang="en-US" altLang="zh-CN" sz="1200" dirty="0">
                  <a:solidFill>
                    <a:schemeClr val="dk1"/>
                  </a:solidFill>
                </a:rPr>
                <a:t>Ø80mm</a:t>
              </a:r>
              <a:endParaRPr lang="zh-CN" altLang="en-US" sz="1200" dirty="0">
                <a:ea typeface="+mn-ea"/>
              </a:endParaRPr>
            </a:p>
            <a:p>
              <a:r>
                <a:rPr lang="en-US" altLang="zh-CN" sz="1600" b="0" i="0" u="none" strike="noStrike" kern="1200" baseline="0" dirty="0">
                  <a:solidFill>
                    <a:schemeClr val="dk1"/>
                  </a:solidFill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26" name="椭圆 36">
              <a:extLst>
                <a:ext uri="{FF2B5EF4-FFF2-40B4-BE49-F238E27FC236}">
                  <a16:creationId xmlns:a16="http://schemas.microsoft.com/office/drawing/2014/main" id="{FDFEA400-1AE1-445B-97FD-56C60320E697}"/>
                </a:ext>
              </a:extLst>
            </p:cNvPr>
            <p:cNvSpPr/>
            <p:nvPr/>
          </p:nvSpPr>
          <p:spPr>
            <a:xfrm>
              <a:off x="2180018" y="2689839"/>
              <a:ext cx="223547" cy="218823"/>
            </a:xfrm>
            <a:prstGeom prst="ellipse">
              <a:avLst/>
            </a:prstGeom>
            <a:solidFill>
              <a:srgbClr val="A73470">
                <a:alpha val="5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27" name="椭圆 37">
              <a:extLst>
                <a:ext uri="{FF2B5EF4-FFF2-40B4-BE49-F238E27FC236}">
                  <a16:creationId xmlns:a16="http://schemas.microsoft.com/office/drawing/2014/main" id="{EC26C3AD-F450-492D-8579-CD3F5F13CC43}"/>
                </a:ext>
              </a:extLst>
            </p:cNvPr>
            <p:cNvSpPr/>
            <p:nvPr/>
          </p:nvSpPr>
          <p:spPr>
            <a:xfrm>
              <a:off x="2180018" y="3259966"/>
              <a:ext cx="214839" cy="203205"/>
            </a:xfrm>
            <a:prstGeom prst="ellipse">
              <a:avLst/>
            </a:prstGeom>
            <a:solidFill>
              <a:srgbClr val="CF998C">
                <a:alpha val="5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zh-CN" altLang="en-US" sz="2000" b="1" dirty="0">
                <a:solidFill>
                  <a:srgbClr val="A21E4D"/>
                </a:solidFill>
              </a:endParaRPr>
            </a:p>
          </p:txBody>
        </p:sp>
      </p:grpSp>
      <p:sp>
        <p:nvSpPr>
          <p:cNvPr id="25" name="矩形 6">
            <a:extLst>
              <a:ext uri="{FF2B5EF4-FFF2-40B4-BE49-F238E27FC236}">
                <a16:creationId xmlns:a16="http://schemas.microsoft.com/office/drawing/2014/main" id="{1E8FAAD6-24D8-4072-AF6E-E79D1B923CD8}"/>
              </a:ext>
            </a:extLst>
          </p:cNvPr>
          <p:cNvSpPr/>
          <p:nvPr/>
        </p:nvSpPr>
        <p:spPr>
          <a:xfrm>
            <a:off x="478801" y="4900528"/>
            <a:ext cx="24696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dk1"/>
                </a:solidFill>
              </a:rPr>
              <a:t>1</a:t>
            </a:r>
            <a:r>
              <a:rPr lang="zh-CN" altLang="en-US" sz="1200" dirty="0">
                <a:solidFill>
                  <a:schemeClr val="dk1"/>
                </a:solidFill>
              </a:rPr>
              <a:t>、</a:t>
            </a:r>
            <a:r>
              <a:rPr lang="en-US" altLang="zh-CN" sz="1200" dirty="0">
                <a:solidFill>
                  <a:schemeClr val="dk1"/>
                </a:solidFill>
              </a:rPr>
              <a:t>No plastic deformation</a:t>
            </a:r>
          </a:p>
          <a:p>
            <a:r>
              <a:rPr lang="en-US" altLang="zh-CN" sz="1200" dirty="0">
                <a:solidFill>
                  <a:schemeClr val="dk1"/>
                </a:solidFill>
              </a:rPr>
              <a:t>2</a:t>
            </a:r>
            <a:r>
              <a:rPr lang="zh-CN" altLang="en-US" sz="1200" dirty="0">
                <a:solidFill>
                  <a:schemeClr val="dk1"/>
                </a:solidFill>
              </a:rPr>
              <a:t>、</a:t>
            </a:r>
            <a:r>
              <a:rPr lang="en-US" altLang="zh-CN" sz="1200" dirty="0">
                <a:solidFill>
                  <a:schemeClr val="dk1"/>
                </a:solidFill>
              </a:rPr>
              <a:t>No breakage</a:t>
            </a:r>
          </a:p>
          <a:p>
            <a:r>
              <a:rPr lang="en-US" altLang="zh-CN" sz="1200" dirty="0">
                <a:solidFill>
                  <a:schemeClr val="dk1"/>
                </a:solidFill>
              </a:rPr>
              <a:t>3</a:t>
            </a:r>
            <a:r>
              <a:rPr lang="zh-CN" altLang="en-US" sz="1200" dirty="0">
                <a:solidFill>
                  <a:schemeClr val="dk1"/>
                </a:solidFill>
              </a:rPr>
              <a:t>、</a:t>
            </a:r>
            <a:r>
              <a:rPr lang="en-US" altLang="zh-CN" sz="1200" dirty="0">
                <a:solidFill>
                  <a:schemeClr val="dk1"/>
                </a:solidFill>
              </a:rPr>
              <a:t>Fastening point must not fail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746F4B8-455B-E598-5404-6F4D3AA1FE48}"/>
              </a:ext>
            </a:extLst>
          </p:cNvPr>
          <p:cNvSpPr/>
          <p:nvPr/>
        </p:nvSpPr>
        <p:spPr>
          <a:xfrm>
            <a:off x="7865894" y="2483077"/>
            <a:ext cx="688610" cy="30967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algn="ctr"/>
            <a:endParaRPr lang="de-DE" sz="1400" dirty="0" err="1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92F0A53-472A-D3E1-EC85-9D461E3C70A3}"/>
              </a:ext>
            </a:extLst>
          </p:cNvPr>
          <p:cNvSpPr/>
          <p:nvPr/>
        </p:nvSpPr>
        <p:spPr>
          <a:xfrm>
            <a:off x="1457788" y="4429058"/>
            <a:ext cx="542462" cy="3013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algn="ctr"/>
            <a:endParaRPr lang="de-DE" sz="1400" dirty="0" err="1"/>
          </a:p>
        </p:txBody>
      </p:sp>
    </p:spTree>
    <p:extLst>
      <p:ext uri="{BB962C8B-B14F-4D97-AF65-F5344CB8AC3E}">
        <p14:creationId xmlns:p14="http://schemas.microsoft.com/office/powerpoint/2010/main" val="3362566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23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9249B2F-9173-48D3-A5BC-90A6758C671B}" type="slidenum">
              <a:rPr lang="en-GB" noProof="0" smtClean="0"/>
              <a:pPr/>
              <a:t>4</a:t>
            </a:fld>
            <a:endParaRPr lang="en-GB" noProof="0" dirty="0"/>
          </a:p>
        </p:txBody>
      </p:sp>
      <p:sp>
        <p:nvSpPr>
          <p:cNvPr id="43" name="Content Placeholder 42"/>
          <p:cNvSpPr>
            <a:spLocks noGrp="1"/>
          </p:cNvSpPr>
          <p:nvPr>
            <p:ph idx="45"/>
          </p:nvPr>
        </p:nvSpPr>
        <p:spPr/>
        <p:txBody>
          <a:bodyPr/>
          <a:lstStyle/>
          <a:p>
            <a:r>
              <a:rPr lang="en-US" altLang="zh-CN" dirty="0"/>
              <a:t>All cases in this page can meet the target in final.</a:t>
            </a:r>
          </a:p>
        </p:txBody>
      </p:sp>
      <p:sp>
        <p:nvSpPr>
          <p:cNvPr id="46" name="Text Placeholder 45"/>
          <p:cNvSpPr>
            <a:spLocks noGrp="1"/>
          </p:cNvSpPr>
          <p:nvPr>
            <p:ph type="body" sz="quarter" idx="48"/>
          </p:nvPr>
        </p:nvSpPr>
        <p:spPr>
          <a:xfrm>
            <a:off x="407988" y="1052513"/>
            <a:ext cx="11379164" cy="360099"/>
          </a:xfrm>
        </p:spPr>
        <p:txBody>
          <a:bodyPr/>
          <a:lstStyle/>
          <a:p>
            <a:r>
              <a:rPr lang="en-US" altLang="zh-CN" dirty="0"/>
              <a:t>Static center console compression result overview</a:t>
            </a:r>
          </a:p>
        </p:txBody>
      </p:sp>
      <p:sp>
        <p:nvSpPr>
          <p:cNvPr id="42" name="Title 41"/>
          <p:cNvSpPr>
            <a:spLocks noGrp="1"/>
          </p:cNvSpPr>
          <p:nvPr>
            <p:ph type="title"/>
          </p:nvPr>
        </p:nvSpPr>
        <p:spPr/>
        <p:txBody>
          <a:bodyPr vert="horz" rIns="91440">
            <a:normAutofit fontScale="90000"/>
          </a:bodyPr>
          <a:lstStyle/>
          <a:p>
            <a:r>
              <a:rPr lang="en-US" altLang="zh-CN" dirty="0"/>
              <a:t>A01_CNSL - Basic Version</a:t>
            </a:r>
            <a:endParaRPr lang="en-US" dirty="0"/>
          </a:p>
        </p:txBody>
      </p:sp>
      <p:grpSp>
        <p:nvGrpSpPr>
          <p:cNvPr id="45" name="Grupo 19">
            <a:extLst>
              <a:ext uri="{FF2B5EF4-FFF2-40B4-BE49-F238E27FC236}">
                <a16:creationId xmlns:a16="http://schemas.microsoft.com/office/drawing/2014/main" id="{65807E3A-2EBC-0091-E5BC-48C1C063DEE8}"/>
              </a:ext>
            </a:extLst>
          </p:cNvPr>
          <p:cNvGrpSpPr/>
          <p:nvPr/>
        </p:nvGrpSpPr>
        <p:grpSpPr>
          <a:xfrm>
            <a:off x="11206995" y="1020015"/>
            <a:ext cx="264755" cy="711903"/>
            <a:chOff x="8749258" y="52264"/>
            <a:chExt cx="216024" cy="594066"/>
          </a:xfrm>
        </p:grpSpPr>
        <p:sp>
          <p:nvSpPr>
            <p:cNvPr id="47" name="CustomShape 9">
              <a:extLst>
                <a:ext uri="{FF2B5EF4-FFF2-40B4-BE49-F238E27FC236}">
                  <a16:creationId xmlns:a16="http://schemas.microsoft.com/office/drawing/2014/main" id="{FE2BCD45-2342-4FEC-D619-5421639BCF17}"/>
                </a:ext>
              </a:extLst>
            </p:cNvPr>
            <p:cNvSpPr/>
            <p:nvPr/>
          </p:nvSpPr>
          <p:spPr>
            <a:xfrm>
              <a:off x="8775573" y="80460"/>
              <a:ext cx="160650" cy="160650"/>
            </a:xfrm>
            <a:prstGeom prst="ellipse">
              <a:avLst/>
            </a:prstGeom>
            <a:solidFill>
              <a:srgbClr val="FF00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8" name="CustomShape 9">
              <a:extLst>
                <a:ext uri="{FF2B5EF4-FFF2-40B4-BE49-F238E27FC236}">
                  <a16:creationId xmlns:a16="http://schemas.microsoft.com/office/drawing/2014/main" id="{D22B1C40-316F-19CD-AAA0-54278A771608}"/>
                </a:ext>
              </a:extLst>
            </p:cNvPr>
            <p:cNvSpPr/>
            <p:nvPr/>
          </p:nvSpPr>
          <p:spPr>
            <a:xfrm>
              <a:off x="8771413" y="257107"/>
              <a:ext cx="160650" cy="160650"/>
            </a:xfrm>
            <a:prstGeom prst="ellipse">
              <a:avLst/>
            </a:prstGeom>
            <a:solidFill>
              <a:srgbClr val="FFFF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9" name="CustomShape 9">
              <a:extLst>
                <a:ext uri="{FF2B5EF4-FFF2-40B4-BE49-F238E27FC236}">
                  <a16:creationId xmlns:a16="http://schemas.microsoft.com/office/drawing/2014/main" id="{73D9DABE-6F76-F8D7-47E1-4DBC98B03329}"/>
                </a:ext>
              </a:extLst>
            </p:cNvPr>
            <p:cNvSpPr/>
            <p:nvPr/>
          </p:nvSpPr>
          <p:spPr>
            <a:xfrm>
              <a:off x="8773488" y="446224"/>
              <a:ext cx="160650" cy="160650"/>
            </a:xfrm>
            <a:prstGeom prst="ellipse">
              <a:avLst/>
            </a:prstGeom>
            <a:solidFill>
              <a:srgbClr val="339933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0" name="CustomShape 8">
              <a:extLst>
                <a:ext uri="{FF2B5EF4-FFF2-40B4-BE49-F238E27FC236}">
                  <a16:creationId xmlns:a16="http://schemas.microsoft.com/office/drawing/2014/main" id="{F59611EE-A93F-4604-F8D2-912B01C376E2}"/>
                </a:ext>
              </a:extLst>
            </p:cNvPr>
            <p:cNvSpPr/>
            <p:nvPr/>
          </p:nvSpPr>
          <p:spPr>
            <a:xfrm>
              <a:off x="8749258" y="52264"/>
              <a:ext cx="216024" cy="594066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65000"/>
              </a:schemeClr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 dirty="0"/>
            </a:p>
          </p:txBody>
        </p:sp>
        <p:grpSp>
          <p:nvGrpSpPr>
            <p:cNvPr id="51" name="Grupo 1">
              <a:extLst>
                <a:ext uri="{FF2B5EF4-FFF2-40B4-BE49-F238E27FC236}">
                  <a16:creationId xmlns:a16="http://schemas.microsoft.com/office/drawing/2014/main" id="{B66FCDD5-CE05-6EE1-4390-43818A3C0A9A}"/>
                </a:ext>
              </a:extLst>
            </p:cNvPr>
            <p:cNvGrpSpPr/>
            <p:nvPr/>
          </p:nvGrpSpPr>
          <p:grpSpPr>
            <a:xfrm>
              <a:off x="8776118" y="86090"/>
              <a:ext cx="160650" cy="526414"/>
              <a:chOff x="8776118" y="80460"/>
              <a:chExt cx="160650" cy="526414"/>
            </a:xfrm>
          </p:grpSpPr>
          <p:sp>
            <p:nvSpPr>
              <p:cNvPr id="52" name="CustomShape 9">
                <a:extLst>
                  <a:ext uri="{FF2B5EF4-FFF2-40B4-BE49-F238E27FC236}">
                    <a16:creationId xmlns:a16="http://schemas.microsoft.com/office/drawing/2014/main" id="{D0D42244-D890-E5B4-8510-7239FC43DF1F}"/>
                  </a:ext>
                </a:extLst>
              </p:cNvPr>
              <p:cNvSpPr/>
              <p:nvPr/>
            </p:nvSpPr>
            <p:spPr>
              <a:xfrm>
                <a:off x="8776118" y="80460"/>
                <a:ext cx="160650" cy="160650"/>
              </a:xfrm>
              <a:prstGeom prst="ellipse">
                <a:avLst/>
              </a:prstGeom>
              <a:solidFill>
                <a:srgbClr val="92D050"/>
              </a:solidFill>
              <a:ln w="9360">
                <a:solidFill>
                  <a:srgbClr val="92D050"/>
                </a:solidFill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53" name="CustomShape 9">
                <a:extLst>
                  <a:ext uri="{FF2B5EF4-FFF2-40B4-BE49-F238E27FC236}">
                    <a16:creationId xmlns:a16="http://schemas.microsoft.com/office/drawing/2014/main" id="{7AD920B2-E963-17E2-E767-0A9EDA41884E}"/>
                  </a:ext>
                </a:extLst>
              </p:cNvPr>
              <p:cNvSpPr/>
              <p:nvPr/>
            </p:nvSpPr>
            <p:spPr>
              <a:xfrm>
                <a:off x="8776118" y="263342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54" name="CustomShape 9">
                <a:extLst>
                  <a:ext uri="{FF2B5EF4-FFF2-40B4-BE49-F238E27FC236}">
                    <a16:creationId xmlns:a16="http://schemas.microsoft.com/office/drawing/2014/main" id="{66148CFA-B28C-7644-A1EC-2934B627E4CD}"/>
                  </a:ext>
                </a:extLst>
              </p:cNvPr>
              <p:cNvSpPr/>
              <p:nvPr/>
            </p:nvSpPr>
            <p:spPr>
              <a:xfrm>
                <a:off x="8776118" y="446224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</p:grp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C0E3E61C-6927-4CB9-C39E-107915FF9581}"/>
              </a:ext>
            </a:extLst>
          </p:cNvPr>
          <p:cNvSpPr/>
          <p:nvPr/>
        </p:nvSpPr>
        <p:spPr>
          <a:xfrm>
            <a:off x="9107492" y="5075389"/>
            <a:ext cx="741183" cy="4277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algn="ctr"/>
            <a:endParaRPr lang="zh-CN" altLang="en-US" sz="1400" dirty="0" err="1"/>
          </a:p>
        </p:txBody>
      </p:sp>
      <p:graphicFrame>
        <p:nvGraphicFramePr>
          <p:cNvPr id="22" name="表格占位符 10">
            <a:extLst>
              <a:ext uri="{FF2B5EF4-FFF2-40B4-BE49-F238E27FC236}">
                <a16:creationId xmlns:a16="http://schemas.microsoft.com/office/drawing/2014/main" id="{05AE0B61-F18E-4D76-A52B-B769E388AC4C}"/>
              </a:ext>
            </a:extLst>
          </p:cNvPr>
          <p:cNvGraphicFramePr>
            <a:graphicFrameLocks noGrp="1"/>
          </p:cNvGraphicFramePr>
          <p:nvPr>
            <p:ph type="tbl" sz="quarter" idx="47"/>
          </p:nvPr>
        </p:nvGraphicFramePr>
        <p:xfrm>
          <a:off x="7214075" y="1865827"/>
          <a:ext cx="2598631" cy="373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7512">
                  <a:extLst>
                    <a:ext uri="{9D8B030D-6E8A-4147-A177-3AD203B41FA5}">
                      <a16:colId xmlns:a16="http://schemas.microsoft.com/office/drawing/2014/main" val="7691513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44751834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69377654"/>
                    </a:ext>
                  </a:extLst>
                </a:gridCol>
                <a:gridCol w="513799">
                  <a:extLst>
                    <a:ext uri="{9D8B030D-6E8A-4147-A177-3AD203B41FA5}">
                      <a16:colId xmlns:a16="http://schemas.microsoft.com/office/drawing/2014/main" val="548093987"/>
                    </a:ext>
                  </a:extLst>
                </a:gridCol>
              </a:tblGrid>
              <a:tr h="235122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latin typeface="+mn-ea"/>
                          <a:ea typeface="+mn-ea"/>
                        </a:rPr>
                        <a:t>Point Number</a:t>
                      </a:r>
                      <a:endParaRPr lang="zh-CN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latin typeface="+mn-ea"/>
                          <a:ea typeface="+mn-ea"/>
                        </a:rPr>
                        <a:t>V00</a:t>
                      </a:r>
                      <a:endParaRPr lang="zh-CN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altLang="zh-CN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8524182"/>
                  </a:ext>
                </a:extLst>
              </a:tr>
              <a:tr h="529024"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CAE Result</a:t>
                      </a:r>
                      <a:endParaRPr lang="zh-CN" altLang="en-US" sz="1000" b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002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Less</a:t>
                      </a:r>
                      <a:r>
                        <a:rPr lang="en-US" altLang="zh-CN" sz="1000" b="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than </a:t>
                      </a:r>
                      <a:r>
                        <a:rPr lang="en-US" altLang="zh-CN" sz="1000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yield stress</a:t>
                      </a:r>
                    </a:p>
                  </a:txBody>
                  <a:tcPr anchor="ctr">
                    <a:solidFill>
                      <a:srgbClr val="0027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Status</a:t>
                      </a:r>
                      <a:endParaRPr lang="zh-CN" altLang="en-US" sz="1000" b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002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485947"/>
                  </a:ext>
                </a:extLst>
              </a:tr>
              <a:tr h="24687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latin typeface="+mn-ea"/>
                          <a:ea typeface="+mn-ea"/>
                        </a:rPr>
                        <a:t>ASP13</a:t>
                      </a:r>
                      <a:endParaRPr lang="zh-CN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1.21mm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YES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latin typeface="+mn-ea"/>
                          <a:ea typeface="+mn-ea"/>
                        </a:rPr>
                        <a:t>OK</a:t>
                      </a:r>
                      <a:endParaRPr lang="zh-CN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6721345"/>
                  </a:ext>
                </a:extLst>
              </a:tr>
              <a:tr h="24687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latin typeface="+mn-ea"/>
                          <a:ea typeface="+mn-ea"/>
                        </a:rPr>
                        <a:t>ASP14</a:t>
                      </a:r>
                      <a:endParaRPr lang="zh-CN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0.65mm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rgbClr val="002733"/>
                          </a:solidFill>
                          <a:latin typeface="+mn-ea"/>
                          <a:ea typeface="+mn-ea"/>
                        </a:rPr>
                        <a:t>YES</a:t>
                      </a:r>
                      <a:endParaRPr lang="zh-CN" altLang="en-US" sz="1000" b="0" dirty="0">
                        <a:solidFill>
                          <a:srgbClr val="002733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dirty="0">
                          <a:latin typeface="+mn-ea"/>
                          <a:ea typeface="+mn-ea"/>
                        </a:rPr>
                        <a:t>OK</a:t>
                      </a:r>
                      <a:endParaRPr lang="zh-CN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7134693"/>
                  </a:ext>
                </a:extLst>
              </a:tr>
              <a:tr h="24687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latin typeface="+mn-ea"/>
                          <a:ea typeface="+mn-ea"/>
                        </a:rPr>
                        <a:t>ASP15</a:t>
                      </a:r>
                      <a:endParaRPr lang="zh-CN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1.57mm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YES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OK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522542"/>
                  </a:ext>
                </a:extLst>
              </a:tr>
              <a:tr h="2468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dirty="0">
                          <a:latin typeface="+mn-ea"/>
                          <a:ea typeface="+mn-ea"/>
                        </a:rPr>
                        <a:t>ASP16</a:t>
                      </a:r>
                      <a:endParaRPr lang="zh-CN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0.86mm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YES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latin typeface="+mn-ea"/>
                          <a:ea typeface="+mn-ea"/>
                        </a:rPr>
                        <a:t>OK</a:t>
                      </a:r>
                      <a:endParaRPr lang="zh-CN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858869"/>
                  </a:ext>
                </a:extLst>
              </a:tr>
              <a:tr h="2468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dirty="0">
                          <a:latin typeface="+mn-ea"/>
                          <a:ea typeface="+mn-ea"/>
                        </a:rPr>
                        <a:t>ASP17</a:t>
                      </a:r>
                      <a:endParaRPr lang="zh-CN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1.08mm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YES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latin typeface="+mn-ea"/>
                          <a:ea typeface="+mn-ea"/>
                        </a:rPr>
                        <a:t>OK</a:t>
                      </a:r>
                      <a:endParaRPr lang="zh-CN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23620"/>
                  </a:ext>
                </a:extLst>
              </a:tr>
              <a:tr h="2468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dirty="0">
                          <a:latin typeface="+mn-ea"/>
                          <a:ea typeface="+mn-ea"/>
                        </a:rPr>
                        <a:t>ASP18</a:t>
                      </a:r>
                      <a:endParaRPr lang="zh-CN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0.67mm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YES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latin typeface="+mn-ea"/>
                          <a:ea typeface="+mn-ea"/>
                        </a:rPr>
                        <a:t>OK</a:t>
                      </a:r>
                      <a:endParaRPr lang="zh-CN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9310762"/>
                  </a:ext>
                </a:extLst>
              </a:tr>
              <a:tr h="24687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latin typeface="+mn-ea"/>
                          <a:ea typeface="+mn-ea"/>
                        </a:rPr>
                        <a:t>ASP19</a:t>
                      </a:r>
                      <a:endParaRPr lang="zh-CN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0.98mm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YES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latin typeface="+mn-ea"/>
                          <a:ea typeface="+mn-ea"/>
                        </a:rPr>
                        <a:t>OK</a:t>
                      </a:r>
                      <a:endParaRPr lang="zh-CN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157234"/>
                  </a:ext>
                </a:extLst>
              </a:tr>
              <a:tr h="24687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latin typeface="+mn-ea"/>
                          <a:ea typeface="+mn-ea"/>
                        </a:rPr>
                        <a:t>ASP20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2.12mm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YES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dirty="0">
                          <a:latin typeface="+mn-ea"/>
                          <a:ea typeface="+mn-ea"/>
                        </a:rPr>
                        <a:t>OK</a:t>
                      </a:r>
                      <a:endParaRPr lang="zh-CN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2430184"/>
                  </a:ext>
                </a:extLst>
              </a:tr>
              <a:tr h="24687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latin typeface="+mn-ea"/>
                          <a:ea typeface="+mn-ea"/>
                        </a:rPr>
                        <a:t>ASP21</a:t>
                      </a:r>
                      <a:endParaRPr lang="zh-CN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1.89mm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rgbClr val="002733"/>
                          </a:solidFill>
                          <a:latin typeface="+mn-ea"/>
                          <a:ea typeface="+mn-ea"/>
                        </a:rPr>
                        <a:t>YES</a:t>
                      </a:r>
                      <a:endParaRPr lang="zh-CN" altLang="en-US" sz="1000" b="0" dirty="0">
                        <a:solidFill>
                          <a:srgbClr val="002733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latin typeface="+mn-ea"/>
                          <a:ea typeface="+mn-ea"/>
                        </a:rPr>
                        <a:t>OK</a:t>
                      </a:r>
                      <a:endParaRPr lang="zh-CN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237308"/>
                  </a:ext>
                </a:extLst>
              </a:tr>
              <a:tr h="24687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latin typeface="+mn-ea"/>
                          <a:ea typeface="+mn-ea"/>
                        </a:rPr>
                        <a:t>ASP22</a:t>
                      </a:r>
                      <a:endParaRPr lang="zh-CN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0.80mm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YES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dirty="0">
                          <a:latin typeface="+mn-ea"/>
                          <a:ea typeface="+mn-ea"/>
                        </a:rPr>
                        <a:t>OK</a:t>
                      </a:r>
                      <a:endParaRPr lang="zh-CN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94891"/>
                  </a:ext>
                </a:extLst>
              </a:tr>
              <a:tr h="24687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latin typeface="+mn-ea"/>
                          <a:ea typeface="+mn-ea"/>
                        </a:rPr>
                        <a:t>ASP23</a:t>
                      </a:r>
                      <a:endParaRPr lang="zh-CN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0.86mm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YES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OK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1551758"/>
                  </a:ext>
                </a:extLst>
              </a:tr>
              <a:tr h="2468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dirty="0">
                          <a:latin typeface="+mn-ea"/>
                          <a:ea typeface="+mn-ea"/>
                        </a:rPr>
                        <a:t>ASP24</a:t>
                      </a:r>
                      <a:endParaRPr lang="zh-CN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0.39mm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YES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latin typeface="+mn-ea"/>
                          <a:ea typeface="+mn-ea"/>
                        </a:rPr>
                        <a:t>OK</a:t>
                      </a:r>
                      <a:endParaRPr lang="zh-CN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383157"/>
                  </a:ext>
                </a:extLst>
              </a:tr>
            </a:tbl>
          </a:graphicData>
        </a:graphic>
      </p:graphicFrame>
      <p:graphicFrame>
        <p:nvGraphicFramePr>
          <p:cNvPr id="21" name="内容占位符 3">
            <a:extLst>
              <a:ext uri="{FF2B5EF4-FFF2-40B4-BE49-F238E27FC236}">
                <a16:creationId xmlns:a16="http://schemas.microsoft.com/office/drawing/2014/main" id="{6CBD37B4-B83B-444A-9C4B-0CEAC8E2C1FE}"/>
              </a:ext>
            </a:extLst>
          </p:cNvPr>
          <p:cNvGraphicFramePr>
            <a:graphicFrameLocks/>
          </p:cNvGraphicFramePr>
          <p:nvPr/>
        </p:nvGraphicFramePr>
        <p:xfrm>
          <a:off x="4025840" y="1865827"/>
          <a:ext cx="2969014" cy="3529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13001367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139885948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3051455794"/>
                    </a:ext>
                  </a:extLst>
                </a:gridCol>
                <a:gridCol w="774454">
                  <a:extLst>
                    <a:ext uri="{9D8B030D-6E8A-4147-A177-3AD203B41FA5}">
                      <a16:colId xmlns:a16="http://schemas.microsoft.com/office/drawing/2014/main" val="244192708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latin typeface="+mn-lt"/>
                        </a:rPr>
                        <a:t>Point</a:t>
                      </a:r>
                      <a:endParaRPr lang="zh-CN" altLang="en-US" sz="1000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latin typeface="+mn-lt"/>
                        </a:rPr>
                        <a:t>X/mm</a:t>
                      </a:r>
                      <a:endParaRPr lang="zh-CN" altLang="en-US" sz="1000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latin typeface="+mn-lt"/>
                        </a:rPr>
                        <a:t>Y/mm</a:t>
                      </a:r>
                      <a:endParaRPr lang="zh-CN" altLang="en-US" sz="1000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latin typeface="+mn-lt"/>
                        </a:rPr>
                        <a:t>Z/mm</a:t>
                      </a:r>
                      <a:endParaRPr lang="zh-CN" altLang="en-US" sz="1000" b="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564108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dirty="0">
                          <a:latin typeface="+mn-lt"/>
                        </a:rPr>
                        <a:t>ASP13</a:t>
                      </a:r>
                      <a:endParaRPr lang="zh-CN" altLang="en-US" sz="1000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2412.711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-138.939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1362.510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5805429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dirty="0">
                          <a:latin typeface="+mn-lt"/>
                        </a:rPr>
                        <a:t>ASP14</a:t>
                      </a:r>
                      <a:endParaRPr lang="zh-CN" altLang="en-US" sz="1000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2599.746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-124.334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1406.647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8859592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dirty="0">
                          <a:latin typeface="+mn-lt"/>
                        </a:rPr>
                        <a:t>ASP15</a:t>
                      </a:r>
                      <a:endParaRPr lang="zh-CN" altLang="en-US" sz="1000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2771.253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-117.059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1385.309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5245617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dirty="0">
                          <a:latin typeface="+mn-lt"/>
                        </a:rPr>
                        <a:t>ASP16</a:t>
                      </a:r>
                      <a:endParaRPr lang="zh-CN" altLang="en-US" sz="1000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2844.594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-100.964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1283.317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4375214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dirty="0">
                          <a:latin typeface="+mn-lt"/>
                        </a:rPr>
                        <a:t>ASP17</a:t>
                      </a:r>
                      <a:endParaRPr lang="zh-CN" altLang="en-US" sz="1000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2563.777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-130.397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1144.582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999849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dirty="0">
                          <a:latin typeface="+mn-lt"/>
                        </a:rPr>
                        <a:t>ASP18</a:t>
                      </a:r>
                      <a:endParaRPr lang="zh-CN" altLang="en-US" sz="1000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2678.176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-126.445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1154.408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700084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ASP19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2791.921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-122.969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1154.372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053299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ASP20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2082.390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-127.470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1157.922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7338304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ASP21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2175.111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-125.739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1157.610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7038311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ASP22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2340.405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-137.200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1101.211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61349139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ASP23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2367.481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-148.397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1266.894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4280661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ASP24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2431.458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-134.923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1130.722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33646625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F1B44932-CC8B-4383-9ED3-D73921B2FD1B}"/>
              </a:ext>
            </a:extLst>
          </p:cNvPr>
          <p:cNvGrpSpPr/>
          <p:nvPr/>
        </p:nvGrpSpPr>
        <p:grpSpPr>
          <a:xfrm>
            <a:off x="526426" y="3351840"/>
            <a:ext cx="1952921" cy="1723549"/>
            <a:chOff x="633525" y="2540175"/>
            <a:chExt cx="1952921" cy="1723549"/>
          </a:xfrm>
        </p:grpSpPr>
        <p:sp>
          <p:nvSpPr>
            <p:cNvPr id="24" name="文本框 85">
              <a:extLst>
                <a:ext uri="{FF2B5EF4-FFF2-40B4-BE49-F238E27FC236}">
                  <a16:creationId xmlns:a16="http://schemas.microsoft.com/office/drawing/2014/main" id="{2A8E0C65-A33A-4CD1-8761-0A58768F8BC3}"/>
                </a:ext>
              </a:extLst>
            </p:cNvPr>
            <p:cNvSpPr txBox="1"/>
            <p:nvPr/>
          </p:nvSpPr>
          <p:spPr>
            <a:xfrm>
              <a:off x="633525" y="2540175"/>
              <a:ext cx="1952921" cy="172354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200" dirty="0">
                  <a:solidFill>
                    <a:schemeClr val="dk1"/>
                  </a:solidFill>
                  <a:ea typeface="宋体" panose="02010600030101010101" pitchFamily="2" charset="-122"/>
                </a:rPr>
                <a:t>Y</a:t>
              </a:r>
              <a:r>
                <a:rPr lang="en-US" altLang="zh-CN" sz="1200" b="0" i="0" u="none" strike="noStrike" kern="1200" baseline="0" dirty="0">
                  <a:solidFill>
                    <a:schemeClr val="dk1"/>
                  </a:solidFill>
                  <a:ea typeface="宋体" panose="02010600030101010101" pitchFamily="2" charset="-122"/>
                </a:rPr>
                <a:t>-direction</a:t>
              </a:r>
            </a:p>
            <a:p>
              <a:r>
                <a:rPr lang="en-US" altLang="zh-CN" sz="1200" b="1" i="0" u="none" strike="noStrike" kern="1200" baseline="0" dirty="0">
                  <a:solidFill>
                    <a:schemeClr val="dk1"/>
                  </a:solidFill>
                  <a:ea typeface="+mn-ea"/>
                  <a:cs typeface="+mn-cs"/>
                </a:rPr>
                <a:t>Force:</a:t>
              </a:r>
              <a:r>
                <a:rPr lang="en-US" altLang="zh-CN" sz="1200" dirty="0">
                  <a:solidFill>
                    <a:schemeClr val="dk1"/>
                  </a:solidFill>
                </a:rPr>
                <a:t>150N(P01~19)</a:t>
              </a:r>
            </a:p>
            <a:p>
              <a:r>
                <a:rPr lang="en-US" altLang="zh-CN" sz="1200" dirty="0">
                  <a:solidFill>
                    <a:schemeClr val="dk1"/>
                  </a:solidFill>
                </a:rPr>
                <a:t>(1st row center </a:t>
              </a:r>
              <a:r>
                <a:rPr lang="en-US" altLang="zh-CN" sz="1200" b="0" i="0" u="none" strike="noStrike" kern="1200" baseline="0" dirty="0">
                  <a:solidFill>
                    <a:schemeClr val="dk1"/>
                  </a:solidFill>
                  <a:ea typeface="+mn-ea"/>
                  <a:cs typeface="+mn-cs"/>
                </a:rPr>
                <a:t>console)</a:t>
              </a:r>
            </a:p>
            <a:p>
              <a:r>
                <a:rPr lang="en-US" altLang="zh-CN" sz="1200" dirty="0">
                  <a:solidFill>
                    <a:schemeClr val="dk1"/>
                  </a:solidFill>
                </a:rPr>
                <a:t>displacement&lt;3mm</a:t>
              </a:r>
              <a:endParaRPr lang="en-US" altLang="zh-CN" sz="1200" b="0" i="0" u="none" strike="noStrike" kern="1200" baseline="0" dirty="0">
                <a:solidFill>
                  <a:schemeClr val="dk1"/>
                </a:solidFill>
                <a:ea typeface="+mn-ea"/>
                <a:cs typeface="+mn-cs"/>
              </a:endParaRPr>
            </a:p>
            <a:p>
              <a:r>
                <a:rPr lang="en-US" altLang="zh-CN" sz="1200" b="1" i="0" u="none" strike="noStrike" kern="1200" baseline="0" dirty="0">
                  <a:solidFill>
                    <a:schemeClr val="dk1"/>
                  </a:solidFill>
                  <a:ea typeface="+mn-ea"/>
                  <a:cs typeface="+mn-cs"/>
                </a:rPr>
                <a:t>Force:</a:t>
              </a:r>
              <a:r>
                <a:rPr lang="en-US" altLang="zh-CN" sz="1200" b="0" i="0" u="none" strike="noStrike" kern="1200" baseline="0" dirty="0">
                  <a:solidFill>
                    <a:schemeClr val="dk1"/>
                  </a:solidFill>
                  <a:ea typeface="+mn-ea"/>
                  <a:cs typeface="+mn-cs"/>
                </a:rPr>
                <a:t>75N</a:t>
              </a:r>
              <a:r>
                <a:rPr lang="en-US" altLang="zh-CN" sz="1200" dirty="0">
                  <a:solidFill>
                    <a:schemeClr val="dk1"/>
                  </a:solidFill>
                </a:rPr>
                <a:t> (P20~27)</a:t>
              </a:r>
              <a:endParaRPr lang="en-US" altLang="zh-CN" sz="1200" b="0" i="0" u="none" strike="noStrike" kern="1200" baseline="0" dirty="0">
                <a:solidFill>
                  <a:schemeClr val="dk1"/>
                </a:solidFill>
                <a:ea typeface="+mn-ea"/>
                <a:cs typeface="+mn-cs"/>
              </a:endParaRPr>
            </a:p>
            <a:p>
              <a:r>
                <a:rPr lang="en-US" altLang="zh-CN" sz="1200" b="0" i="0" u="none" strike="noStrike" kern="1200" baseline="0" dirty="0">
                  <a:solidFill>
                    <a:schemeClr val="dk1"/>
                  </a:solidFill>
                  <a:ea typeface="+mn-ea"/>
                  <a:cs typeface="+mn-cs"/>
                </a:rPr>
                <a:t>(2nd row center console)</a:t>
              </a:r>
            </a:p>
            <a:p>
              <a:pPr defTabSz="914377">
                <a:defRPr/>
              </a:pPr>
              <a:r>
                <a:rPr lang="en-US" altLang="zh-CN" sz="1200" dirty="0">
                  <a:solidFill>
                    <a:schemeClr val="dk1"/>
                  </a:solidFill>
                </a:rPr>
                <a:t>displacement&lt;3mm</a:t>
              </a:r>
              <a:br>
                <a:rPr lang="en-US" altLang="zh-CN" sz="1200" dirty="0">
                  <a:solidFill>
                    <a:schemeClr val="dk1"/>
                  </a:solidFill>
                </a:rPr>
              </a:br>
              <a:r>
                <a:rPr lang="en-US" altLang="zh-CN" sz="1200" dirty="0">
                  <a:solidFill>
                    <a:schemeClr val="dk1"/>
                  </a:solidFill>
                </a:rPr>
                <a:t>Ø80mm</a:t>
              </a:r>
              <a:endParaRPr lang="zh-CN" altLang="en-US" sz="1200" dirty="0">
                <a:ea typeface="+mn-ea"/>
              </a:endParaRPr>
            </a:p>
            <a:p>
              <a:r>
                <a:rPr lang="en-US" altLang="zh-CN" sz="1600" b="0" i="0" u="none" strike="noStrike" kern="1200" baseline="0" dirty="0">
                  <a:solidFill>
                    <a:schemeClr val="dk1"/>
                  </a:solidFill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26" name="椭圆 36">
              <a:extLst>
                <a:ext uri="{FF2B5EF4-FFF2-40B4-BE49-F238E27FC236}">
                  <a16:creationId xmlns:a16="http://schemas.microsoft.com/office/drawing/2014/main" id="{FDFEA400-1AE1-445B-97FD-56C60320E697}"/>
                </a:ext>
              </a:extLst>
            </p:cNvPr>
            <p:cNvSpPr/>
            <p:nvPr/>
          </p:nvSpPr>
          <p:spPr>
            <a:xfrm>
              <a:off x="2180018" y="2689839"/>
              <a:ext cx="223547" cy="218823"/>
            </a:xfrm>
            <a:prstGeom prst="ellipse">
              <a:avLst/>
            </a:prstGeom>
            <a:solidFill>
              <a:srgbClr val="A73470">
                <a:alpha val="5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27" name="椭圆 37">
              <a:extLst>
                <a:ext uri="{FF2B5EF4-FFF2-40B4-BE49-F238E27FC236}">
                  <a16:creationId xmlns:a16="http://schemas.microsoft.com/office/drawing/2014/main" id="{EC26C3AD-F450-492D-8579-CD3F5F13CC43}"/>
                </a:ext>
              </a:extLst>
            </p:cNvPr>
            <p:cNvSpPr/>
            <p:nvPr/>
          </p:nvSpPr>
          <p:spPr>
            <a:xfrm>
              <a:off x="2180018" y="3259966"/>
              <a:ext cx="214839" cy="203205"/>
            </a:xfrm>
            <a:prstGeom prst="ellipse">
              <a:avLst/>
            </a:prstGeom>
            <a:solidFill>
              <a:srgbClr val="CF998C">
                <a:alpha val="5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zh-CN" altLang="en-US" sz="2000" b="1" dirty="0">
                <a:solidFill>
                  <a:srgbClr val="A21E4D"/>
                </a:solidFill>
              </a:endParaRPr>
            </a:p>
          </p:txBody>
        </p:sp>
      </p:grpSp>
      <p:sp>
        <p:nvSpPr>
          <p:cNvPr id="25" name="矩形 6">
            <a:extLst>
              <a:ext uri="{FF2B5EF4-FFF2-40B4-BE49-F238E27FC236}">
                <a16:creationId xmlns:a16="http://schemas.microsoft.com/office/drawing/2014/main" id="{1E8FAAD6-24D8-4072-AF6E-E79D1B923CD8}"/>
              </a:ext>
            </a:extLst>
          </p:cNvPr>
          <p:cNvSpPr/>
          <p:nvPr/>
        </p:nvSpPr>
        <p:spPr>
          <a:xfrm>
            <a:off x="478801" y="4900528"/>
            <a:ext cx="313214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dk1"/>
                </a:solidFill>
              </a:rPr>
              <a:t>1</a:t>
            </a:r>
            <a:r>
              <a:rPr lang="zh-CN" altLang="en-US" sz="1200" dirty="0">
                <a:solidFill>
                  <a:schemeClr val="dk1"/>
                </a:solidFill>
              </a:rPr>
              <a:t>、</a:t>
            </a:r>
            <a:r>
              <a:rPr lang="en-US" altLang="zh-CN" sz="1200" dirty="0">
                <a:solidFill>
                  <a:schemeClr val="dk1"/>
                </a:solidFill>
              </a:rPr>
              <a:t>No plastic deformation</a:t>
            </a:r>
          </a:p>
          <a:p>
            <a:r>
              <a:rPr lang="en-US" altLang="zh-CN" sz="1200" dirty="0">
                <a:solidFill>
                  <a:schemeClr val="dk1"/>
                </a:solidFill>
              </a:rPr>
              <a:t>2</a:t>
            </a:r>
            <a:r>
              <a:rPr lang="zh-CN" altLang="en-US" sz="1200" dirty="0">
                <a:solidFill>
                  <a:schemeClr val="dk1"/>
                </a:solidFill>
              </a:rPr>
              <a:t>、</a:t>
            </a:r>
            <a:r>
              <a:rPr lang="en-US" altLang="zh-CN" sz="1200" dirty="0">
                <a:solidFill>
                  <a:schemeClr val="dk1"/>
                </a:solidFill>
              </a:rPr>
              <a:t>No breakage</a:t>
            </a:r>
          </a:p>
          <a:p>
            <a:r>
              <a:rPr lang="en-US" altLang="zh-CN" sz="1200" dirty="0">
                <a:solidFill>
                  <a:schemeClr val="dk1"/>
                </a:solidFill>
              </a:rPr>
              <a:t>3</a:t>
            </a:r>
            <a:r>
              <a:rPr lang="zh-CN" altLang="en-US" sz="1200" dirty="0">
                <a:solidFill>
                  <a:schemeClr val="dk1"/>
                </a:solidFill>
              </a:rPr>
              <a:t>、</a:t>
            </a:r>
            <a:r>
              <a:rPr lang="en-US" altLang="zh-CN" sz="1200" dirty="0">
                <a:solidFill>
                  <a:schemeClr val="dk1"/>
                </a:solidFill>
              </a:rPr>
              <a:t>Fastening point must not fail</a:t>
            </a:r>
          </a:p>
        </p:txBody>
      </p:sp>
    </p:spTree>
    <p:extLst>
      <p:ext uri="{BB962C8B-B14F-4D97-AF65-F5344CB8AC3E}">
        <p14:creationId xmlns:p14="http://schemas.microsoft.com/office/powerpoint/2010/main" val="2659985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23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9249B2F-9173-48D3-A5BC-90A6758C671B}" type="slidenum">
              <a:rPr lang="en-GB" noProof="0" smtClean="0"/>
              <a:pPr/>
              <a:t>5</a:t>
            </a:fld>
            <a:endParaRPr lang="en-GB" noProof="0" dirty="0"/>
          </a:p>
        </p:txBody>
      </p:sp>
      <p:sp>
        <p:nvSpPr>
          <p:cNvPr id="43" name="Content Placeholder 42"/>
          <p:cNvSpPr>
            <a:spLocks noGrp="1"/>
          </p:cNvSpPr>
          <p:nvPr>
            <p:ph idx="45"/>
          </p:nvPr>
        </p:nvSpPr>
        <p:spPr/>
        <p:txBody>
          <a:bodyPr/>
          <a:lstStyle/>
          <a:p>
            <a:r>
              <a:rPr lang="en-US" altLang="zh-CN" dirty="0"/>
              <a:t>All cases in this page can meet the target in final.</a:t>
            </a:r>
          </a:p>
        </p:txBody>
      </p:sp>
      <p:sp>
        <p:nvSpPr>
          <p:cNvPr id="46" name="Text Placeholder 45"/>
          <p:cNvSpPr>
            <a:spLocks noGrp="1"/>
          </p:cNvSpPr>
          <p:nvPr>
            <p:ph type="body" sz="quarter" idx="48"/>
          </p:nvPr>
        </p:nvSpPr>
        <p:spPr>
          <a:xfrm>
            <a:off x="407988" y="1052513"/>
            <a:ext cx="11379164" cy="360099"/>
          </a:xfrm>
        </p:spPr>
        <p:txBody>
          <a:bodyPr/>
          <a:lstStyle/>
          <a:p>
            <a:r>
              <a:rPr lang="en-US" altLang="zh-CN" dirty="0"/>
              <a:t>Static center console compression result overview</a:t>
            </a:r>
          </a:p>
        </p:txBody>
      </p:sp>
      <p:sp>
        <p:nvSpPr>
          <p:cNvPr id="42" name="Title 41"/>
          <p:cNvSpPr>
            <a:spLocks noGrp="1"/>
          </p:cNvSpPr>
          <p:nvPr>
            <p:ph type="title"/>
          </p:nvPr>
        </p:nvSpPr>
        <p:spPr/>
        <p:txBody>
          <a:bodyPr vert="horz" rIns="91440">
            <a:normAutofit fontScale="90000"/>
          </a:bodyPr>
          <a:lstStyle/>
          <a:p>
            <a:r>
              <a:rPr lang="en-US" altLang="zh-CN" dirty="0"/>
              <a:t>A01_CNSL - Basic Version</a:t>
            </a:r>
            <a:endParaRPr lang="en-US" dirty="0"/>
          </a:p>
        </p:txBody>
      </p:sp>
      <p:grpSp>
        <p:nvGrpSpPr>
          <p:cNvPr id="45" name="Grupo 19">
            <a:extLst>
              <a:ext uri="{FF2B5EF4-FFF2-40B4-BE49-F238E27FC236}">
                <a16:creationId xmlns:a16="http://schemas.microsoft.com/office/drawing/2014/main" id="{65807E3A-2EBC-0091-E5BC-48C1C063DEE8}"/>
              </a:ext>
            </a:extLst>
          </p:cNvPr>
          <p:cNvGrpSpPr/>
          <p:nvPr/>
        </p:nvGrpSpPr>
        <p:grpSpPr>
          <a:xfrm>
            <a:off x="11206995" y="1020015"/>
            <a:ext cx="264755" cy="711903"/>
            <a:chOff x="8749258" y="52264"/>
            <a:chExt cx="216024" cy="594066"/>
          </a:xfrm>
        </p:grpSpPr>
        <p:sp>
          <p:nvSpPr>
            <p:cNvPr id="47" name="CustomShape 9">
              <a:extLst>
                <a:ext uri="{FF2B5EF4-FFF2-40B4-BE49-F238E27FC236}">
                  <a16:creationId xmlns:a16="http://schemas.microsoft.com/office/drawing/2014/main" id="{FE2BCD45-2342-4FEC-D619-5421639BCF17}"/>
                </a:ext>
              </a:extLst>
            </p:cNvPr>
            <p:cNvSpPr/>
            <p:nvPr/>
          </p:nvSpPr>
          <p:spPr>
            <a:xfrm>
              <a:off x="8775573" y="80460"/>
              <a:ext cx="160650" cy="160650"/>
            </a:xfrm>
            <a:prstGeom prst="ellipse">
              <a:avLst/>
            </a:prstGeom>
            <a:solidFill>
              <a:srgbClr val="FF00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8" name="CustomShape 9">
              <a:extLst>
                <a:ext uri="{FF2B5EF4-FFF2-40B4-BE49-F238E27FC236}">
                  <a16:creationId xmlns:a16="http://schemas.microsoft.com/office/drawing/2014/main" id="{D22B1C40-316F-19CD-AAA0-54278A771608}"/>
                </a:ext>
              </a:extLst>
            </p:cNvPr>
            <p:cNvSpPr/>
            <p:nvPr/>
          </p:nvSpPr>
          <p:spPr>
            <a:xfrm>
              <a:off x="8771413" y="257107"/>
              <a:ext cx="160650" cy="160650"/>
            </a:xfrm>
            <a:prstGeom prst="ellipse">
              <a:avLst/>
            </a:prstGeom>
            <a:solidFill>
              <a:srgbClr val="FFFF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9" name="CustomShape 9">
              <a:extLst>
                <a:ext uri="{FF2B5EF4-FFF2-40B4-BE49-F238E27FC236}">
                  <a16:creationId xmlns:a16="http://schemas.microsoft.com/office/drawing/2014/main" id="{73D9DABE-6F76-F8D7-47E1-4DBC98B03329}"/>
                </a:ext>
              </a:extLst>
            </p:cNvPr>
            <p:cNvSpPr/>
            <p:nvPr/>
          </p:nvSpPr>
          <p:spPr>
            <a:xfrm>
              <a:off x="8773488" y="446224"/>
              <a:ext cx="160650" cy="160650"/>
            </a:xfrm>
            <a:prstGeom prst="ellipse">
              <a:avLst/>
            </a:prstGeom>
            <a:solidFill>
              <a:srgbClr val="339933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0" name="CustomShape 8">
              <a:extLst>
                <a:ext uri="{FF2B5EF4-FFF2-40B4-BE49-F238E27FC236}">
                  <a16:creationId xmlns:a16="http://schemas.microsoft.com/office/drawing/2014/main" id="{F59611EE-A93F-4604-F8D2-912B01C376E2}"/>
                </a:ext>
              </a:extLst>
            </p:cNvPr>
            <p:cNvSpPr/>
            <p:nvPr/>
          </p:nvSpPr>
          <p:spPr>
            <a:xfrm>
              <a:off x="8749258" y="52264"/>
              <a:ext cx="216024" cy="594066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65000"/>
              </a:schemeClr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 dirty="0"/>
            </a:p>
          </p:txBody>
        </p:sp>
        <p:grpSp>
          <p:nvGrpSpPr>
            <p:cNvPr id="51" name="Grupo 1">
              <a:extLst>
                <a:ext uri="{FF2B5EF4-FFF2-40B4-BE49-F238E27FC236}">
                  <a16:creationId xmlns:a16="http://schemas.microsoft.com/office/drawing/2014/main" id="{B66FCDD5-CE05-6EE1-4390-43818A3C0A9A}"/>
                </a:ext>
              </a:extLst>
            </p:cNvPr>
            <p:cNvGrpSpPr/>
            <p:nvPr/>
          </p:nvGrpSpPr>
          <p:grpSpPr>
            <a:xfrm>
              <a:off x="8776118" y="86090"/>
              <a:ext cx="160650" cy="526414"/>
              <a:chOff x="8776118" y="80460"/>
              <a:chExt cx="160650" cy="526414"/>
            </a:xfrm>
          </p:grpSpPr>
          <p:sp>
            <p:nvSpPr>
              <p:cNvPr id="52" name="CustomShape 9">
                <a:extLst>
                  <a:ext uri="{FF2B5EF4-FFF2-40B4-BE49-F238E27FC236}">
                    <a16:creationId xmlns:a16="http://schemas.microsoft.com/office/drawing/2014/main" id="{D0D42244-D890-E5B4-8510-7239FC43DF1F}"/>
                  </a:ext>
                </a:extLst>
              </p:cNvPr>
              <p:cNvSpPr/>
              <p:nvPr/>
            </p:nvSpPr>
            <p:spPr>
              <a:xfrm>
                <a:off x="8776118" y="80460"/>
                <a:ext cx="160650" cy="160650"/>
              </a:xfrm>
              <a:prstGeom prst="ellipse">
                <a:avLst/>
              </a:prstGeom>
              <a:solidFill>
                <a:srgbClr val="92D050"/>
              </a:solidFill>
              <a:ln w="9360">
                <a:solidFill>
                  <a:srgbClr val="92D050"/>
                </a:solidFill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53" name="CustomShape 9">
                <a:extLst>
                  <a:ext uri="{FF2B5EF4-FFF2-40B4-BE49-F238E27FC236}">
                    <a16:creationId xmlns:a16="http://schemas.microsoft.com/office/drawing/2014/main" id="{7AD920B2-E963-17E2-E767-0A9EDA41884E}"/>
                  </a:ext>
                </a:extLst>
              </p:cNvPr>
              <p:cNvSpPr/>
              <p:nvPr/>
            </p:nvSpPr>
            <p:spPr>
              <a:xfrm>
                <a:off x="8776118" y="263342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54" name="CustomShape 9">
                <a:extLst>
                  <a:ext uri="{FF2B5EF4-FFF2-40B4-BE49-F238E27FC236}">
                    <a16:creationId xmlns:a16="http://schemas.microsoft.com/office/drawing/2014/main" id="{66148CFA-B28C-7644-A1EC-2934B627E4CD}"/>
                  </a:ext>
                </a:extLst>
              </p:cNvPr>
              <p:cNvSpPr/>
              <p:nvPr/>
            </p:nvSpPr>
            <p:spPr>
              <a:xfrm>
                <a:off x="8776118" y="446224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</p:grp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C0E3E61C-6927-4CB9-C39E-107915FF9581}"/>
              </a:ext>
            </a:extLst>
          </p:cNvPr>
          <p:cNvSpPr/>
          <p:nvPr/>
        </p:nvSpPr>
        <p:spPr>
          <a:xfrm>
            <a:off x="9107492" y="5075389"/>
            <a:ext cx="741183" cy="4277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algn="ctr"/>
            <a:endParaRPr lang="zh-CN" altLang="en-US" sz="1400" dirty="0" err="1"/>
          </a:p>
        </p:txBody>
      </p:sp>
      <p:graphicFrame>
        <p:nvGraphicFramePr>
          <p:cNvPr id="22" name="表格占位符 10">
            <a:extLst>
              <a:ext uri="{FF2B5EF4-FFF2-40B4-BE49-F238E27FC236}">
                <a16:creationId xmlns:a16="http://schemas.microsoft.com/office/drawing/2014/main" id="{05AE0B61-F18E-4D76-A52B-B769E388AC4C}"/>
              </a:ext>
            </a:extLst>
          </p:cNvPr>
          <p:cNvGraphicFramePr>
            <a:graphicFrameLocks noGrp="1"/>
          </p:cNvGraphicFramePr>
          <p:nvPr>
            <p:ph type="tbl" sz="quarter" idx="47"/>
          </p:nvPr>
        </p:nvGraphicFramePr>
        <p:xfrm>
          <a:off x="7222879" y="1882984"/>
          <a:ext cx="2598631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7512">
                  <a:extLst>
                    <a:ext uri="{9D8B030D-6E8A-4147-A177-3AD203B41FA5}">
                      <a16:colId xmlns:a16="http://schemas.microsoft.com/office/drawing/2014/main" val="7691513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44751834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69377654"/>
                    </a:ext>
                  </a:extLst>
                </a:gridCol>
                <a:gridCol w="513799">
                  <a:extLst>
                    <a:ext uri="{9D8B030D-6E8A-4147-A177-3AD203B41FA5}">
                      <a16:colId xmlns:a16="http://schemas.microsoft.com/office/drawing/2014/main" val="548093987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Point Number</a:t>
                      </a:r>
                      <a:endParaRPr lang="zh-CN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V00</a:t>
                      </a:r>
                      <a:endParaRPr lang="zh-CN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altLang="zh-CN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8524182"/>
                  </a:ext>
                </a:extLst>
              </a:tr>
              <a:tr h="293912"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CAE Result</a:t>
                      </a:r>
                      <a:endParaRPr lang="zh-CN" altLang="en-US" sz="10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002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Less</a:t>
                      </a:r>
                      <a:r>
                        <a:rPr lang="en-US" altLang="zh-CN" sz="100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than </a:t>
                      </a: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yield stress</a:t>
                      </a:r>
                    </a:p>
                  </a:txBody>
                  <a:tcPr anchor="ctr">
                    <a:solidFill>
                      <a:srgbClr val="0027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Status</a:t>
                      </a:r>
                      <a:endParaRPr lang="zh-CN" altLang="en-US" sz="10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002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48594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ASP25</a:t>
                      </a:r>
                      <a:endParaRPr lang="zh-CN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0.62mm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YES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OK</a:t>
                      </a:r>
                      <a:endParaRPr lang="zh-CN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672134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ASP26</a:t>
                      </a:r>
                      <a:endParaRPr lang="zh-CN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1.30mm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YES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OK</a:t>
                      </a:r>
                      <a:endParaRPr lang="zh-CN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713469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ASP27</a:t>
                      </a:r>
                      <a:endParaRPr lang="zh-CN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2"/>
                          </a:solidFill>
                          <a:latin typeface="+mn-ea"/>
                          <a:ea typeface="+mn-ea"/>
                        </a:rPr>
                        <a:t>0.31mm</a:t>
                      </a:r>
                      <a:endParaRPr lang="zh-CN" altLang="en-US" sz="1000" dirty="0">
                        <a:solidFill>
                          <a:schemeClr val="tx2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YES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OK</a:t>
                      </a:r>
                      <a:endParaRPr lang="zh-CN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52254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ASP28</a:t>
                      </a:r>
                      <a:endParaRPr lang="zh-CN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2.55mm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rgbClr val="002733"/>
                          </a:solidFill>
                          <a:latin typeface="+mn-ea"/>
                          <a:ea typeface="+mn-ea"/>
                        </a:rPr>
                        <a:t>YES</a:t>
                      </a:r>
                      <a:endParaRPr lang="zh-CN" altLang="en-US" sz="1000" dirty="0">
                        <a:solidFill>
                          <a:srgbClr val="002733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OK</a:t>
                      </a:r>
                      <a:endParaRPr lang="zh-CN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85886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ASP29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2.28mm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YES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OK</a:t>
                      </a:r>
                      <a:endParaRPr lang="zh-CN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2362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ASP30</a:t>
                      </a:r>
                      <a:endParaRPr lang="zh-CN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0.59mm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YES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OK</a:t>
                      </a:r>
                      <a:endParaRPr lang="zh-CN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931076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ASP31</a:t>
                      </a:r>
                      <a:endParaRPr lang="zh-CN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0.59mm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YES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OK</a:t>
                      </a:r>
                      <a:endParaRPr lang="zh-CN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15723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ASP32</a:t>
                      </a:r>
                      <a:endParaRPr lang="zh-CN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1.33mm</a:t>
                      </a:r>
                      <a:endParaRPr lang="zh-CN" altLang="en-US" sz="10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rgbClr val="002733"/>
                          </a:solidFill>
                          <a:latin typeface="+mn-ea"/>
                          <a:ea typeface="+mn-ea"/>
                        </a:rPr>
                        <a:t>YES</a:t>
                      </a:r>
                      <a:endParaRPr lang="zh-CN" altLang="en-US" sz="1000" dirty="0">
                        <a:solidFill>
                          <a:srgbClr val="002733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OK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243018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ASP33</a:t>
                      </a:r>
                      <a:endParaRPr lang="zh-CN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0.45mm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YES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OK</a:t>
                      </a:r>
                      <a:endParaRPr lang="zh-CN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237308"/>
                  </a:ext>
                </a:extLst>
              </a:tr>
            </a:tbl>
          </a:graphicData>
        </a:graphic>
      </p:graphicFrame>
      <p:graphicFrame>
        <p:nvGraphicFramePr>
          <p:cNvPr id="21" name="内容占位符 3">
            <a:extLst>
              <a:ext uri="{FF2B5EF4-FFF2-40B4-BE49-F238E27FC236}">
                <a16:creationId xmlns:a16="http://schemas.microsoft.com/office/drawing/2014/main" id="{6CBD37B4-B83B-444A-9C4B-0CEAC8E2C1FE}"/>
              </a:ext>
            </a:extLst>
          </p:cNvPr>
          <p:cNvGraphicFramePr>
            <a:graphicFrameLocks/>
          </p:cNvGraphicFramePr>
          <p:nvPr/>
        </p:nvGraphicFramePr>
        <p:xfrm>
          <a:off x="4365029" y="1909003"/>
          <a:ext cx="2485073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130013670"/>
                    </a:ext>
                  </a:extLst>
                </a:gridCol>
                <a:gridCol w="614363">
                  <a:extLst>
                    <a:ext uri="{9D8B030D-6E8A-4147-A177-3AD203B41FA5}">
                      <a16:colId xmlns:a16="http://schemas.microsoft.com/office/drawing/2014/main" val="1398859481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305145579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44192708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latin typeface="+mn-lt"/>
                        </a:rPr>
                        <a:t>Point</a:t>
                      </a:r>
                      <a:endParaRPr lang="zh-CN" altLang="en-US" sz="1000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latin typeface="+mn-lt"/>
                        </a:rPr>
                        <a:t>X/mm</a:t>
                      </a:r>
                      <a:endParaRPr lang="zh-CN" altLang="en-US" sz="1000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latin typeface="+mn-lt"/>
                        </a:rPr>
                        <a:t>Y/mm</a:t>
                      </a:r>
                      <a:endParaRPr lang="zh-CN" altLang="en-US" sz="1000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latin typeface="+mn-lt"/>
                        </a:rPr>
                        <a:t>Z/mm</a:t>
                      </a:r>
                      <a:endParaRPr lang="zh-CN" altLang="en-US" sz="1000" b="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564108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ASP25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2882.108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-121.226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1138.765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5805429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ASP26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2981.156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-111.337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1265.768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8859592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ASP27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3028.640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-118.926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1182.003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5245617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ASP28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3261.404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0.000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1080.026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4375214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ASP29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3324.451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0.000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1127.180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999849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ASP30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3242.127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-29.099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1145.652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700084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ASP31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3242.127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29.099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1145.652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053299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ASP32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3319.266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0.000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1281.725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7338304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ASP33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3320.631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0.000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1339.854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70383114"/>
                  </a:ext>
                </a:extLst>
              </a:tr>
            </a:tbl>
          </a:graphicData>
        </a:graphic>
      </p:graphicFrame>
      <p:sp>
        <p:nvSpPr>
          <p:cNvPr id="25" name="矩形 6">
            <a:extLst>
              <a:ext uri="{FF2B5EF4-FFF2-40B4-BE49-F238E27FC236}">
                <a16:creationId xmlns:a16="http://schemas.microsoft.com/office/drawing/2014/main" id="{1E8FAAD6-24D8-4072-AF6E-E79D1B923CD8}"/>
              </a:ext>
            </a:extLst>
          </p:cNvPr>
          <p:cNvSpPr/>
          <p:nvPr/>
        </p:nvSpPr>
        <p:spPr>
          <a:xfrm>
            <a:off x="455120" y="4872256"/>
            <a:ext cx="25068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dk1"/>
                </a:solidFill>
              </a:rPr>
              <a:t>1</a:t>
            </a:r>
            <a:r>
              <a:rPr lang="zh-CN" altLang="en-US" sz="1200" dirty="0">
                <a:solidFill>
                  <a:schemeClr val="dk1"/>
                </a:solidFill>
              </a:rPr>
              <a:t>、</a:t>
            </a:r>
            <a:r>
              <a:rPr lang="en-US" altLang="zh-CN" sz="1200" dirty="0">
                <a:solidFill>
                  <a:schemeClr val="dk1"/>
                </a:solidFill>
              </a:rPr>
              <a:t>No plastic deformation</a:t>
            </a:r>
          </a:p>
          <a:p>
            <a:r>
              <a:rPr lang="en-US" altLang="zh-CN" sz="1200" dirty="0">
                <a:solidFill>
                  <a:schemeClr val="dk1"/>
                </a:solidFill>
              </a:rPr>
              <a:t>2</a:t>
            </a:r>
            <a:r>
              <a:rPr lang="zh-CN" altLang="en-US" sz="1200" dirty="0">
                <a:solidFill>
                  <a:schemeClr val="dk1"/>
                </a:solidFill>
              </a:rPr>
              <a:t>、</a:t>
            </a:r>
            <a:r>
              <a:rPr lang="en-US" altLang="zh-CN" sz="1200" dirty="0">
                <a:solidFill>
                  <a:schemeClr val="dk1"/>
                </a:solidFill>
              </a:rPr>
              <a:t>No breakage</a:t>
            </a:r>
          </a:p>
          <a:p>
            <a:r>
              <a:rPr lang="en-US" altLang="zh-CN" sz="1200" dirty="0">
                <a:solidFill>
                  <a:schemeClr val="dk1"/>
                </a:solidFill>
              </a:rPr>
              <a:t>3</a:t>
            </a:r>
            <a:r>
              <a:rPr lang="zh-CN" altLang="en-US" sz="1200" dirty="0">
                <a:solidFill>
                  <a:schemeClr val="dk1"/>
                </a:solidFill>
              </a:rPr>
              <a:t>、</a:t>
            </a:r>
            <a:r>
              <a:rPr lang="en-US" altLang="zh-CN" sz="1200" dirty="0">
                <a:solidFill>
                  <a:schemeClr val="dk1"/>
                </a:solidFill>
              </a:rPr>
              <a:t>Fastening point must not fail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C5FF6F7-860A-4F3B-A201-C63C3F6ACDFE}"/>
              </a:ext>
            </a:extLst>
          </p:cNvPr>
          <p:cNvGrpSpPr/>
          <p:nvPr/>
        </p:nvGrpSpPr>
        <p:grpSpPr>
          <a:xfrm>
            <a:off x="526426" y="3138908"/>
            <a:ext cx="1952921" cy="1661993"/>
            <a:chOff x="526426" y="3228126"/>
            <a:chExt cx="1952921" cy="166199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1B44932-CC8B-4383-9ED3-D73921B2FD1B}"/>
                </a:ext>
              </a:extLst>
            </p:cNvPr>
            <p:cNvGrpSpPr/>
            <p:nvPr/>
          </p:nvGrpSpPr>
          <p:grpSpPr>
            <a:xfrm>
              <a:off x="526426" y="3228126"/>
              <a:ext cx="1952921" cy="1661993"/>
              <a:chOff x="633525" y="2540175"/>
              <a:chExt cx="1952921" cy="1661993"/>
            </a:xfrm>
          </p:grpSpPr>
          <p:sp>
            <p:nvSpPr>
              <p:cNvPr id="24" name="文本框 85">
                <a:extLst>
                  <a:ext uri="{FF2B5EF4-FFF2-40B4-BE49-F238E27FC236}">
                    <a16:creationId xmlns:a16="http://schemas.microsoft.com/office/drawing/2014/main" id="{2A8E0C65-A33A-4CD1-8761-0A58768F8BC3}"/>
                  </a:ext>
                </a:extLst>
              </p:cNvPr>
              <p:cNvSpPr txBox="1"/>
              <p:nvPr/>
            </p:nvSpPr>
            <p:spPr>
              <a:xfrm>
                <a:off x="633525" y="2540175"/>
                <a:ext cx="1952921" cy="166199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1200" dirty="0">
                    <a:solidFill>
                      <a:schemeClr val="dk1"/>
                    </a:solidFill>
                    <a:ea typeface="宋体" panose="02010600030101010101" pitchFamily="2" charset="-122"/>
                  </a:rPr>
                  <a:t>Y</a:t>
                </a:r>
                <a:r>
                  <a:rPr lang="en-US" altLang="zh-CN" sz="1200" b="0" i="0" u="none" strike="noStrike" kern="1200" baseline="0" dirty="0">
                    <a:solidFill>
                      <a:schemeClr val="dk1"/>
                    </a:solidFill>
                    <a:ea typeface="宋体" panose="02010600030101010101" pitchFamily="2" charset="-122"/>
                  </a:rPr>
                  <a:t>-direction</a:t>
                </a:r>
              </a:p>
              <a:p>
                <a:r>
                  <a:rPr lang="en-US" altLang="zh-CN" sz="1200" b="1" i="0" u="none" strike="noStrike" kern="1200" baseline="0" dirty="0">
                    <a:solidFill>
                      <a:schemeClr val="dk1"/>
                    </a:solidFill>
                    <a:ea typeface="+mn-ea"/>
                    <a:cs typeface="+mn-cs"/>
                  </a:rPr>
                  <a:t>Force:</a:t>
                </a:r>
                <a:r>
                  <a:rPr lang="en-US" altLang="zh-CN" sz="1200" b="0" i="0" u="none" strike="noStrike" kern="1200" baseline="0" dirty="0">
                    <a:solidFill>
                      <a:schemeClr val="dk1"/>
                    </a:solidFill>
                    <a:ea typeface="+mn-ea"/>
                    <a:cs typeface="+mn-cs"/>
                  </a:rPr>
                  <a:t>75N</a:t>
                </a:r>
                <a:r>
                  <a:rPr lang="en-US" altLang="zh-CN" sz="1200" dirty="0">
                    <a:solidFill>
                      <a:schemeClr val="dk1"/>
                    </a:solidFill>
                  </a:rPr>
                  <a:t> (P20~27)</a:t>
                </a:r>
                <a:endParaRPr lang="en-US" altLang="zh-CN" sz="1200" b="0" i="0" u="none" strike="noStrike" kern="1200" baseline="0" dirty="0">
                  <a:solidFill>
                    <a:schemeClr val="dk1"/>
                  </a:solidFill>
                  <a:ea typeface="+mn-ea"/>
                  <a:cs typeface="+mn-cs"/>
                </a:endParaRPr>
              </a:p>
              <a:p>
                <a:r>
                  <a:rPr lang="en-US" altLang="zh-CN" sz="1200" b="0" i="0" u="none" strike="noStrike" kern="1200" baseline="0" dirty="0">
                    <a:solidFill>
                      <a:schemeClr val="dk1"/>
                    </a:solidFill>
                    <a:ea typeface="+mn-ea"/>
                    <a:cs typeface="+mn-cs"/>
                  </a:rPr>
                  <a:t>(2nd row center console)</a:t>
                </a:r>
              </a:p>
              <a:p>
                <a:pPr defTabSz="914377">
                  <a:defRPr/>
                </a:pPr>
                <a:r>
                  <a:rPr lang="en-US" altLang="zh-CN" sz="1200" dirty="0">
                    <a:solidFill>
                      <a:schemeClr val="dk1"/>
                    </a:solidFill>
                  </a:rPr>
                  <a:t>displacement&lt;3mm</a:t>
                </a:r>
                <a:br>
                  <a:rPr lang="en-US" altLang="zh-CN" sz="1200" dirty="0">
                    <a:solidFill>
                      <a:schemeClr val="dk1"/>
                    </a:solidFill>
                  </a:rPr>
                </a:br>
                <a:r>
                  <a:rPr lang="en-US" altLang="zh-CN" sz="1200" dirty="0">
                    <a:solidFill>
                      <a:schemeClr val="dk1"/>
                    </a:solidFill>
                  </a:rPr>
                  <a:t>Ø80mm</a:t>
                </a:r>
              </a:p>
              <a:p>
                <a:r>
                  <a:rPr lang="en-US" altLang="zh-CN" sz="1200" dirty="0">
                    <a:solidFill>
                      <a:schemeClr val="dk1"/>
                    </a:solidFill>
                    <a:ea typeface="宋体" panose="02010600030101010101" pitchFamily="2" charset="-122"/>
                  </a:rPr>
                  <a:t>X-direction</a:t>
                </a:r>
              </a:p>
              <a:p>
                <a:r>
                  <a:rPr lang="en-US" altLang="zh-CN" sz="1200" b="1" dirty="0">
                    <a:solidFill>
                      <a:schemeClr val="dk1"/>
                    </a:solidFill>
                  </a:rPr>
                  <a:t>Force:</a:t>
                </a:r>
                <a:r>
                  <a:rPr lang="en-US" altLang="zh-CN" sz="1200" dirty="0">
                    <a:solidFill>
                      <a:schemeClr val="dk1"/>
                    </a:solidFill>
                  </a:rPr>
                  <a:t>150N(</a:t>
                </a:r>
                <a:r>
                  <a:rPr lang="en-US" altLang="zh-CN" sz="1200" dirty="0"/>
                  <a:t>P28~33</a:t>
                </a:r>
                <a:r>
                  <a:rPr lang="en-US" altLang="zh-CN" sz="1200" dirty="0">
                    <a:solidFill>
                      <a:schemeClr val="dk1"/>
                    </a:solidFill>
                  </a:rPr>
                  <a:t>)</a:t>
                </a:r>
              </a:p>
              <a:p>
                <a:r>
                  <a:rPr lang="en-US" altLang="zh-CN" sz="1200" dirty="0">
                    <a:solidFill>
                      <a:schemeClr val="dk1"/>
                    </a:solidFill>
                  </a:rPr>
                  <a:t>displacement&lt;3mm</a:t>
                </a:r>
              </a:p>
              <a:p>
                <a:r>
                  <a:rPr lang="en-US" altLang="zh-CN" sz="1200" dirty="0">
                    <a:solidFill>
                      <a:schemeClr val="dk1"/>
                    </a:solidFill>
                  </a:rPr>
                  <a:t>Ø40mm</a:t>
                </a:r>
                <a:endParaRPr lang="zh-CN" altLang="en-US" sz="1200" dirty="0">
                  <a:ea typeface="+mn-ea"/>
                </a:endParaRPr>
              </a:p>
            </p:txBody>
          </p:sp>
          <p:sp>
            <p:nvSpPr>
              <p:cNvPr id="27" name="椭圆 37">
                <a:extLst>
                  <a:ext uri="{FF2B5EF4-FFF2-40B4-BE49-F238E27FC236}">
                    <a16:creationId xmlns:a16="http://schemas.microsoft.com/office/drawing/2014/main" id="{EC26C3AD-F450-492D-8579-CD3F5F13CC43}"/>
                  </a:ext>
                </a:extLst>
              </p:cNvPr>
              <p:cNvSpPr/>
              <p:nvPr/>
            </p:nvSpPr>
            <p:spPr>
              <a:xfrm>
                <a:off x="2141762" y="2693438"/>
                <a:ext cx="201168" cy="203205"/>
              </a:xfrm>
              <a:prstGeom prst="ellipse">
                <a:avLst/>
              </a:prstGeom>
              <a:solidFill>
                <a:srgbClr val="CF998C">
                  <a:alpha val="50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zh-CN" altLang="en-US" sz="2000" b="1" dirty="0">
                  <a:solidFill>
                    <a:srgbClr val="A21E4D"/>
                  </a:solidFill>
                </a:endParaRPr>
              </a:p>
            </p:txBody>
          </p:sp>
        </p:grpSp>
        <p:sp>
          <p:nvSpPr>
            <p:cNvPr id="29" name="椭圆 20">
              <a:extLst>
                <a:ext uri="{FF2B5EF4-FFF2-40B4-BE49-F238E27FC236}">
                  <a16:creationId xmlns:a16="http://schemas.microsoft.com/office/drawing/2014/main" id="{A6FC628A-A96A-4D09-B0A8-CF7789515FE3}"/>
                </a:ext>
              </a:extLst>
            </p:cNvPr>
            <p:cNvSpPr/>
            <p:nvPr/>
          </p:nvSpPr>
          <p:spPr>
            <a:xfrm>
              <a:off x="2034663" y="4288842"/>
              <a:ext cx="201168" cy="201168"/>
            </a:xfrm>
            <a:prstGeom prst="ellipse">
              <a:avLst/>
            </a:prstGeom>
            <a:solidFill>
              <a:srgbClr val="66FFFF">
                <a:alpha val="49804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zh-CN" altLang="en-US" sz="1800" b="1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64129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23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9249B2F-9173-48D3-A5BC-90A6758C671B}" type="slidenum">
              <a:rPr lang="en-GB" noProof="0" smtClean="0"/>
              <a:pPr/>
              <a:t>6</a:t>
            </a:fld>
            <a:endParaRPr lang="en-GB" noProof="0" dirty="0"/>
          </a:p>
        </p:txBody>
      </p:sp>
      <p:sp>
        <p:nvSpPr>
          <p:cNvPr id="43" name="Content Placeholder 42"/>
          <p:cNvSpPr>
            <a:spLocks noGrp="1"/>
          </p:cNvSpPr>
          <p:nvPr>
            <p:ph idx="45"/>
          </p:nvPr>
        </p:nvSpPr>
        <p:spPr/>
        <p:txBody>
          <a:bodyPr/>
          <a:lstStyle/>
          <a:p>
            <a:r>
              <a:rPr lang="en-US" altLang="zh-CN" dirty="0"/>
              <a:t>All cases in this page can meet the target in final.</a:t>
            </a:r>
          </a:p>
        </p:txBody>
      </p:sp>
      <p:sp>
        <p:nvSpPr>
          <p:cNvPr id="46" name="Text Placeholder 45"/>
          <p:cNvSpPr>
            <a:spLocks noGrp="1"/>
          </p:cNvSpPr>
          <p:nvPr>
            <p:ph type="body" sz="quarter" idx="48"/>
          </p:nvPr>
        </p:nvSpPr>
        <p:spPr>
          <a:xfrm>
            <a:off x="407988" y="1052513"/>
            <a:ext cx="11379164" cy="360099"/>
          </a:xfrm>
        </p:spPr>
        <p:txBody>
          <a:bodyPr/>
          <a:lstStyle/>
          <a:p>
            <a:r>
              <a:rPr lang="en-US" altLang="zh-CN" dirty="0"/>
              <a:t>Static center console compression result overview</a:t>
            </a:r>
          </a:p>
        </p:txBody>
      </p:sp>
      <p:sp>
        <p:nvSpPr>
          <p:cNvPr id="42" name="Title 41"/>
          <p:cNvSpPr>
            <a:spLocks noGrp="1"/>
          </p:cNvSpPr>
          <p:nvPr>
            <p:ph type="title"/>
          </p:nvPr>
        </p:nvSpPr>
        <p:spPr/>
        <p:txBody>
          <a:bodyPr vert="horz" rIns="91440">
            <a:normAutofit fontScale="90000"/>
          </a:bodyPr>
          <a:lstStyle/>
          <a:p>
            <a:r>
              <a:rPr lang="en-US" altLang="zh-CN" dirty="0"/>
              <a:t>A01_CNSL - Basic Version</a:t>
            </a:r>
            <a:endParaRPr lang="en-US" dirty="0"/>
          </a:p>
        </p:txBody>
      </p:sp>
      <p:grpSp>
        <p:nvGrpSpPr>
          <p:cNvPr id="45" name="Grupo 19">
            <a:extLst>
              <a:ext uri="{FF2B5EF4-FFF2-40B4-BE49-F238E27FC236}">
                <a16:creationId xmlns:a16="http://schemas.microsoft.com/office/drawing/2014/main" id="{65807E3A-2EBC-0091-E5BC-48C1C063DEE8}"/>
              </a:ext>
            </a:extLst>
          </p:cNvPr>
          <p:cNvGrpSpPr/>
          <p:nvPr/>
        </p:nvGrpSpPr>
        <p:grpSpPr>
          <a:xfrm>
            <a:off x="11206995" y="1020015"/>
            <a:ext cx="264755" cy="711903"/>
            <a:chOff x="8749258" y="52264"/>
            <a:chExt cx="216024" cy="594066"/>
          </a:xfrm>
        </p:grpSpPr>
        <p:sp>
          <p:nvSpPr>
            <p:cNvPr id="47" name="CustomShape 9">
              <a:extLst>
                <a:ext uri="{FF2B5EF4-FFF2-40B4-BE49-F238E27FC236}">
                  <a16:creationId xmlns:a16="http://schemas.microsoft.com/office/drawing/2014/main" id="{FE2BCD45-2342-4FEC-D619-5421639BCF17}"/>
                </a:ext>
              </a:extLst>
            </p:cNvPr>
            <p:cNvSpPr/>
            <p:nvPr/>
          </p:nvSpPr>
          <p:spPr>
            <a:xfrm>
              <a:off x="8775573" y="80460"/>
              <a:ext cx="160650" cy="160650"/>
            </a:xfrm>
            <a:prstGeom prst="ellipse">
              <a:avLst/>
            </a:prstGeom>
            <a:solidFill>
              <a:srgbClr val="FF00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8" name="CustomShape 9">
              <a:extLst>
                <a:ext uri="{FF2B5EF4-FFF2-40B4-BE49-F238E27FC236}">
                  <a16:creationId xmlns:a16="http://schemas.microsoft.com/office/drawing/2014/main" id="{D22B1C40-316F-19CD-AAA0-54278A771608}"/>
                </a:ext>
              </a:extLst>
            </p:cNvPr>
            <p:cNvSpPr/>
            <p:nvPr/>
          </p:nvSpPr>
          <p:spPr>
            <a:xfrm>
              <a:off x="8771413" y="257107"/>
              <a:ext cx="160650" cy="160650"/>
            </a:xfrm>
            <a:prstGeom prst="ellipse">
              <a:avLst/>
            </a:prstGeom>
            <a:solidFill>
              <a:srgbClr val="FFFF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9" name="CustomShape 9">
              <a:extLst>
                <a:ext uri="{FF2B5EF4-FFF2-40B4-BE49-F238E27FC236}">
                  <a16:creationId xmlns:a16="http://schemas.microsoft.com/office/drawing/2014/main" id="{73D9DABE-6F76-F8D7-47E1-4DBC98B03329}"/>
                </a:ext>
              </a:extLst>
            </p:cNvPr>
            <p:cNvSpPr/>
            <p:nvPr/>
          </p:nvSpPr>
          <p:spPr>
            <a:xfrm>
              <a:off x="8773488" y="446224"/>
              <a:ext cx="160650" cy="160650"/>
            </a:xfrm>
            <a:prstGeom prst="ellipse">
              <a:avLst/>
            </a:prstGeom>
            <a:solidFill>
              <a:srgbClr val="339933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0" name="CustomShape 8">
              <a:extLst>
                <a:ext uri="{FF2B5EF4-FFF2-40B4-BE49-F238E27FC236}">
                  <a16:creationId xmlns:a16="http://schemas.microsoft.com/office/drawing/2014/main" id="{F59611EE-A93F-4604-F8D2-912B01C376E2}"/>
                </a:ext>
              </a:extLst>
            </p:cNvPr>
            <p:cNvSpPr/>
            <p:nvPr/>
          </p:nvSpPr>
          <p:spPr>
            <a:xfrm>
              <a:off x="8749258" y="52264"/>
              <a:ext cx="216024" cy="594066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65000"/>
              </a:schemeClr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 dirty="0"/>
            </a:p>
          </p:txBody>
        </p:sp>
        <p:grpSp>
          <p:nvGrpSpPr>
            <p:cNvPr id="51" name="Grupo 1">
              <a:extLst>
                <a:ext uri="{FF2B5EF4-FFF2-40B4-BE49-F238E27FC236}">
                  <a16:creationId xmlns:a16="http://schemas.microsoft.com/office/drawing/2014/main" id="{B66FCDD5-CE05-6EE1-4390-43818A3C0A9A}"/>
                </a:ext>
              </a:extLst>
            </p:cNvPr>
            <p:cNvGrpSpPr/>
            <p:nvPr/>
          </p:nvGrpSpPr>
          <p:grpSpPr>
            <a:xfrm>
              <a:off x="8776118" y="86090"/>
              <a:ext cx="160650" cy="526414"/>
              <a:chOff x="8776118" y="80460"/>
              <a:chExt cx="160650" cy="526414"/>
            </a:xfrm>
          </p:grpSpPr>
          <p:sp>
            <p:nvSpPr>
              <p:cNvPr id="52" name="CustomShape 9">
                <a:extLst>
                  <a:ext uri="{FF2B5EF4-FFF2-40B4-BE49-F238E27FC236}">
                    <a16:creationId xmlns:a16="http://schemas.microsoft.com/office/drawing/2014/main" id="{D0D42244-D890-E5B4-8510-7239FC43DF1F}"/>
                  </a:ext>
                </a:extLst>
              </p:cNvPr>
              <p:cNvSpPr/>
              <p:nvPr/>
            </p:nvSpPr>
            <p:spPr>
              <a:xfrm>
                <a:off x="8776118" y="80460"/>
                <a:ext cx="160650" cy="160650"/>
              </a:xfrm>
              <a:prstGeom prst="ellipse">
                <a:avLst/>
              </a:prstGeom>
              <a:solidFill>
                <a:srgbClr val="92D050"/>
              </a:solidFill>
              <a:ln w="9360">
                <a:solidFill>
                  <a:srgbClr val="92D050"/>
                </a:solidFill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53" name="CustomShape 9">
                <a:extLst>
                  <a:ext uri="{FF2B5EF4-FFF2-40B4-BE49-F238E27FC236}">
                    <a16:creationId xmlns:a16="http://schemas.microsoft.com/office/drawing/2014/main" id="{7AD920B2-E963-17E2-E767-0A9EDA41884E}"/>
                  </a:ext>
                </a:extLst>
              </p:cNvPr>
              <p:cNvSpPr/>
              <p:nvPr/>
            </p:nvSpPr>
            <p:spPr>
              <a:xfrm>
                <a:off x="8776118" y="263342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54" name="CustomShape 9">
                <a:extLst>
                  <a:ext uri="{FF2B5EF4-FFF2-40B4-BE49-F238E27FC236}">
                    <a16:creationId xmlns:a16="http://schemas.microsoft.com/office/drawing/2014/main" id="{66148CFA-B28C-7644-A1EC-2934B627E4CD}"/>
                  </a:ext>
                </a:extLst>
              </p:cNvPr>
              <p:cNvSpPr/>
              <p:nvPr/>
            </p:nvSpPr>
            <p:spPr>
              <a:xfrm>
                <a:off x="8776118" y="446224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</p:grp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C0E3E61C-6927-4CB9-C39E-107915FF9581}"/>
              </a:ext>
            </a:extLst>
          </p:cNvPr>
          <p:cNvSpPr/>
          <p:nvPr/>
        </p:nvSpPr>
        <p:spPr>
          <a:xfrm>
            <a:off x="9107492" y="5075389"/>
            <a:ext cx="741183" cy="4277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algn="ctr"/>
            <a:endParaRPr lang="zh-CN" altLang="en-US" sz="1400" dirty="0" err="1"/>
          </a:p>
        </p:txBody>
      </p:sp>
      <p:graphicFrame>
        <p:nvGraphicFramePr>
          <p:cNvPr id="22" name="表格占位符 10">
            <a:extLst>
              <a:ext uri="{FF2B5EF4-FFF2-40B4-BE49-F238E27FC236}">
                <a16:creationId xmlns:a16="http://schemas.microsoft.com/office/drawing/2014/main" id="{05AE0B61-F18E-4D76-A52B-B769E388AC4C}"/>
              </a:ext>
            </a:extLst>
          </p:cNvPr>
          <p:cNvGraphicFramePr>
            <a:graphicFrameLocks noGrp="1"/>
          </p:cNvGraphicFramePr>
          <p:nvPr>
            <p:ph type="tbl" sz="quarter" idx="47"/>
          </p:nvPr>
        </p:nvGraphicFramePr>
        <p:xfrm>
          <a:off x="8658966" y="1906292"/>
          <a:ext cx="3064002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7512">
                  <a:extLst>
                    <a:ext uri="{9D8B030D-6E8A-4147-A177-3AD203B41FA5}">
                      <a16:colId xmlns:a16="http://schemas.microsoft.com/office/drawing/2014/main" val="76915138"/>
                    </a:ext>
                  </a:extLst>
                </a:gridCol>
                <a:gridCol w="871855">
                  <a:extLst>
                    <a:ext uri="{9D8B030D-6E8A-4147-A177-3AD203B41FA5}">
                      <a16:colId xmlns:a16="http://schemas.microsoft.com/office/drawing/2014/main" val="447518341"/>
                    </a:ext>
                  </a:extLst>
                </a:gridCol>
                <a:gridCol w="884555">
                  <a:extLst>
                    <a:ext uri="{9D8B030D-6E8A-4147-A177-3AD203B41FA5}">
                      <a16:colId xmlns:a16="http://schemas.microsoft.com/office/drawing/2014/main" val="26937765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54809398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Point Number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bg1"/>
                          </a:solidFill>
                        </a:rPr>
                        <a:t>CAE Result</a:t>
                      </a:r>
                      <a:endParaRPr lang="zh-CN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bg1"/>
                          </a:solidFill>
                        </a:rPr>
                        <a:t>Less</a:t>
                      </a:r>
                      <a:r>
                        <a:rPr lang="en-US" altLang="zh-CN" sz="1000" baseline="0" dirty="0">
                          <a:solidFill>
                            <a:schemeClr val="bg1"/>
                          </a:solidFill>
                        </a:rPr>
                        <a:t> than </a:t>
                      </a:r>
                      <a:r>
                        <a:rPr lang="en-US" altLang="zh-CN" sz="1000" dirty="0">
                          <a:solidFill>
                            <a:schemeClr val="bg1"/>
                          </a:solidFill>
                        </a:rPr>
                        <a:t> </a:t>
                      </a:r>
                    </a:p>
                    <a:p>
                      <a:pPr algn="ctr"/>
                      <a:r>
                        <a:rPr lang="en-US" altLang="zh-CN" sz="1000" dirty="0">
                          <a:solidFill>
                            <a:schemeClr val="bg1"/>
                          </a:solidFill>
                        </a:rPr>
                        <a:t>yield stress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zh-CN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852418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ASP34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</a:rPr>
                        <a:t>4.45mm</a:t>
                      </a:r>
                      <a:endParaRPr lang="zh-CN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zh-CN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OK</a:t>
                      </a:r>
                      <a:endParaRPr lang="zh-CN" altLang="en-US" sz="10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672134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ASP35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</a:rPr>
                        <a:t>4.90mm</a:t>
                      </a:r>
                      <a:endParaRPr lang="zh-CN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zh-CN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/>
                        <a:t>OK</a:t>
                      </a:r>
                      <a:endParaRPr lang="zh-CN" altLang="en-US" sz="10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713469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ASP36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</a:rPr>
                        <a:t>4.87mm</a:t>
                      </a:r>
                      <a:endParaRPr lang="zh-CN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zh-CN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OK</a:t>
                      </a:r>
                      <a:endParaRPr lang="zh-CN" altLang="en-US" sz="10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52254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ASP37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</a:rPr>
                        <a:t>3.95mm</a:t>
                      </a:r>
                      <a:endParaRPr lang="zh-CN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zh-CN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/>
                        <a:t>OK</a:t>
                      </a:r>
                      <a:endParaRPr lang="zh-CN" altLang="en-US" sz="10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85886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ASP38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</a:rPr>
                        <a:t>1.93mm</a:t>
                      </a:r>
                      <a:endParaRPr lang="zh-CN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zh-CN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OK</a:t>
                      </a:r>
                      <a:endParaRPr lang="zh-CN" altLang="en-US" sz="10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931076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ASP39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</a:rPr>
                        <a:t>1.94mm</a:t>
                      </a:r>
                      <a:endParaRPr lang="zh-CN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zh-CN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/>
                        <a:t>OK</a:t>
                      </a:r>
                      <a:endParaRPr lang="zh-CN" altLang="en-US" sz="10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15723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ASP40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</a:rPr>
                        <a:t>3.72mm</a:t>
                      </a:r>
                      <a:endParaRPr lang="zh-CN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zh-CN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OK</a:t>
                      </a:r>
                      <a:endParaRPr lang="zh-CN" altLang="en-US" sz="10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243018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ASP41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</a:rPr>
                        <a:t>3.71mm</a:t>
                      </a:r>
                      <a:endParaRPr lang="zh-CN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zh-CN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/>
                        <a:t>OK</a:t>
                      </a:r>
                      <a:endParaRPr lang="zh-CN" altLang="en-US" sz="10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2373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ASP42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</a:rPr>
                        <a:t>3.36mm</a:t>
                      </a:r>
                      <a:endParaRPr lang="zh-CN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e Group TEXT"/>
                          <a:ea typeface="+mn-ea"/>
                          <a:cs typeface="+mn-cs"/>
                        </a:rPr>
                        <a:t>YES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he Group TEX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OK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94891"/>
                  </a:ext>
                </a:extLst>
              </a:tr>
            </a:tbl>
          </a:graphicData>
        </a:graphic>
      </p:graphicFrame>
      <p:graphicFrame>
        <p:nvGraphicFramePr>
          <p:cNvPr id="21" name="内容占位符 3">
            <a:extLst>
              <a:ext uri="{FF2B5EF4-FFF2-40B4-BE49-F238E27FC236}">
                <a16:creationId xmlns:a16="http://schemas.microsoft.com/office/drawing/2014/main" id="{6CBD37B4-B83B-444A-9C4B-0CEAC8E2C1FE}"/>
              </a:ext>
            </a:extLst>
          </p:cNvPr>
          <p:cNvGraphicFramePr>
            <a:graphicFrameLocks/>
          </p:cNvGraphicFramePr>
          <p:nvPr/>
        </p:nvGraphicFramePr>
        <p:xfrm>
          <a:off x="5523671" y="1922895"/>
          <a:ext cx="2935677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743">
                  <a:extLst>
                    <a:ext uri="{9D8B030D-6E8A-4147-A177-3AD203B41FA5}">
                      <a16:colId xmlns:a16="http://schemas.microsoft.com/office/drawing/2014/main" val="213001367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139885948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3051455794"/>
                    </a:ext>
                  </a:extLst>
                </a:gridCol>
                <a:gridCol w="774454">
                  <a:extLst>
                    <a:ext uri="{9D8B030D-6E8A-4147-A177-3AD203B41FA5}">
                      <a16:colId xmlns:a16="http://schemas.microsoft.com/office/drawing/2014/main" val="244192708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 dirty="0"/>
                        <a:t>Point</a:t>
                      </a:r>
                      <a:endParaRPr lang="zh-CN" altLang="en-US" sz="11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 dirty="0"/>
                        <a:t>X/mm</a:t>
                      </a:r>
                      <a:endParaRPr lang="zh-CN" altLang="en-US" sz="11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 dirty="0"/>
                        <a:t>Y/mm</a:t>
                      </a:r>
                      <a:endParaRPr lang="zh-CN" altLang="en-US" sz="11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 dirty="0"/>
                        <a:t>Z/mm</a:t>
                      </a:r>
                      <a:endParaRPr lang="zh-CN" altLang="en-US" sz="11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564108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ASP34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3260.106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0.000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1433.087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5805429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ASP35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3085.980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62.300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1443.459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8859592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ASP36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3085.980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-62.300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1443.459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5245617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ASP37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3149.991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0.000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1445.166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4375214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ASP38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2790.179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39.025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1366.178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999849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ASP39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2790.179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-39.026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1366.178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700084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ASP40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2610.661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45.696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1472.142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053299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ASP41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2610.661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-45.696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1472.142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7338304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ASP42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2709.509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0.000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1480.828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70383114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F1B44932-CC8B-4383-9ED3-D73921B2FD1B}"/>
              </a:ext>
            </a:extLst>
          </p:cNvPr>
          <p:cNvGrpSpPr/>
          <p:nvPr/>
        </p:nvGrpSpPr>
        <p:grpSpPr>
          <a:xfrm>
            <a:off x="526426" y="3470714"/>
            <a:ext cx="1952921" cy="1292662"/>
            <a:chOff x="633525" y="2540175"/>
            <a:chExt cx="1952921" cy="1292662"/>
          </a:xfrm>
        </p:grpSpPr>
        <p:sp>
          <p:nvSpPr>
            <p:cNvPr id="24" name="文本框 85">
              <a:extLst>
                <a:ext uri="{FF2B5EF4-FFF2-40B4-BE49-F238E27FC236}">
                  <a16:creationId xmlns:a16="http://schemas.microsoft.com/office/drawing/2014/main" id="{2A8E0C65-A33A-4CD1-8761-0A58768F8BC3}"/>
                </a:ext>
              </a:extLst>
            </p:cNvPr>
            <p:cNvSpPr txBox="1"/>
            <p:nvPr/>
          </p:nvSpPr>
          <p:spPr>
            <a:xfrm>
              <a:off x="633525" y="2540175"/>
              <a:ext cx="1952921" cy="129266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200" dirty="0">
                  <a:solidFill>
                    <a:schemeClr val="dk1"/>
                  </a:solidFill>
                  <a:ea typeface="宋体" panose="02010600030101010101" pitchFamily="2" charset="-122"/>
                </a:rPr>
                <a:t>Z-direction</a:t>
              </a:r>
            </a:p>
            <a:p>
              <a:r>
                <a:rPr lang="en-US" altLang="zh-CN" sz="1200" b="1" dirty="0">
                  <a:solidFill>
                    <a:schemeClr val="dk1"/>
                  </a:solidFill>
                </a:rPr>
                <a:t>Force:</a:t>
              </a:r>
              <a:r>
                <a:rPr lang="en-US" altLang="zh-CN" sz="1200" dirty="0">
                  <a:solidFill>
                    <a:schemeClr val="dk1"/>
                  </a:solidFill>
                </a:rPr>
                <a:t>300N(</a:t>
              </a:r>
              <a:r>
                <a:rPr lang="en-US" altLang="zh-CN" sz="1200" dirty="0"/>
                <a:t>P34~45</a:t>
              </a:r>
              <a:r>
                <a:rPr lang="en-US" altLang="zh-CN" sz="1200" dirty="0">
                  <a:solidFill>
                    <a:schemeClr val="dk1"/>
                  </a:solidFill>
                </a:rPr>
                <a:t>)</a:t>
              </a:r>
            </a:p>
            <a:p>
              <a:r>
                <a:rPr lang="en-US" altLang="zh-CN" sz="1200" dirty="0">
                  <a:solidFill>
                    <a:schemeClr val="dk1"/>
                  </a:solidFill>
                </a:rPr>
                <a:t>displacement&lt;5mm</a:t>
              </a:r>
            </a:p>
            <a:p>
              <a:r>
                <a:rPr lang="en-US" altLang="zh-CN" sz="1200" dirty="0">
                  <a:solidFill>
                    <a:schemeClr val="dk1"/>
                  </a:solidFill>
                </a:rPr>
                <a:t>Ø40mm</a:t>
              </a:r>
              <a:br>
                <a:rPr lang="en-US" altLang="zh-CN" sz="1200" dirty="0">
                  <a:solidFill>
                    <a:schemeClr val="dk1"/>
                  </a:solidFill>
                </a:rPr>
              </a:br>
              <a:r>
                <a:rPr lang="en-US" altLang="zh-CN" sz="1200" b="1" dirty="0">
                  <a:solidFill>
                    <a:schemeClr val="dk1"/>
                  </a:solidFill>
                </a:rPr>
                <a:t>Force:</a:t>
              </a:r>
              <a:r>
                <a:rPr lang="en-US" altLang="zh-CN" sz="1200" dirty="0">
                  <a:solidFill>
                    <a:schemeClr val="dk1"/>
                  </a:solidFill>
                </a:rPr>
                <a:t>300N(</a:t>
              </a:r>
              <a:r>
                <a:rPr lang="en-US" altLang="zh-CN" sz="1200" dirty="0"/>
                <a:t>P46</a:t>
              </a:r>
              <a:r>
                <a:rPr lang="en-US" altLang="zh-CN" sz="1200" dirty="0">
                  <a:solidFill>
                    <a:schemeClr val="dk1"/>
                  </a:solidFill>
                </a:rPr>
                <a:t>)</a:t>
              </a:r>
            </a:p>
            <a:p>
              <a:r>
                <a:rPr lang="en-US" altLang="zh-CN" sz="1200" dirty="0">
                  <a:solidFill>
                    <a:schemeClr val="dk1"/>
                  </a:solidFill>
                </a:rPr>
                <a:t>displacement&lt;5mm</a:t>
              </a:r>
            </a:p>
            <a:p>
              <a:r>
                <a:rPr lang="en-US" altLang="zh-CN" sz="1200" dirty="0">
                  <a:solidFill>
                    <a:schemeClr val="dk1"/>
                  </a:solidFill>
                </a:rPr>
                <a:t>Ø80mm </a:t>
              </a:r>
            </a:p>
          </p:txBody>
        </p:sp>
        <p:sp>
          <p:nvSpPr>
            <p:cNvPr id="26" name="椭圆 36">
              <a:extLst>
                <a:ext uri="{FF2B5EF4-FFF2-40B4-BE49-F238E27FC236}">
                  <a16:creationId xmlns:a16="http://schemas.microsoft.com/office/drawing/2014/main" id="{FDFEA400-1AE1-445B-97FD-56C60320E697}"/>
                </a:ext>
              </a:extLst>
            </p:cNvPr>
            <p:cNvSpPr/>
            <p:nvPr/>
          </p:nvSpPr>
          <p:spPr>
            <a:xfrm>
              <a:off x="2180018" y="2689839"/>
              <a:ext cx="223547" cy="218823"/>
            </a:xfrm>
            <a:prstGeom prst="ellipse">
              <a:avLst/>
            </a:prstGeom>
            <a:solidFill>
              <a:srgbClr val="FEE69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27" name="椭圆 37">
              <a:extLst>
                <a:ext uri="{FF2B5EF4-FFF2-40B4-BE49-F238E27FC236}">
                  <a16:creationId xmlns:a16="http://schemas.microsoft.com/office/drawing/2014/main" id="{EC26C3AD-F450-492D-8579-CD3F5F13CC43}"/>
                </a:ext>
              </a:extLst>
            </p:cNvPr>
            <p:cNvSpPr/>
            <p:nvPr/>
          </p:nvSpPr>
          <p:spPr>
            <a:xfrm>
              <a:off x="2180018" y="3259966"/>
              <a:ext cx="214839" cy="203205"/>
            </a:xfrm>
            <a:prstGeom prst="ellipse">
              <a:avLst/>
            </a:prstGeom>
            <a:solidFill>
              <a:srgbClr val="FEE69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zh-CN" altLang="en-US" sz="2000" b="1" dirty="0">
                <a:solidFill>
                  <a:srgbClr val="A21E4D"/>
                </a:solidFill>
              </a:endParaRPr>
            </a:p>
          </p:txBody>
        </p:sp>
      </p:grpSp>
      <p:sp>
        <p:nvSpPr>
          <p:cNvPr id="25" name="矩形 6">
            <a:extLst>
              <a:ext uri="{FF2B5EF4-FFF2-40B4-BE49-F238E27FC236}">
                <a16:creationId xmlns:a16="http://schemas.microsoft.com/office/drawing/2014/main" id="{1E8FAAD6-24D8-4072-AF6E-E79D1B923CD8}"/>
              </a:ext>
            </a:extLst>
          </p:cNvPr>
          <p:cNvSpPr/>
          <p:nvPr/>
        </p:nvSpPr>
        <p:spPr>
          <a:xfrm>
            <a:off x="478801" y="4900528"/>
            <a:ext cx="310415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dk1"/>
                </a:solidFill>
              </a:rPr>
              <a:t>1</a:t>
            </a:r>
            <a:r>
              <a:rPr lang="zh-CN" altLang="en-US" sz="1200" dirty="0">
                <a:solidFill>
                  <a:schemeClr val="dk1"/>
                </a:solidFill>
              </a:rPr>
              <a:t>、</a:t>
            </a:r>
            <a:r>
              <a:rPr lang="en-US" altLang="zh-CN" sz="1200" dirty="0">
                <a:solidFill>
                  <a:schemeClr val="dk1"/>
                </a:solidFill>
              </a:rPr>
              <a:t>No plastic deformation</a:t>
            </a:r>
          </a:p>
          <a:p>
            <a:r>
              <a:rPr lang="en-US" altLang="zh-CN" sz="1200" dirty="0">
                <a:solidFill>
                  <a:schemeClr val="dk1"/>
                </a:solidFill>
              </a:rPr>
              <a:t>2</a:t>
            </a:r>
            <a:r>
              <a:rPr lang="zh-CN" altLang="en-US" sz="1200" dirty="0">
                <a:solidFill>
                  <a:schemeClr val="dk1"/>
                </a:solidFill>
              </a:rPr>
              <a:t>、</a:t>
            </a:r>
            <a:r>
              <a:rPr lang="en-US" altLang="zh-CN" sz="1200" dirty="0">
                <a:solidFill>
                  <a:schemeClr val="dk1"/>
                </a:solidFill>
              </a:rPr>
              <a:t>No breakage</a:t>
            </a:r>
          </a:p>
          <a:p>
            <a:r>
              <a:rPr lang="en-US" altLang="zh-CN" sz="1200" dirty="0">
                <a:solidFill>
                  <a:schemeClr val="dk1"/>
                </a:solidFill>
              </a:rPr>
              <a:t>3</a:t>
            </a:r>
            <a:r>
              <a:rPr lang="zh-CN" altLang="en-US" sz="1200" dirty="0">
                <a:solidFill>
                  <a:schemeClr val="dk1"/>
                </a:solidFill>
              </a:rPr>
              <a:t>、</a:t>
            </a:r>
            <a:r>
              <a:rPr lang="en-US" altLang="zh-CN" sz="1200" dirty="0">
                <a:solidFill>
                  <a:schemeClr val="dk1"/>
                </a:solidFill>
              </a:rPr>
              <a:t>Fastening point must not fail</a:t>
            </a:r>
          </a:p>
        </p:txBody>
      </p:sp>
    </p:spTree>
    <p:extLst>
      <p:ext uri="{BB962C8B-B14F-4D97-AF65-F5344CB8AC3E}">
        <p14:creationId xmlns:p14="http://schemas.microsoft.com/office/powerpoint/2010/main" val="1335302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23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9249B2F-9173-48D3-A5BC-90A6758C671B}" type="slidenum">
              <a:rPr lang="en-GB" noProof="0" smtClean="0"/>
              <a:pPr/>
              <a:t>7</a:t>
            </a:fld>
            <a:endParaRPr lang="en-GB" noProof="0" dirty="0"/>
          </a:p>
        </p:txBody>
      </p:sp>
      <p:sp>
        <p:nvSpPr>
          <p:cNvPr id="43" name="Content Placeholder 42"/>
          <p:cNvSpPr>
            <a:spLocks noGrp="1"/>
          </p:cNvSpPr>
          <p:nvPr>
            <p:ph idx="45"/>
          </p:nvPr>
        </p:nvSpPr>
        <p:spPr>
          <a:xfrm>
            <a:off x="526426" y="5716935"/>
            <a:ext cx="11132462" cy="697389"/>
          </a:xfrm>
        </p:spPr>
        <p:txBody>
          <a:bodyPr/>
          <a:lstStyle/>
          <a:p>
            <a:r>
              <a:rPr lang="en-US" altLang="zh-CN" dirty="0"/>
              <a:t>All cases in this page can meet the target in final.</a:t>
            </a:r>
          </a:p>
        </p:txBody>
      </p:sp>
      <p:sp>
        <p:nvSpPr>
          <p:cNvPr id="46" name="Text Placeholder 45"/>
          <p:cNvSpPr>
            <a:spLocks noGrp="1"/>
          </p:cNvSpPr>
          <p:nvPr>
            <p:ph type="body" sz="quarter" idx="48"/>
          </p:nvPr>
        </p:nvSpPr>
        <p:spPr>
          <a:xfrm>
            <a:off x="407988" y="1052513"/>
            <a:ext cx="11379164" cy="360099"/>
          </a:xfrm>
        </p:spPr>
        <p:txBody>
          <a:bodyPr/>
          <a:lstStyle/>
          <a:p>
            <a:r>
              <a:rPr lang="en-US" altLang="zh-CN" dirty="0"/>
              <a:t>Static center console compression result overview</a:t>
            </a:r>
          </a:p>
        </p:txBody>
      </p:sp>
      <p:sp>
        <p:nvSpPr>
          <p:cNvPr id="42" name="Title 41"/>
          <p:cNvSpPr>
            <a:spLocks noGrp="1"/>
          </p:cNvSpPr>
          <p:nvPr>
            <p:ph type="title"/>
          </p:nvPr>
        </p:nvSpPr>
        <p:spPr/>
        <p:txBody>
          <a:bodyPr vert="horz" rIns="91440">
            <a:normAutofit fontScale="90000"/>
          </a:bodyPr>
          <a:lstStyle/>
          <a:p>
            <a:r>
              <a:rPr lang="en-US" altLang="zh-CN" dirty="0"/>
              <a:t>A01_CNSL - Basic Version</a:t>
            </a:r>
            <a:endParaRPr lang="en-US" dirty="0"/>
          </a:p>
        </p:txBody>
      </p:sp>
      <p:grpSp>
        <p:nvGrpSpPr>
          <p:cNvPr id="45" name="Grupo 19">
            <a:extLst>
              <a:ext uri="{FF2B5EF4-FFF2-40B4-BE49-F238E27FC236}">
                <a16:creationId xmlns:a16="http://schemas.microsoft.com/office/drawing/2014/main" id="{65807E3A-2EBC-0091-E5BC-48C1C063DEE8}"/>
              </a:ext>
            </a:extLst>
          </p:cNvPr>
          <p:cNvGrpSpPr/>
          <p:nvPr/>
        </p:nvGrpSpPr>
        <p:grpSpPr>
          <a:xfrm>
            <a:off x="11206995" y="1020015"/>
            <a:ext cx="264755" cy="711903"/>
            <a:chOff x="8749258" y="52264"/>
            <a:chExt cx="216024" cy="594066"/>
          </a:xfrm>
        </p:grpSpPr>
        <p:sp>
          <p:nvSpPr>
            <p:cNvPr id="47" name="CustomShape 9">
              <a:extLst>
                <a:ext uri="{FF2B5EF4-FFF2-40B4-BE49-F238E27FC236}">
                  <a16:creationId xmlns:a16="http://schemas.microsoft.com/office/drawing/2014/main" id="{FE2BCD45-2342-4FEC-D619-5421639BCF17}"/>
                </a:ext>
              </a:extLst>
            </p:cNvPr>
            <p:cNvSpPr/>
            <p:nvPr/>
          </p:nvSpPr>
          <p:spPr>
            <a:xfrm>
              <a:off x="8775573" y="80460"/>
              <a:ext cx="160650" cy="160650"/>
            </a:xfrm>
            <a:prstGeom prst="ellipse">
              <a:avLst/>
            </a:prstGeom>
            <a:solidFill>
              <a:srgbClr val="FF00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8" name="CustomShape 9">
              <a:extLst>
                <a:ext uri="{FF2B5EF4-FFF2-40B4-BE49-F238E27FC236}">
                  <a16:creationId xmlns:a16="http://schemas.microsoft.com/office/drawing/2014/main" id="{D22B1C40-316F-19CD-AAA0-54278A771608}"/>
                </a:ext>
              </a:extLst>
            </p:cNvPr>
            <p:cNvSpPr/>
            <p:nvPr/>
          </p:nvSpPr>
          <p:spPr>
            <a:xfrm>
              <a:off x="8771413" y="257107"/>
              <a:ext cx="160650" cy="160650"/>
            </a:xfrm>
            <a:prstGeom prst="ellipse">
              <a:avLst/>
            </a:prstGeom>
            <a:solidFill>
              <a:srgbClr val="FFFF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9" name="CustomShape 9">
              <a:extLst>
                <a:ext uri="{FF2B5EF4-FFF2-40B4-BE49-F238E27FC236}">
                  <a16:creationId xmlns:a16="http://schemas.microsoft.com/office/drawing/2014/main" id="{73D9DABE-6F76-F8D7-47E1-4DBC98B03329}"/>
                </a:ext>
              </a:extLst>
            </p:cNvPr>
            <p:cNvSpPr/>
            <p:nvPr/>
          </p:nvSpPr>
          <p:spPr>
            <a:xfrm>
              <a:off x="8773488" y="446224"/>
              <a:ext cx="160650" cy="160650"/>
            </a:xfrm>
            <a:prstGeom prst="ellipse">
              <a:avLst/>
            </a:prstGeom>
            <a:solidFill>
              <a:srgbClr val="339933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0" name="CustomShape 8">
              <a:extLst>
                <a:ext uri="{FF2B5EF4-FFF2-40B4-BE49-F238E27FC236}">
                  <a16:creationId xmlns:a16="http://schemas.microsoft.com/office/drawing/2014/main" id="{F59611EE-A93F-4604-F8D2-912B01C376E2}"/>
                </a:ext>
              </a:extLst>
            </p:cNvPr>
            <p:cNvSpPr/>
            <p:nvPr/>
          </p:nvSpPr>
          <p:spPr>
            <a:xfrm>
              <a:off x="8749258" y="52264"/>
              <a:ext cx="216024" cy="594066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65000"/>
              </a:schemeClr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 dirty="0"/>
            </a:p>
          </p:txBody>
        </p:sp>
        <p:grpSp>
          <p:nvGrpSpPr>
            <p:cNvPr id="51" name="Grupo 1">
              <a:extLst>
                <a:ext uri="{FF2B5EF4-FFF2-40B4-BE49-F238E27FC236}">
                  <a16:creationId xmlns:a16="http://schemas.microsoft.com/office/drawing/2014/main" id="{B66FCDD5-CE05-6EE1-4390-43818A3C0A9A}"/>
                </a:ext>
              </a:extLst>
            </p:cNvPr>
            <p:cNvGrpSpPr/>
            <p:nvPr/>
          </p:nvGrpSpPr>
          <p:grpSpPr>
            <a:xfrm>
              <a:off x="8776118" y="86090"/>
              <a:ext cx="160650" cy="526414"/>
              <a:chOff x="8776118" y="80460"/>
              <a:chExt cx="160650" cy="526414"/>
            </a:xfrm>
          </p:grpSpPr>
          <p:sp>
            <p:nvSpPr>
              <p:cNvPr id="52" name="CustomShape 9">
                <a:extLst>
                  <a:ext uri="{FF2B5EF4-FFF2-40B4-BE49-F238E27FC236}">
                    <a16:creationId xmlns:a16="http://schemas.microsoft.com/office/drawing/2014/main" id="{D0D42244-D890-E5B4-8510-7239FC43DF1F}"/>
                  </a:ext>
                </a:extLst>
              </p:cNvPr>
              <p:cNvSpPr/>
              <p:nvPr/>
            </p:nvSpPr>
            <p:spPr>
              <a:xfrm>
                <a:off x="8776118" y="80460"/>
                <a:ext cx="160650" cy="160650"/>
              </a:xfrm>
              <a:prstGeom prst="ellipse">
                <a:avLst/>
              </a:prstGeom>
              <a:solidFill>
                <a:srgbClr val="92D050"/>
              </a:solidFill>
              <a:ln w="9360">
                <a:solidFill>
                  <a:srgbClr val="92D050"/>
                </a:solidFill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53" name="CustomShape 9">
                <a:extLst>
                  <a:ext uri="{FF2B5EF4-FFF2-40B4-BE49-F238E27FC236}">
                    <a16:creationId xmlns:a16="http://schemas.microsoft.com/office/drawing/2014/main" id="{7AD920B2-E963-17E2-E767-0A9EDA41884E}"/>
                  </a:ext>
                </a:extLst>
              </p:cNvPr>
              <p:cNvSpPr/>
              <p:nvPr/>
            </p:nvSpPr>
            <p:spPr>
              <a:xfrm>
                <a:off x="8776118" y="263342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54" name="CustomShape 9">
                <a:extLst>
                  <a:ext uri="{FF2B5EF4-FFF2-40B4-BE49-F238E27FC236}">
                    <a16:creationId xmlns:a16="http://schemas.microsoft.com/office/drawing/2014/main" id="{66148CFA-B28C-7644-A1EC-2934B627E4CD}"/>
                  </a:ext>
                </a:extLst>
              </p:cNvPr>
              <p:cNvSpPr/>
              <p:nvPr/>
            </p:nvSpPr>
            <p:spPr>
              <a:xfrm>
                <a:off x="8776118" y="446224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</p:grp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C0E3E61C-6927-4CB9-C39E-107915FF9581}"/>
              </a:ext>
            </a:extLst>
          </p:cNvPr>
          <p:cNvSpPr/>
          <p:nvPr/>
        </p:nvSpPr>
        <p:spPr>
          <a:xfrm>
            <a:off x="9107492" y="5075389"/>
            <a:ext cx="741183" cy="4277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algn="ctr"/>
            <a:endParaRPr lang="zh-CN" altLang="en-US" sz="1400" dirty="0" err="1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1B44932-CC8B-4383-9ED3-D73921B2FD1B}"/>
              </a:ext>
            </a:extLst>
          </p:cNvPr>
          <p:cNvGrpSpPr/>
          <p:nvPr/>
        </p:nvGrpSpPr>
        <p:grpSpPr>
          <a:xfrm>
            <a:off x="532453" y="3500988"/>
            <a:ext cx="1635982" cy="1292662"/>
            <a:chOff x="633526" y="2540175"/>
            <a:chExt cx="1635982" cy="1292662"/>
          </a:xfrm>
        </p:grpSpPr>
        <p:sp>
          <p:nvSpPr>
            <p:cNvPr id="24" name="文本框 85">
              <a:extLst>
                <a:ext uri="{FF2B5EF4-FFF2-40B4-BE49-F238E27FC236}">
                  <a16:creationId xmlns:a16="http://schemas.microsoft.com/office/drawing/2014/main" id="{2A8E0C65-A33A-4CD1-8761-0A58768F8BC3}"/>
                </a:ext>
              </a:extLst>
            </p:cNvPr>
            <p:cNvSpPr txBox="1"/>
            <p:nvPr/>
          </p:nvSpPr>
          <p:spPr>
            <a:xfrm>
              <a:off x="633526" y="2540175"/>
              <a:ext cx="1635982" cy="129266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200" dirty="0">
                  <a:solidFill>
                    <a:schemeClr val="dk1"/>
                  </a:solidFill>
                  <a:ea typeface="宋体" panose="02010600030101010101" pitchFamily="2" charset="-122"/>
                </a:rPr>
                <a:t>Z-direction</a:t>
              </a:r>
            </a:p>
            <a:p>
              <a:r>
                <a:rPr lang="en-US" altLang="zh-CN" sz="1200" b="1" dirty="0">
                  <a:solidFill>
                    <a:schemeClr val="dk1"/>
                  </a:solidFill>
                </a:rPr>
                <a:t>Force:</a:t>
              </a:r>
              <a:r>
                <a:rPr lang="en-US" altLang="zh-CN" sz="1200" dirty="0">
                  <a:solidFill>
                    <a:schemeClr val="dk1"/>
                  </a:solidFill>
                </a:rPr>
                <a:t>300N(</a:t>
              </a:r>
              <a:r>
                <a:rPr lang="en-US" altLang="zh-CN" sz="1200" dirty="0"/>
                <a:t>P34~45</a:t>
              </a:r>
              <a:r>
                <a:rPr lang="en-US" altLang="zh-CN" sz="1200" dirty="0">
                  <a:solidFill>
                    <a:schemeClr val="dk1"/>
                  </a:solidFill>
                </a:rPr>
                <a:t>)</a:t>
              </a:r>
            </a:p>
            <a:p>
              <a:r>
                <a:rPr lang="en-US" altLang="zh-CN" sz="1200" dirty="0">
                  <a:solidFill>
                    <a:schemeClr val="dk1"/>
                  </a:solidFill>
                </a:rPr>
                <a:t>displacement&lt;5mm</a:t>
              </a:r>
            </a:p>
            <a:p>
              <a:r>
                <a:rPr lang="en-US" altLang="zh-CN" sz="1200" dirty="0">
                  <a:solidFill>
                    <a:schemeClr val="dk1"/>
                  </a:solidFill>
                </a:rPr>
                <a:t>Ø40mm</a:t>
              </a:r>
              <a:br>
                <a:rPr lang="en-US" altLang="zh-CN" sz="1200" dirty="0">
                  <a:solidFill>
                    <a:schemeClr val="dk1"/>
                  </a:solidFill>
                </a:rPr>
              </a:br>
              <a:r>
                <a:rPr lang="en-US" altLang="zh-CN" sz="1200" b="1" dirty="0">
                  <a:solidFill>
                    <a:schemeClr val="dk1"/>
                  </a:solidFill>
                </a:rPr>
                <a:t>Force:</a:t>
              </a:r>
              <a:r>
                <a:rPr lang="en-US" altLang="zh-CN" sz="1200" dirty="0">
                  <a:solidFill>
                    <a:schemeClr val="dk1"/>
                  </a:solidFill>
                </a:rPr>
                <a:t>300N(</a:t>
              </a:r>
              <a:r>
                <a:rPr lang="en-US" altLang="zh-CN" sz="1200" dirty="0"/>
                <a:t>P46</a:t>
              </a:r>
              <a:r>
                <a:rPr lang="en-US" altLang="zh-CN" sz="1200" dirty="0">
                  <a:solidFill>
                    <a:schemeClr val="dk1"/>
                  </a:solidFill>
                </a:rPr>
                <a:t>)</a:t>
              </a:r>
            </a:p>
            <a:p>
              <a:r>
                <a:rPr lang="en-US" altLang="zh-CN" sz="1200" dirty="0">
                  <a:solidFill>
                    <a:schemeClr val="dk1"/>
                  </a:solidFill>
                </a:rPr>
                <a:t>displacement&lt;5mm</a:t>
              </a:r>
            </a:p>
            <a:p>
              <a:r>
                <a:rPr lang="en-US" altLang="zh-CN" sz="1200" dirty="0">
                  <a:solidFill>
                    <a:schemeClr val="dk1"/>
                  </a:solidFill>
                </a:rPr>
                <a:t>Ø80mm </a:t>
              </a:r>
            </a:p>
          </p:txBody>
        </p:sp>
        <p:sp>
          <p:nvSpPr>
            <p:cNvPr id="26" name="椭圆 36">
              <a:extLst>
                <a:ext uri="{FF2B5EF4-FFF2-40B4-BE49-F238E27FC236}">
                  <a16:creationId xmlns:a16="http://schemas.microsoft.com/office/drawing/2014/main" id="{FDFEA400-1AE1-445B-97FD-56C60320E697}"/>
                </a:ext>
              </a:extLst>
            </p:cNvPr>
            <p:cNvSpPr/>
            <p:nvPr/>
          </p:nvSpPr>
          <p:spPr>
            <a:xfrm>
              <a:off x="1954718" y="2701233"/>
              <a:ext cx="223547" cy="218823"/>
            </a:xfrm>
            <a:prstGeom prst="ellipse">
              <a:avLst/>
            </a:prstGeom>
            <a:solidFill>
              <a:srgbClr val="FEE69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27" name="椭圆 37">
              <a:extLst>
                <a:ext uri="{FF2B5EF4-FFF2-40B4-BE49-F238E27FC236}">
                  <a16:creationId xmlns:a16="http://schemas.microsoft.com/office/drawing/2014/main" id="{EC26C3AD-F450-492D-8579-CD3F5F13CC43}"/>
                </a:ext>
              </a:extLst>
            </p:cNvPr>
            <p:cNvSpPr/>
            <p:nvPr/>
          </p:nvSpPr>
          <p:spPr>
            <a:xfrm>
              <a:off x="1961150" y="3235528"/>
              <a:ext cx="214839" cy="203205"/>
            </a:xfrm>
            <a:prstGeom prst="ellipse">
              <a:avLst/>
            </a:prstGeom>
            <a:solidFill>
              <a:srgbClr val="FEE69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zh-CN" altLang="en-US" sz="2000" b="1" dirty="0">
                <a:solidFill>
                  <a:srgbClr val="A21E4D"/>
                </a:solidFill>
              </a:endParaRPr>
            </a:p>
          </p:txBody>
        </p:sp>
      </p:grpSp>
      <p:sp>
        <p:nvSpPr>
          <p:cNvPr id="25" name="矩形 6">
            <a:extLst>
              <a:ext uri="{FF2B5EF4-FFF2-40B4-BE49-F238E27FC236}">
                <a16:creationId xmlns:a16="http://schemas.microsoft.com/office/drawing/2014/main" id="{1E8FAAD6-24D8-4072-AF6E-E79D1B923CD8}"/>
              </a:ext>
            </a:extLst>
          </p:cNvPr>
          <p:cNvSpPr/>
          <p:nvPr/>
        </p:nvSpPr>
        <p:spPr>
          <a:xfrm>
            <a:off x="478801" y="4900528"/>
            <a:ext cx="314314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dk1"/>
                </a:solidFill>
              </a:rPr>
              <a:t>1</a:t>
            </a:r>
            <a:r>
              <a:rPr lang="zh-CN" altLang="en-US" sz="1200" dirty="0">
                <a:solidFill>
                  <a:schemeClr val="dk1"/>
                </a:solidFill>
              </a:rPr>
              <a:t>、</a:t>
            </a:r>
            <a:r>
              <a:rPr lang="en-US" altLang="zh-CN" sz="1200" dirty="0">
                <a:solidFill>
                  <a:schemeClr val="dk1"/>
                </a:solidFill>
              </a:rPr>
              <a:t>No plastic deformation</a:t>
            </a:r>
          </a:p>
          <a:p>
            <a:r>
              <a:rPr lang="en-US" altLang="zh-CN" sz="1200" dirty="0">
                <a:solidFill>
                  <a:schemeClr val="dk1"/>
                </a:solidFill>
              </a:rPr>
              <a:t>2</a:t>
            </a:r>
            <a:r>
              <a:rPr lang="zh-CN" altLang="en-US" sz="1200" dirty="0">
                <a:solidFill>
                  <a:schemeClr val="dk1"/>
                </a:solidFill>
              </a:rPr>
              <a:t>、</a:t>
            </a:r>
            <a:r>
              <a:rPr lang="en-US" altLang="zh-CN" sz="1200" dirty="0">
                <a:solidFill>
                  <a:schemeClr val="dk1"/>
                </a:solidFill>
              </a:rPr>
              <a:t>No breakage</a:t>
            </a:r>
          </a:p>
          <a:p>
            <a:r>
              <a:rPr lang="en-US" altLang="zh-CN" sz="1200" dirty="0">
                <a:solidFill>
                  <a:schemeClr val="dk1"/>
                </a:solidFill>
              </a:rPr>
              <a:t>3</a:t>
            </a:r>
            <a:r>
              <a:rPr lang="zh-CN" altLang="en-US" sz="1200" dirty="0">
                <a:solidFill>
                  <a:schemeClr val="dk1"/>
                </a:solidFill>
              </a:rPr>
              <a:t>、</a:t>
            </a:r>
            <a:r>
              <a:rPr lang="en-US" altLang="zh-CN" sz="1200" dirty="0">
                <a:solidFill>
                  <a:schemeClr val="dk1"/>
                </a:solidFill>
              </a:rPr>
              <a:t>Fastening point must not fail</a:t>
            </a:r>
          </a:p>
        </p:txBody>
      </p:sp>
      <p:graphicFrame>
        <p:nvGraphicFramePr>
          <p:cNvPr id="35" name="表格占位符 10">
            <a:extLst>
              <a:ext uri="{FF2B5EF4-FFF2-40B4-BE49-F238E27FC236}">
                <a16:creationId xmlns:a16="http://schemas.microsoft.com/office/drawing/2014/main" id="{B512DA62-2977-4FE1-B018-C6199AD5D8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65071676"/>
              </p:ext>
            </p:extLst>
          </p:nvPr>
        </p:nvGraphicFramePr>
        <p:xfrm>
          <a:off x="7185184" y="2125537"/>
          <a:ext cx="2598631" cy="316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7512">
                  <a:extLst>
                    <a:ext uri="{9D8B030D-6E8A-4147-A177-3AD203B41FA5}">
                      <a16:colId xmlns:a16="http://schemas.microsoft.com/office/drawing/2014/main" val="7691513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44751834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69377654"/>
                    </a:ext>
                  </a:extLst>
                </a:gridCol>
                <a:gridCol w="513799">
                  <a:extLst>
                    <a:ext uri="{9D8B030D-6E8A-4147-A177-3AD203B41FA5}">
                      <a16:colId xmlns:a16="http://schemas.microsoft.com/office/drawing/2014/main" val="548093987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Point Number</a:t>
                      </a:r>
                      <a:endParaRPr lang="zh-CN" altLang="en-US" sz="1000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V00</a:t>
                      </a:r>
                      <a:endParaRPr lang="zh-CN" altLang="en-US" sz="1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altLang="zh-CN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8524182"/>
                  </a:ext>
                </a:extLst>
              </a:tr>
              <a:tr h="293912"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bg1"/>
                          </a:solidFill>
                        </a:rPr>
                        <a:t>CAE Result</a:t>
                      </a:r>
                      <a:endParaRPr lang="zh-CN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bg1"/>
                          </a:solidFill>
                        </a:rPr>
                        <a:t>Less</a:t>
                      </a:r>
                      <a:r>
                        <a:rPr lang="en-US" altLang="zh-CN" sz="1000" baseline="0" dirty="0">
                          <a:solidFill>
                            <a:schemeClr val="bg1"/>
                          </a:solidFill>
                        </a:rPr>
                        <a:t> than </a:t>
                      </a:r>
                      <a:r>
                        <a:rPr lang="en-US" altLang="zh-CN" sz="1000" dirty="0">
                          <a:solidFill>
                            <a:schemeClr val="bg1"/>
                          </a:solidFill>
                        </a:rPr>
                        <a:t> yield stress</a:t>
                      </a:r>
                    </a:p>
                  </a:txBody>
                  <a:tcPr anchor="ctr">
                    <a:solidFill>
                      <a:srgbClr val="0027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zh-CN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48594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/>
                        <a:t>ASP43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</a:rPr>
                        <a:t>4.68mm</a:t>
                      </a:r>
                      <a:endParaRPr lang="zh-CN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e Group TEXT"/>
                          <a:ea typeface="+mn-ea"/>
                          <a:cs typeface="+mn-cs"/>
                        </a:rPr>
                        <a:t>YES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he Group TEX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e Group TEXT"/>
                          <a:ea typeface="+mn-ea"/>
                          <a:cs typeface="+mn-cs"/>
                        </a:rPr>
                        <a:t>OK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e Group TEX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672134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/>
                        <a:t>ASP44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</a:rPr>
                        <a:t>2.03mm</a:t>
                      </a:r>
                      <a:endParaRPr lang="zh-CN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zh-CN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OK</a:t>
                      </a:r>
                      <a:endParaRPr lang="zh-CN" altLang="en-US" sz="10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713469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/>
                        <a:t>ASP45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</a:rPr>
                        <a:t>2.05mm</a:t>
                      </a:r>
                      <a:endParaRPr lang="zh-CN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zh-CN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OK</a:t>
                      </a:r>
                      <a:endParaRPr lang="zh-CN" altLang="en-US" sz="10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52254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ASP46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</a:rPr>
                        <a:t>2.66mm</a:t>
                      </a:r>
                      <a:endParaRPr lang="zh-CN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zh-CN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OK</a:t>
                      </a:r>
                      <a:endParaRPr lang="zh-CN" altLang="en-US" sz="10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85886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/>
                        <a:t>ASP47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/>
                        <a:t>100N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rgbClr val="FF0000"/>
                          </a:solidFill>
                        </a:rPr>
                        <a:t>3.40mm</a:t>
                      </a:r>
                      <a:endParaRPr lang="zh-CN" altLang="en-US" sz="10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The Group TEXT"/>
                          <a:ea typeface="+mn-ea"/>
                          <a:cs typeface="+mn-cs"/>
                        </a:rPr>
                        <a:t>YES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The Group TEX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e Group TEXT"/>
                          <a:ea typeface="+mn-ea"/>
                          <a:cs typeface="+mn-cs"/>
                        </a:rPr>
                        <a:t>NOK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e Group TEX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E5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2362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/>
                        <a:t>ASP47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/>
                        <a:t>150N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2"/>
                          </a:solidFill>
                        </a:rPr>
                        <a:t>4.77mm</a:t>
                      </a:r>
                      <a:endParaRPr lang="zh-CN" alt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The Group TEXT"/>
                          <a:ea typeface="+mn-ea"/>
                          <a:cs typeface="+mn-cs"/>
                        </a:rPr>
                        <a:t>YES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The Group TEX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e Group TEXT"/>
                          <a:ea typeface="+mn-ea"/>
                          <a:cs typeface="+mn-cs"/>
                        </a:rPr>
                        <a:t>OK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e Group TEX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9310762"/>
                  </a:ext>
                </a:extLst>
              </a:tr>
            </a:tbl>
          </a:graphicData>
        </a:graphic>
      </p:graphicFrame>
      <p:graphicFrame>
        <p:nvGraphicFramePr>
          <p:cNvPr id="36" name="内容占位符 3">
            <a:extLst>
              <a:ext uri="{FF2B5EF4-FFF2-40B4-BE49-F238E27FC236}">
                <a16:creationId xmlns:a16="http://schemas.microsoft.com/office/drawing/2014/main" id="{6CE03EF9-9708-4C33-B15E-D43A513BC8A1}"/>
              </a:ext>
            </a:extLst>
          </p:cNvPr>
          <p:cNvGraphicFramePr>
            <a:graphicFrameLocks/>
          </p:cNvGraphicFramePr>
          <p:nvPr/>
        </p:nvGraphicFramePr>
        <p:xfrm>
          <a:off x="4229831" y="2690750"/>
          <a:ext cx="2877574" cy="231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13001367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139885948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3051455794"/>
                    </a:ext>
                  </a:extLst>
                </a:gridCol>
                <a:gridCol w="774454">
                  <a:extLst>
                    <a:ext uri="{9D8B030D-6E8A-4147-A177-3AD203B41FA5}">
                      <a16:colId xmlns:a16="http://schemas.microsoft.com/office/drawing/2014/main" val="244192708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Point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X/mm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Y/mm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Z/mm</a:t>
                      </a:r>
                      <a:endParaRPr lang="zh-CN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564108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VWAG TheSans"/>
                          <a:ea typeface="+mn-ea"/>
                          <a:cs typeface="+mn-cs"/>
                        </a:rPr>
                        <a:t>ASP43</a:t>
                      </a:r>
                      <a:endParaRPr kumimoji="0" lang="zh-CN" alt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VWAG TheSans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2639.044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0.000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1185.990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5805429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VWAG TheSans"/>
                          <a:ea typeface="+mn-ea"/>
                          <a:cs typeface="+mn-cs"/>
                        </a:rPr>
                        <a:t>ASP44</a:t>
                      </a:r>
                      <a:endParaRPr kumimoji="0" lang="zh-CN" alt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VWAG TheSans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2603.682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117.233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1213.335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8859592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VWAG TheSans"/>
                          <a:ea typeface="+mn-ea"/>
                          <a:cs typeface="+mn-cs"/>
                        </a:rPr>
                        <a:t>ASP45</a:t>
                      </a:r>
                      <a:endParaRPr kumimoji="0" lang="zh-CN" alt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VWAG TheSans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2603.020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-114.033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1213.336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5245617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VWAG TheSans"/>
                          <a:ea typeface="+mn-ea"/>
                          <a:cs typeface="+mn-cs"/>
                        </a:rPr>
                        <a:t>ASP46</a:t>
                      </a:r>
                      <a:endParaRPr kumimoji="0" lang="zh-CN" alt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VWAG TheSans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3357.858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0.000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1170.792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4375214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ASP47</a:t>
                      </a:r>
                      <a:endParaRPr kumimoji="0" lang="zh-CN" alt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2487.910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0.000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1505.724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99984905"/>
                  </a:ext>
                </a:extLst>
              </a:tr>
            </a:tbl>
          </a:graphicData>
        </a:graphic>
      </p:graphicFrame>
      <p:grpSp>
        <p:nvGrpSpPr>
          <p:cNvPr id="37" name="Group 36">
            <a:extLst>
              <a:ext uri="{FF2B5EF4-FFF2-40B4-BE49-F238E27FC236}">
                <a16:creationId xmlns:a16="http://schemas.microsoft.com/office/drawing/2014/main" id="{7BD459F1-5C66-4FD3-BB15-24BECE501977}"/>
              </a:ext>
            </a:extLst>
          </p:cNvPr>
          <p:cNvGrpSpPr/>
          <p:nvPr/>
        </p:nvGrpSpPr>
        <p:grpSpPr>
          <a:xfrm>
            <a:off x="2294322" y="3500988"/>
            <a:ext cx="1635982" cy="1292662"/>
            <a:chOff x="633526" y="2540175"/>
            <a:chExt cx="1635982" cy="1292662"/>
          </a:xfrm>
        </p:grpSpPr>
        <p:sp>
          <p:nvSpPr>
            <p:cNvPr id="38" name="文本框 85">
              <a:extLst>
                <a:ext uri="{FF2B5EF4-FFF2-40B4-BE49-F238E27FC236}">
                  <a16:creationId xmlns:a16="http://schemas.microsoft.com/office/drawing/2014/main" id="{F29EF627-3BD0-44BD-902C-2210F836B8E6}"/>
                </a:ext>
              </a:extLst>
            </p:cNvPr>
            <p:cNvSpPr txBox="1"/>
            <p:nvPr/>
          </p:nvSpPr>
          <p:spPr>
            <a:xfrm>
              <a:off x="633526" y="2540175"/>
              <a:ext cx="1635982" cy="129266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200" dirty="0">
                  <a:solidFill>
                    <a:schemeClr val="dk1"/>
                  </a:solidFill>
                  <a:ea typeface="宋体" panose="02010600030101010101" pitchFamily="2" charset="-122"/>
                </a:rPr>
                <a:t>Z-direction</a:t>
              </a:r>
            </a:p>
            <a:p>
              <a:r>
                <a:rPr lang="en-US" altLang="zh-CN" sz="1200" b="1" dirty="0">
                  <a:solidFill>
                    <a:schemeClr val="dk1"/>
                  </a:solidFill>
                </a:rPr>
                <a:t>Force:</a:t>
              </a:r>
              <a:r>
                <a:rPr lang="en-US" altLang="zh-CN" sz="1200" dirty="0">
                  <a:solidFill>
                    <a:schemeClr val="dk1"/>
                  </a:solidFill>
                </a:rPr>
                <a:t>100N(</a:t>
              </a:r>
              <a:r>
                <a:rPr lang="en-US" altLang="zh-CN" sz="1200" dirty="0"/>
                <a:t>P47</a:t>
              </a:r>
              <a:r>
                <a:rPr lang="en-US" altLang="zh-CN" sz="1200" dirty="0">
                  <a:solidFill>
                    <a:schemeClr val="dk1"/>
                  </a:solidFill>
                </a:rPr>
                <a:t>)</a:t>
              </a:r>
            </a:p>
            <a:p>
              <a:r>
                <a:rPr lang="en-US" altLang="zh-CN" sz="1200" dirty="0">
                  <a:solidFill>
                    <a:schemeClr val="dk1"/>
                  </a:solidFill>
                </a:rPr>
                <a:t>displacement&lt;3mm</a:t>
              </a:r>
            </a:p>
            <a:p>
              <a:r>
                <a:rPr lang="en-US" altLang="zh-CN" sz="1200" dirty="0">
                  <a:solidFill>
                    <a:schemeClr val="dk1"/>
                  </a:solidFill>
                </a:rPr>
                <a:t>Ø25mm</a:t>
              </a:r>
              <a:br>
                <a:rPr lang="en-US" altLang="zh-CN" sz="1200" dirty="0">
                  <a:solidFill>
                    <a:schemeClr val="dk1"/>
                  </a:solidFill>
                </a:rPr>
              </a:br>
              <a:r>
                <a:rPr lang="en-US" altLang="zh-CN" sz="1200" b="1" dirty="0">
                  <a:solidFill>
                    <a:schemeClr val="dk1"/>
                  </a:solidFill>
                </a:rPr>
                <a:t>Force:</a:t>
              </a:r>
              <a:r>
                <a:rPr lang="en-US" altLang="zh-CN" sz="1200" dirty="0">
                  <a:solidFill>
                    <a:schemeClr val="dk1"/>
                  </a:solidFill>
                </a:rPr>
                <a:t>150N(</a:t>
              </a:r>
              <a:r>
                <a:rPr lang="en-US" altLang="zh-CN" sz="1200" dirty="0"/>
                <a:t>P47</a:t>
              </a:r>
              <a:r>
                <a:rPr lang="en-US" altLang="zh-CN" sz="1200" dirty="0">
                  <a:solidFill>
                    <a:schemeClr val="dk1"/>
                  </a:solidFill>
                </a:rPr>
                <a:t>)</a:t>
              </a:r>
            </a:p>
            <a:p>
              <a:r>
                <a:rPr lang="en-US" altLang="zh-CN" sz="1200" dirty="0">
                  <a:solidFill>
                    <a:schemeClr val="dk1"/>
                  </a:solidFill>
                </a:rPr>
                <a:t>Less than yield stress</a:t>
              </a:r>
            </a:p>
            <a:p>
              <a:r>
                <a:rPr lang="en-US" altLang="zh-CN" sz="1200" dirty="0">
                  <a:solidFill>
                    <a:schemeClr val="dk1"/>
                  </a:solidFill>
                </a:rPr>
                <a:t>Ø25mm</a:t>
              </a:r>
            </a:p>
          </p:txBody>
        </p:sp>
        <p:sp>
          <p:nvSpPr>
            <p:cNvPr id="40" name="椭圆 36">
              <a:extLst>
                <a:ext uri="{FF2B5EF4-FFF2-40B4-BE49-F238E27FC236}">
                  <a16:creationId xmlns:a16="http://schemas.microsoft.com/office/drawing/2014/main" id="{A9AAF12C-561C-4C76-AF48-74E66A537DD3}"/>
                </a:ext>
              </a:extLst>
            </p:cNvPr>
            <p:cNvSpPr/>
            <p:nvPr/>
          </p:nvSpPr>
          <p:spPr>
            <a:xfrm>
              <a:off x="1954718" y="2701233"/>
              <a:ext cx="223547" cy="218823"/>
            </a:xfrm>
            <a:prstGeom prst="ellipse">
              <a:avLst/>
            </a:prstGeom>
            <a:solidFill>
              <a:srgbClr val="C9E8A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41" name="椭圆 37">
              <a:extLst>
                <a:ext uri="{FF2B5EF4-FFF2-40B4-BE49-F238E27FC236}">
                  <a16:creationId xmlns:a16="http://schemas.microsoft.com/office/drawing/2014/main" id="{AF156A5D-2F8F-41CE-A8A5-396BE736E5D3}"/>
                </a:ext>
              </a:extLst>
            </p:cNvPr>
            <p:cNvSpPr/>
            <p:nvPr/>
          </p:nvSpPr>
          <p:spPr>
            <a:xfrm>
              <a:off x="1961150" y="3235528"/>
              <a:ext cx="214839" cy="203205"/>
            </a:xfrm>
            <a:prstGeom prst="ellipse">
              <a:avLst/>
            </a:prstGeom>
            <a:solidFill>
              <a:srgbClr val="C9E8A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zh-CN" altLang="en-US" sz="2000" b="1" dirty="0">
                <a:solidFill>
                  <a:srgbClr val="A21E4D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48748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23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9249B2F-9173-48D3-A5BC-90A6758C671B}" type="slidenum">
              <a:rPr lang="en-GB" noProof="0" smtClean="0"/>
              <a:pPr/>
              <a:t>8</a:t>
            </a:fld>
            <a:endParaRPr lang="en-GB" noProof="0" dirty="0"/>
          </a:p>
        </p:txBody>
      </p:sp>
      <p:sp>
        <p:nvSpPr>
          <p:cNvPr id="43" name="Content Placeholder 42"/>
          <p:cNvSpPr>
            <a:spLocks noGrp="1"/>
          </p:cNvSpPr>
          <p:nvPr>
            <p:ph idx="45"/>
          </p:nvPr>
        </p:nvSpPr>
        <p:spPr/>
        <p:txBody>
          <a:bodyPr/>
          <a:lstStyle/>
          <a:p>
            <a:r>
              <a:rPr lang="en-US" altLang="zh-CN" dirty="0"/>
              <a:t>All cases in this page can meet the target in final.</a:t>
            </a:r>
          </a:p>
        </p:txBody>
      </p:sp>
      <p:sp>
        <p:nvSpPr>
          <p:cNvPr id="46" name="Text Placeholder 45"/>
          <p:cNvSpPr>
            <a:spLocks noGrp="1"/>
          </p:cNvSpPr>
          <p:nvPr>
            <p:ph type="body" sz="quarter" idx="48"/>
          </p:nvPr>
        </p:nvSpPr>
        <p:spPr>
          <a:xfrm>
            <a:off x="407988" y="1052513"/>
            <a:ext cx="11379164" cy="360099"/>
          </a:xfrm>
        </p:spPr>
        <p:txBody>
          <a:bodyPr/>
          <a:lstStyle/>
          <a:p>
            <a:r>
              <a:rPr lang="en-US" altLang="zh-CN" dirty="0"/>
              <a:t>Static center armrest compression result overview</a:t>
            </a:r>
          </a:p>
        </p:txBody>
      </p:sp>
      <p:sp>
        <p:nvSpPr>
          <p:cNvPr id="42" name="Title 41"/>
          <p:cNvSpPr>
            <a:spLocks noGrp="1"/>
          </p:cNvSpPr>
          <p:nvPr>
            <p:ph type="title"/>
          </p:nvPr>
        </p:nvSpPr>
        <p:spPr/>
        <p:txBody>
          <a:bodyPr vert="horz" rIns="91440">
            <a:normAutofit fontScale="90000"/>
          </a:bodyPr>
          <a:lstStyle/>
          <a:p>
            <a:r>
              <a:rPr lang="en-US" altLang="zh-CN" dirty="0"/>
              <a:t>A01_CNSL - Basic Version</a:t>
            </a:r>
            <a:endParaRPr lang="en-US" dirty="0"/>
          </a:p>
        </p:txBody>
      </p:sp>
      <p:grpSp>
        <p:nvGrpSpPr>
          <p:cNvPr id="24" name="Grupo 19">
            <a:extLst>
              <a:ext uri="{FF2B5EF4-FFF2-40B4-BE49-F238E27FC236}">
                <a16:creationId xmlns:a16="http://schemas.microsoft.com/office/drawing/2014/main" id="{3554D7C4-F838-4002-04AB-84BEE7891EB7}"/>
              </a:ext>
            </a:extLst>
          </p:cNvPr>
          <p:cNvGrpSpPr/>
          <p:nvPr/>
        </p:nvGrpSpPr>
        <p:grpSpPr>
          <a:xfrm>
            <a:off x="11206995" y="1020015"/>
            <a:ext cx="264755" cy="711903"/>
            <a:chOff x="8749258" y="52264"/>
            <a:chExt cx="216024" cy="594066"/>
          </a:xfrm>
        </p:grpSpPr>
        <p:sp>
          <p:nvSpPr>
            <p:cNvPr id="25" name="CustomShape 9">
              <a:extLst>
                <a:ext uri="{FF2B5EF4-FFF2-40B4-BE49-F238E27FC236}">
                  <a16:creationId xmlns:a16="http://schemas.microsoft.com/office/drawing/2014/main" id="{ED7CD8BE-2317-2F68-AC58-3CE029D68D4C}"/>
                </a:ext>
              </a:extLst>
            </p:cNvPr>
            <p:cNvSpPr/>
            <p:nvPr/>
          </p:nvSpPr>
          <p:spPr>
            <a:xfrm>
              <a:off x="8775573" y="80460"/>
              <a:ext cx="160650" cy="160650"/>
            </a:xfrm>
            <a:prstGeom prst="ellipse">
              <a:avLst/>
            </a:prstGeom>
            <a:solidFill>
              <a:srgbClr val="FF00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6" name="CustomShape 9">
              <a:extLst>
                <a:ext uri="{FF2B5EF4-FFF2-40B4-BE49-F238E27FC236}">
                  <a16:creationId xmlns:a16="http://schemas.microsoft.com/office/drawing/2014/main" id="{A4ACA3B3-5289-9AC4-3AED-155F1AD48B18}"/>
                </a:ext>
              </a:extLst>
            </p:cNvPr>
            <p:cNvSpPr/>
            <p:nvPr/>
          </p:nvSpPr>
          <p:spPr>
            <a:xfrm>
              <a:off x="8771413" y="257107"/>
              <a:ext cx="160650" cy="160650"/>
            </a:xfrm>
            <a:prstGeom prst="ellipse">
              <a:avLst/>
            </a:prstGeom>
            <a:solidFill>
              <a:srgbClr val="FFFF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7" name="CustomShape 9">
              <a:extLst>
                <a:ext uri="{FF2B5EF4-FFF2-40B4-BE49-F238E27FC236}">
                  <a16:creationId xmlns:a16="http://schemas.microsoft.com/office/drawing/2014/main" id="{1DD4F76A-8525-1506-483D-9D9494CADD97}"/>
                </a:ext>
              </a:extLst>
            </p:cNvPr>
            <p:cNvSpPr/>
            <p:nvPr/>
          </p:nvSpPr>
          <p:spPr>
            <a:xfrm>
              <a:off x="8773488" y="446224"/>
              <a:ext cx="160650" cy="160650"/>
            </a:xfrm>
            <a:prstGeom prst="ellipse">
              <a:avLst/>
            </a:prstGeom>
            <a:solidFill>
              <a:srgbClr val="339933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8" name="CustomShape 8">
              <a:extLst>
                <a:ext uri="{FF2B5EF4-FFF2-40B4-BE49-F238E27FC236}">
                  <a16:creationId xmlns:a16="http://schemas.microsoft.com/office/drawing/2014/main" id="{BA0B7BB6-15B0-BD26-7639-B597C361E19B}"/>
                </a:ext>
              </a:extLst>
            </p:cNvPr>
            <p:cNvSpPr/>
            <p:nvPr/>
          </p:nvSpPr>
          <p:spPr>
            <a:xfrm>
              <a:off x="8749258" y="52264"/>
              <a:ext cx="216024" cy="594066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65000"/>
              </a:schemeClr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 dirty="0"/>
            </a:p>
          </p:txBody>
        </p:sp>
        <p:grpSp>
          <p:nvGrpSpPr>
            <p:cNvPr id="29" name="Grupo 1">
              <a:extLst>
                <a:ext uri="{FF2B5EF4-FFF2-40B4-BE49-F238E27FC236}">
                  <a16:creationId xmlns:a16="http://schemas.microsoft.com/office/drawing/2014/main" id="{28A7CAFF-E4EC-BB08-F1B9-9682773BCF92}"/>
                </a:ext>
              </a:extLst>
            </p:cNvPr>
            <p:cNvGrpSpPr/>
            <p:nvPr/>
          </p:nvGrpSpPr>
          <p:grpSpPr>
            <a:xfrm>
              <a:off x="8776118" y="86090"/>
              <a:ext cx="160650" cy="526414"/>
              <a:chOff x="8776118" y="80460"/>
              <a:chExt cx="160650" cy="526414"/>
            </a:xfrm>
          </p:grpSpPr>
          <p:sp>
            <p:nvSpPr>
              <p:cNvPr id="30" name="CustomShape 9">
                <a:extLst>
                  <a:ext uri="{FF2B5EF4-FFF2-40B4-BE49-F238E27FC236}">
                    <a16:creationId xmlns:a16="http://schemas.microsoft.com/office/drawing/2014/main" id="{4BE3056E-40EE-73C4-797B-D1732317B862}"/>
                  </a:ext>
                </a:extLst>
              </p:cNvPr>
              <p:cNvSpPr/>
              <p:nvPr/>
            </p:nvSpPr>
            <p:spPr>
              <a:xfrm>
                <a:off x="8776118" y="80460"/>
                <a:ext cx="160650" cy="160650"/>
              </a:xfrm>
              <a:prstGeom prst="ellipse">
                <a:avLst/>
              </a:prstGeom>
              <a:solidFill>
                <a:srgbClr val="92D050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31" name="CustomShape 9">
                <a:extLst>
                  <a:ext uri="{FF2B5EF4-FFF2-40B4-BE49-F238E27FC236}">
                    <a16:creationId xmlns:a16="http://schemas.microsoft.com/office/drawing/2014/main" id="{3AD243AE-07ED-5F52-0B0C-DB3AC8E0032B}"/>
                  </a:ext>
                </a:extLst>
              </p:cNvPr>
              <p:cNvSpPr/>
              <p:nvPr/>
            </p:nvSpPr>
            <p:spPr>
              <a:xfrm>
                <a:off x="8776118" y="263342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32" name="CustomShape 9">
                <a:extLst>
                  <a:ext uri="{FF2B5EF4-FFF2-40B4-BE49-F238E27FC236}">
                    <a16:creationId xmlns:a16="http://schemas.microsoft.com/office/drawing/2014/main" id="{5251C619-6479-7928-0EAA-7B57775D9AC5}"/>
                  </a:ext>
                </a:extLst>
              </p:cNvPr>
              <p:cNvSpPr/>
              <p:nvPr/>
            </p:nvSpPr>
            <p:spPr>
              <a:xfrm>
                <a:off x="8776118" y="446224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</p:grpSp>
      </p:grpSp>
      <p:graphicFrame>
        <p:nvGraphicFramePr>
          <p:cNvPr id="21" name="表格占位符 10">
            <a:extLst>
              <a:ext uri="{FF2B5EF4-FFF2-40B4-BE49-F238E27FC236}">
                <a16:creationId xmlns:a16="http://schemas.microsoft.com/office/drawing/2014/main" id="{14BDDB21-93E9-46CB-B05C-8ACE3FFABD88}"/>
              </a:ext>
            </a:extLst>
          </p:cNvPr>
          <p:cNvGraphicFramePr>
            <a:graphicFrameLocks noGrp="1"/>
          </p:cNvGraphicFramePr>
          <p:nvPr>
            <p:ph type="tbl" sz="quarter" idx="47"/>
            <p:extLst>
              <p:ext uri="{D42A27DB-BD31-4B8C-83A1-F6EECF244321}">
                <p14:modId xmlns:p14="http://schemas.microsoft.com/office/powerpoint/2010/main" val="3310079552"/>
              </p:ext>
            </p:extLst>
          </p:nvPr>
        </p:nvGraphicFramePr>
        <p:xfrm>
          <a:off x="5323406" y="2091410"/>
          <a:ext cx="2569464" cy="3060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7691513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44751834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69377654"/>
                    </a:ext>
                  </a:extLst>
                </a:gridCol>
                <a:gridCol w="512064">
                  <a:extLst>
                    <a:ext uri="{9D8B030D-6E8A-4147-A177-3AD203B41FA5}">
                      <a16:colId xmlns:a16="http://schemas.microsoft.com/office/drawing/2014/main" val="548093987"/>
                    </a:ext>
                  </a:extLst>
                </a:gridCol>
              </a:tblGrid>
              <a:tr h="146592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Point Number</a:t>
                      </a:r>
                      <a:endParaRPr lang="zh-CN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V00</a:t>
                      </a:r>
                      <a:endParaRPr lang="zh-CN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altLang="zh-CN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8524182"/>
                  </a:ext>
                </a:extLst>
              </a:tr>
              <a:tr h="548640"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CAE Result</a:t>
                      </a:r>
                      <a:endParaRPr lang="zh-CN" altLang="en-US" sz="10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002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Less</a:t>
                      </a:r>
                      <a:r>
                        <a:rPr lang="en-US" altLang="zh-CN" sz="100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than </a:t>
                      </a: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yield stress</a:t>
                      </a:r>
                    </a:p>
                  </a:txBody>
                  <a:tcPr anchor="ctr">
                    <a:solidFill>
                      <a:srgbClr val="0027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Status</a:t>
                      </a:r>
                      <a:endParaRPr lang="zh-CN" altLang="en-US" sz="10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002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485947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ASP48</a:t>
                      </a:r>
                      <a:endParaRPr lang="zh-CN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1.53mm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YES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OK</a:t>
                      </a:r>
                      <a:endParaRPr lang="zh-CN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2360488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ASP49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3.57mm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YES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OK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672134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ASP50</a:t>
                      </a:r>
                      <a:endParaRPr lang="zh-CN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3.53mm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YES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OK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713469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ASP51</a:t>
                      </a:r>
                      <a:endParaRPr lang="zh-CN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3.13mm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YES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OK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52254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ASP52</a:t>
                      </a:r>
                      <a:endParaRPr lang="zh-CN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3.14mm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YES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OK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858869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ASP53</a:t>
                      </a:r>
                      <a:endParaRPr lang="zh-CN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6.10mm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YES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OK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3674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ASP54</a:t>
                      </a:r>
                      <a:endParaRPr lang="zh-CN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8.34mm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YES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OK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89454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ASP55</a:t>
                      </a:r>
                      <a:endParaRPr lang="zh-CN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5.10mm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NO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NOK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CBCD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657205"/>
                  </a:ext>
                </a:extLst>
              </a:tr>
            </a:tbl>
          </a:graphicData>
        </a:graphic>
      </p:graphicFrame>
      <p:sp>
        <p:nvSpPr>
          <p:cNvPr id="19" name="矩形 6">
            <a:extLst>
              <a:ext uri="{FF2B5EF4-FFF2-40B4-BE49-F238E27FC236}">
                <a16:creationId xmlns:a16="http://schemas.microsoft.com/office/drawing/2014/main" id="{BF4FE124-15B2-411B-B3BB-EEDA602791BE}"/>
              </a:ext>
            </a:extLst>
          </p:cNvPr>
          <p:cNvSpPr/>
          <p:nvPr/>
        </p:nvSpPr>
        <p:spPr>
          <a:xfrm>
            <a:off x="440362" y="4946018"/>
            <a:ext cx="220458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plastic deformation</a:t>
            </a:r>
          </a:p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breakage</a:t>
            </a:r>
          </a:p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Fastening point must not fail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2C462D7-AF55-4602-9B74-0CE1319C6CF4}"/>
              </a:ext>
            </a:extLst>
          </p:cNvPr>
          <p:cNvGrpSpPr/>
          <p:nvPr/>
        </p:nvGrpSpPr>
        <p:grpSpPr>
          <a:xfrm>
            <a:off x="478801" y="3287123"/>
            <a:ext cx="1874706" cy="1552208"/>
            <a:chOff x="572398" y="2301522"/>
            <a:chExt cx="1874706" cy="1552208"/>
          </a:xfrm>
        </p:grpSpPr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94C307F7-48DF-4649-8B3E-B518DD6E82D2}"/>
                </a:ext>
              </a:extLst>
            </p:cNvPr>
            <p:cNvSpPr txBox="1"/>
            <p:nvPr/>
          </p:nvSpPr>
          <p:spPr>
            <a:xfrm>
              <a:off x="640117" y="2561068"/>
              <a:ext cx="1806987" cy="129266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200" b="1" i="0" u="none" strike="noStrike" kern="1200" baseline="0" dirty="0">
                  <a:solidFill>
                    <a:schemeClr val="dk1"/>
                  </a:solidFill>
                  <a:latin typeface="+mn-ea"/>
                  <a:cs typeface="+mn-cs"/>
                </a:rPr>
                <a:t>150N*X-direction</a:t>
              </a:r>
            </a:p>
            <a:p>
              <a:r>
                <a:rPr lang="en-US" altLang="zh-CN" sz="1200" dirty="0">
                  <a:solidFill>
                    <a:schemeClr val="dk1"/>
                  </a:solidFill>
                  <a:latin typeface="+mn-ea"/>
                </a:rPr>
                <a:t>displacement&lt;30mm</a:t>
              </a:r>
            </a:p>
            <a:p>
              <a:r>
                <a:rPr lang="en-US" altLang="zh-CN" sz="1200" b="1" i="0" u="none" strike="noStrike" kern="1200" baseline="0" dirty="0">
                  <a:solidFill>
                    <a:schemeClr val="dk1"/>
                  </a:solidFill>
                  <a:latin typeface="+mn-ea"/>
                  <a:cs typeface="+mn-cs"/>
                </a:rPr>
                <a:t>300N*Y-direction</a:t>
              </a:r>
            </a:p>
            <a:p>
              <a:r>
                <a:rPr lang="en-US" altLang="zh-CN" sz="1200" dirty="0">
                  <a:solidFill>
                    <a:schemeClr val="dk1"/>
                  </a:solidFill>
                  <a:latin typeface="+mn-ea"/>
                </a:rPr>
                <a:t>displacement&lt;15mm </a:t>
              </a:r>
              <a:endParaRPr lang="en-US" altLang="zh-CN" sz="1200" b="0" i="0" u="none" strike="noStrike" kern="1200" baseline="0" dirty="0">
                <a:solidFill>
                  <a:schemeClr val="dk1"/>
                </a:solidFill>
                <a:latin typeface="+mn-ea"/>
                <a:cs typeface="+mn-cs"/>
              </a:endParaRPr>
            </a:p>
            <a:p>
              <a:r>
                <a:rPr lang="en-US" altLang="zh-CN" sz="1200" b="1" i="0" u="none" strike="noStrike" kern="1200" baseline="0" dirty="0">
                  <a:solidFill>
                    <a:schemeClr val="dk1"/>
                  </a:solidFill>
                  <a:latin typeface="+mn-ea"/>
                  <a:cs typeface="+mn-cs"/>
                </a:rPr>
                <a:t>800N*Z-direction</a:t>
              </a:r>
            </a:p>
            <a:p>
              <a:r>
                <a:rPr lang="en-US" altLang="zh-CN" sz="1200" dirty="0">
                  <a:solidFill>
                    <a:schemeClr val="dk1"/>
                  </a:solidFill>
                  <a:latin typeface="+mn-ea"/>
                </a:rPr>
                <a:t>displacement&lt;30mm</a:t>
              </a:r>
            </a:p>
            <a:p>
              <a:r>
                <a:rPr lang="en-US" altLang="zh-CN" sz="1200" dirty="0">
                  <a:solidFill>
                    <a:schemeClr val="dk1"/>
                  </a:solidFill>
                  <a:latin typeface="+mn-ea"/>
                </a:rPr>
                <a:t>Ø80mm</a:t>
              </a:r>
            </a:p>
          </p:txBody>
        </p:sp>
        <p:sp>
          <p:nvSpPr>
            <p:cNvPr id="33" name="矩形 42">
              <a:extLst>
                <a:ext uri="{FF2B5EF4-FFF2-40B4-BE49-F238E27FC236}">
                  <a16:creationId xmlns:a16="http://schemas.microsoft.com/office/drawing/2014/main" id="{005EBD04-E132-4150-BD55-F7236B647CCE}"/>
                </a:ext>
              </a:extLst>
            </p:cNvPr>
            <p:cNvSpPr/>
            <p:nvPr/>
          </p:nvSpPr>
          <p:spPr>
            <a:xfrm>
              <a:off x="572398" y="2301522"/>
              <a:ext cx="900013" cy="323165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pPr algn="l"/>
              <a:r>
                <a:rPr lang="en-US" altLang="zh-CN" sz="1500" b="1" dirty="0"/>
                <a:t>Close</a:t>
              </a:r>
              <a:endParaRPr lang="zh-CN" altLang="en-US" sz="1500" b="1" dirty="0" err="1"/>
            </a:p>
          </p:txBody>
        </p:sp>
        <p:sp>
          <p:nvSpPr>
            <p:cNvPr id="34" name="椭圆 60">
              <a:extLst>
                <a:ext uri="{FF2B5EF4-FFF2-40B4-BE49-F238E27FC236}">
                  <a16:creationId xmlns:a16="http://schemas.microsoft.com/office/drawing/2014/main" id="{F48AF4BA-1A5C-4669-82E8-98F94C751139}"/>
                </a:ext>
              </a:extLst>
            </p:cNvPr>
            <p:cNvSpPr/>
            <p:nvPr/>
          </p:nvSpPr>
          <p:spPr>
            <a:xfrm>
              <a:off x="2159493" y="2601077"/>
              <a:ext cx="201168" cy="201168"/>
            </a:xfrm>
            <a:prstGeom prst="ellipse">
              <a:avLst/>
            </a:prstGeom>
            <a:solidFill>
              <a:srgbClr val="00B0F0">
                <a:alpha val="49804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X</a:t>
              </a:r>
              <a:endParaRPr lang="zh-CN" altLang="en-US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35" name="椭圆 61">
              <a:extLst>
                <a:ext uri="{FF2B5EF4-FFF2-40B4-BE49-F238E27FC236}">
                  <a16:creationId xmlns:a16="http://schemas.microsoft.com/office/drawing/2014/main" id="{A9B6BE0A-1386-42D5-9C8E-CD7DEF34E1B9}"/>
                </a:ext>
              </a:extLst>
            </p:cNvPr>
            <p:cNvSpPr/>
            <p:nvPr/>
          </p:nvSpPr>
          <p:spPr>
            <a:xfrm>
              <a:off x="2153236" y="3011239"/>
              <a:ext cx="201168" cy="201168"/>
            </a:xfrm>
            <a:prstGeom prst="ellipse">
              <a:avLst/>
            </a:prstGeom>
            <a:solidFill>
              <a:srgbClr val="D8AFD2">
                <a:alpha val="49804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Y</a:t>
              </a:r>
              <a:endParaRPr lang="zh-CN" altLang="en-US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36" name="椭圆 62">
              <a:extLst>
                <a:ext uri="{FF2B5EF4-FFF2-40B4-BE49-F238E27FC236}">
                  <a16:creationId xmlns:a16="http://schemas.microsoft.com/office/drawing/2014/main" id="{C4B273F9-7705-4A87-A4D1-D2A07AA489B3}"/>
                </a:ext>
              </a:extLst>
            </p:cNvPr>
            <p:cNvSpPr/>
            <p:nvPr/>
          </p:nvSpPr>
          <p:spPr>
            <a:xfrm>
              <a:off x="2149511" y="3473206"/>
              <a:ext cx="201168" cy="201168"/>
            </a:xfrm>
            <a:prstGeom prst="ellipse">
              <a:avLst/>
            </a:prstGeom>
            <a:solidFill>
              <a:srgbClr val="FCCD22">
                <a:alpha val="49804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Z</a:t>
              </a:r>
              <a:endParaRPr lang="zh-CN" altLang="en-US" sz="1800" b="1" dirty="0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38" name="内容占位符 3">
            <a:extLst>
              <a:ext uri="{FF2B5EF4-FFF2-40B4-BE49-F238E27FC236}">
                <a16:creationId xmlns:a16="http://schemas.microsoft.com/office/drawing/2014/main" id="{888CCD18-3D59-4DF0-B63E-66A7F7850394}"/>
              </a:ext>
            </a:extLst>
          </p:cNvPr>
          <p:cNvGraphicFramePr>
            <a:graphicFrameLocks/>
          </p:cNvGraphicFramePr>
          <p:nvPr/>
        </p:nvGraphicFramePr>
        <p:xfrm>
          <a:off x="2793071" y="2086249"/>
          <a:ext cx="2526983" cy="2724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743">
                  <a:extLst>
                    <a:ext uri="{9D8B030D-6E8A-4147-A177-3AD203B41FA5}">
                      <a16:colId xmlns:a16="http://schemas.microsoft.com/office/drawing/2014/main" val="213001367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39885948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05145579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44192708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latin typeface="+mn-lt"/>
                        </a:rPr>
                        <a:t>Point</a:t>
                      </a:r>
                      <a:endParaRPr lang="zh-CN" altLang="en-US" sz="1000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latin typeface="+mn-lt"/>
                        </a:rPr>
                        <a:t>X/mm</a:t>
                      </a:r>
                      <a:endParaRPr lang="zh-CN" altLang="en-US" sz="1000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latin typeface="+mn-lt"/>
                        </a:rPr>
                        <a:t>Y/mm</a:t>
                      </a:r>
                      <a:endParaRPr lang="zh-CN" altLang="en-US" sz="1000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latin typeface="+mn-lt"/>
                        </a:rPr>
                        <a:t>Z/mm</a:t>
                      </a:r>
                      <a:endParaRPr lang="zh-CN" altLang="en-US" sz="1000" b="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5641087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ASP48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3317.248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0.000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1405.983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61349139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ASP49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3236.032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107.935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1408.464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4280661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ASP50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3236.031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-107.931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1408.463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3364662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ASP51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2919.264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117.053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1434.417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6231407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ASP52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2921.257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-116.999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1434.257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0982248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ASP53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3254.574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0.000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1433.921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7105246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ASP54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3072.751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0.000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1451.760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0764139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ASP55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2935.410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0.000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1462.649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47277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4807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23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9249B2F-9173-48D3-A5BC-90A6758C671B}" type="slidenum">
              <a:rPr lang="en-GB" noProof="0" smtClean="0"/>
              <a:pPr/>
              <a:t>9</a:t>
            </a:fld>
            <a:endParaRPr lang="en-GB" noProof="0" dirty="0"/>
          </a:p>
        </p:txBody>
      </p:sp>
      <p:sp>
        <p:nvSpPr>
          <p:cNvPr id="43" name="Content Placeholder 42"/>
          <p:cNvSpPr>
            <a:spLocks noGrp="1"/>
          </p:cNvSpPr>
          <p:nvPr>
            <p:ph idx="45"/>
          </p:nvPr>
        </p:nvSpPr>
        <p:spPr/>
        <p:txBody>
          <a:bodyPr/>
          <a:lstStyle/>
          <a:p>
            <a:r>
              <a:rPr lang="en-US" altLang="zh-CN" dirty="0"/>
              <a:t>All cases in this page can meet the target in final.</a:t>
            </a:r>
          </a:p>
        </p:txBody>
      </p:sp>
      <p:sp>
        <p:nvSpPr>
          <p:cNvPr id="46" name="Text Placeholder 45"/>
          <p:cNvSpPr>
            <a:spLocks noGrp="1"/>
          </p:cNvSpPr>
          <p:nvPr>
            <p:ph type="body" sz="quarter" idx="48"/>
          </p:nvPr>
        </p:nvSpPr>
        <p:spPr>
          <a:xfrm>
            <a:off x="407988" y="1052513"/>
            <a:ext cx="11379164" cy="360099"/>
          </a:xfrm>
        </p:spPr>
        <p:txBody>
          <a:bodyPr/>
          <a:lstStyle/>
          <a:p>
            <a:r>
              <a:rPr lang="en-US" altLang="zh-CN" dirty="0"/>
              <a:t>Static center armrest compression result overview</a:t>
            </a:r>
          </a:p>
        </p:txBody>
      </p:sp>
      <p:sp>
        <p:nvSpPr>
          <p:cNvPr id="42" name="Title 41"/>
          <p:cNvSpPr>
            <a:spLocks noGrp="1"/>
          </p:cNvSpPr>
          <p:nvPr>
            <p:ph type="title"/>
          </p:nvPr>
        </p:nvSpPr>
        <p:spPr/>
        <p:txBody>
          <a:bodyPr vert="horz" rIns="91440">
            <a:normAutofit fontScale="90000"/>
          </a:bodyPr>
          <a:lstStyle/>
          <a:p>
            <a:r>
              <a:rPr lang="en-US" altLang="zh-CN" dirty="0"/>
              <a:t>A01_CNSL - Basic Version</a:t>
            </a:r>
            <a:endParaRPr lang="en-US" dirty="0"/>
          </a:p>
        </p:txBody>
      </p:sp>
      <p:grpSp>
        <p:nvGrpSpPr>
          <p:cNvPr id="24" name="Grupo 19">
            <a:extLst>
              <a:ext uri="{FF2B5EF4-FFF2-40B4-BE49-F238E27FC236}">
                <a16:creationId xmlns:a16="http://schemas.microsoft.com/office/drawing/2014/main" id="{3554D7C4-F838-4002-04AB-84BEE7891EB7}"/>
              </a:ext>
            </a:extLst>
          </p:cNvPr>
          <p:cNvGrpSpPr/>
          <p:nvPr/>
        </p:nvGrpSpPr>
        <p:grpSpPr>
          <a:xfrm>
            <a:off x="11206995" y="1020015"/>
            <a:ext cx="264755" cy="711903"/>
            <a:chOff x="8749258" y="52264"/>
            <a:chExt cx="216024" cy="594066"/>
          </a:xfrm>
        </p:grpSpPr>
        <p:sp>
          <p:nvSpPr>
            <p:cNvPr id="25" name="CustomShape 9">
              <a:extLst>
                <a:ext uri="{FF2B5EF4-FFF2-40B4-BE49-F238E27FC236}">
                  <a16:creationId xmlns:a16="http://schemas.microsoft.com/office/drawing/2014/main" id="{ED7CD8BE-2317-2F68-AC58-3CE029D68D4C}"/>
                </a:ext>
              </a:extLst>
            </p:cNvPr>
            <p:cNvSpPr/>
            <p:nvPr/>
          </p:nvSpPr>
          <p:spPr>
            <a:xfrm>
              <a:off x="8775573" y="80460"/>
              <a:ext cx="160650" cy="160650"/>
            </a:xfrm>
            <a:prstGeom prst="ellipse">
              <a:avLst/>
            </a:prstGeom>
            <a:solidFill>
              <a:srgbClr val="FF00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6" name="CustomShape 9">
              <a:extLst>
                <a:ext uri="{FF2B5EF4-FFF2-40B4-BE49-F238E27FC236}">
                  <a16:creationId xmlns:a16="http://schemas.microsoft.com/office/drawing/2014/main" id="{A4ACA3B3-5289-9AC4-3AED-155F1AD48B18}"/>
                </a:ext>
              </a:extLst>
            </p:cNvPr>
            <p:cNvSpPr/>
            <p:nvPr/>
          </p:nvSpPr>
          <p:spPr>
            <a:xfrm>
              <a:off x="8771413" y="257107"/>
              <a:ext cx="160650" cy="160650"/>
            </a:xfrm>
            <a:prstGeom prst="ellipse">
              <a:avLst/>
            </a:prstGeom>
            <a:solidFill>
              <a:srgbClr val="FFFF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7" name="CustomShape 9">
              <a:extLst>
                <a:ext uri="{FF2B5EF4-FFF2-40B4-BE49-F238E27FC236}">
                  <a16:creationId xmlns:a16="http://schemas.microsoft.com/office/drawing/2014/main" id="{1DD4F76A-8525-1506-483D-9D9494CADD97}"/>
                </a:ext>
              </a:extLst>
            </p:cNvPr>
            <p:cNvSpPr/>
            <p:nvPr/>
          </p:nvSpPr>
          <p:spPr>
            <a:xfrm>
              <a:off x="8773488" y="446224"/>
              <a:ext cx="160650" cy="160650"/>
            </a:xfrm>
            <a:prstGeom prst="ellipse">
              <a:avLst/>
            </a:prstGeom>
            <a:solidFill>
              <a:srgbClr val="339933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8" name="CustomShape 8">
              <a:extLst>
                <a:ext uri="{FF2B5EF4-FFF2-40B4-BE49-F238E27FC236}">
                  <a16:creationId xmlns:a16="http://schemas.microsoft.com/office/drawing/2014/main" id="{BA0B7BB6-15B0-BD26-7639-B597C361E19B}"/>
                </a:ext>
              </a:extLst>
            </p:cNvPr>
            <p:cNvSpPr/>
            <p:nvPr/>
          </p:nvSpPr>
          <p:spPr>
            <a:xfrm>
              <a:off x="8749258" y="52264"/>
              <a:ext cx="216024" cy="594066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65000"/>
              </a:schemeClr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 dirty="0"/>
            </a:p>
          </p:txBody>
        </p:sp>
        <p:grpSp>
          <p:nvGrpSpPr>
            <p:cNvPr id="29" name="Grupo 1">
              <a:extLst>
                <a:ext uri="{FF2B5EF4-FFF2-40B4-BE49-F238E27FC236}">
                  <a16:creationId xmlns:a16="http://schemas.microsoft.com/office/drawing/2014/main" id="{28A7CAFF-E4EC-BB08-F1B9-9682773BCF92}"/>
                </a:ext>
              </a:extLst>
            </p:cNvPr>
            <p:cNvGrpSpPr/>
            <p:nvPr/>
          </p:nvGrpSpPr>
          <p:grpSpPr>
            <a:xfrm>
              <a:off x="8776118" y="86090"/>
              <a:ext cx="160650" cy="526414"/>
              <a:chOff x="8776118" y="80460"/>
              <a:chExt cx="160650" cy="526414"/>
            </a:xfrm>
          </p:grpSpPr>
          <p:sp>
            <p:nvSpPr>
              <p:cNvPr id="30" name="CustomShape 9">
                <a:extLst>
                  <a:ext uri="{FF2B5EF4-FFF2-40B4-BE49-F238E27FC236}">
                    <a16:creationId xmlns:a16="http://schemas.microsoft.com/office/drawing/2014/main" id="{4BE3056E-40EE-73C4-797B-D1732317B862}"/>
                  </a:ext>
                </a:extLst>
              </p:cNvPr>
              <p:cNvSpPr/>
              <p:nvPr/>
            </p:nvSpPr>
            <p:spPr>
              <a:xfrm>
                <a:off x="8776118" y="80460"/>
                <a:ext cx="160650" cy="160650"/>
              </a:xfrm>
              <a:prstGeom prst="ellipse">
                <a:avLst/>
              </a:prstGeom>
              <a:solidFill>
                <a:srgbClr val="92D050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31" name="CustomShape 9">
                <a:extLst>
                  <a:ext uri="{FF2B5EF4-FFF2-40B4-BE49-F238E27FC236}">
                    <a16:creationId xmlns:a16="http://schemas.microsoft.com/office/drawing/2014/main" id="{3AD243AE-07ED-5F52-0B0C-DB3AC8E0032B}"/>
                  </a:ext>
                </a:extLst>
              </p:cNvPr>
              <p:cNvSpPr/>
              <p:nvPr/>
            </p:nvSpPr>
            <p:spPr>
              <a:xfrm>
                <a:off x="8776118" y="263342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32" name="CustomShape 9">
                <a:extLst>
                  <a:ext uri="{FF2B5EF4-FFF2-40B4-BE49-F238E27FC236}">
                    <a16:creationId xmlns:a16="http://schemas.microsoft.com/office/drawing/2014/main" id="{5251C619-6479-7928-0EAA-7B57775D9AC5}"/>
                  </a:ext>
                </a:extLst>
              </p:cNvPr>
              <p:cNvSpPr/>
              <p:nvPr/>
            </p:nvSpPr>
            <p:spPr>
              <a:xfrm>
                <a:off x="8776118" y="446224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</p:grpSp>
      </p:grpSp>
      <p:graphicFrame>
        <p:nvGraphicFramePr>
          <p:cNvPr id="21" name="表格占位符 10">
            <a:extLst>
              <a:ext uri="{FF2B5EF4-FFF2-40B4-BE49-F238E27FC236}">
                <a16:creationId xmlns:a16="http://schemas.microsoft.com/office/drawing/2014/main" id="{14BDDB21-93E9-46CB-B05C-8ACE3FFABD88}"/>
              </a:ext>
            </a:extLst>
          </p:cNvPr>
          <p:cNvGraphicFramePr>
            <a:graphicFrameLocks noGrp="1"/>
          </p:cNvGraphicFramePr>
          <p:nvPr>
            <p:ph type="tbl" sz="quarter" idx="47"/>
            <p:extLst>
              <p:ext uri="{D42A27DB-BD31-4B8C-83A1-F6EECF244321}">
                <p14:modId xmlns:p14="http://schemas.microsoft.com/office/powerpoint/2010/main" val="853425762"/>
              </p:ext>
            </p:extLst>
          </p:nvPr>
        </p:nvGraphicFramePr>
        <p:xfrm>
          <a:off x="5186246" y="2271646"/>
          <a:ext cx="2615184" cy="3285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76915138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4751834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69377654"/>
                    </a:ext>
                  </a:extLst>
                </a:gridCol>
                <a:gridCol w="512064">
                  <a:extLst>
                    <a:ext uri="{9D8B030D-6E8A-4147-A177-3AD203B41FA5}">
                      <a16:colId xmlns:a16="http://schemas.microsoft.com/office/drawing/2014/main" val="548093987"/>
                    </a:ext>
                  </a:extLst>
                </a:gridCol>
              </a:tblGrid>
              <a:tr h="146592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Point Number</a:t>
                      </a:r>
                      <a:endParaRPr lang="zh-CN" altLang="en-US" sz="1000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V00</a:t>
                      </a:r>
                      <a:endParaRPr lang="zh-CN" altLang="en-US" sz="1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altLang="zh-CN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8524182"/>
                  </a:ext>
                </a:extLst>
              </a:tr>
              <a:tr h="548640"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bg1"/>
                          </a:solidFill>
                        </a:rPr>
                        <a:t>CAE Result</a:t>
                      </a:r>
                      <a:endParaRPr lang="zh-CN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bg1"/>
                          </a:solidFill>
                        </a:rPr>
                        <a:t>Less</a:t>
                      </a:r>
                      <a:r>
                        <a:rPr lang="en-US" altLang="zh-CN" sz="1000" baseline="0" dirty="0">
                          <a:solidFill>
                            <a:schemeClr val="bg1"/>
                          </a:solidFill>
                        </a:rPr>
                        <a:t> than </a:t>
                      </a:r>
                      <a:r>
                        <a:rPr lang="en-US" altLang="zh-CN" sz="1000" dirty="0">
                          <a:solidFill>
                            <a:schemeClr val="bg1"/>
                          </a:solidFill>
                        </a:rPr>
                        <a:t> yield stress</a:t>
                      </a:r>
                    </a:p>
                  </a:txBody>
                  <a:tcPr anchor="ctr">
                    <a:solidFill>
                      <a:srgbClr val="0027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zh-CN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485947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ASP56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</a:rPr>
                        <a:t>1.78mm</a:t>
                      </a:r>
                      <a:endParaRPr lang="zh-CN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e Group TEXT"/>
                          <a:ea typeface="+mn-ea"/>
                          <a:cs typeface="+mn-cs"/>
                        </a:rPr>
                        <a:t>YES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he Group TEX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/>
                        <a:t>OK</a:t>
                      </a:r>
                      <a:endParaRPr lang="zh-CN" altLang="en-US" sz="10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2360488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ASP57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</a:rPr>
                        <a:t>1.77mm</a:t>
                      </a:r>
                      <a:endParaRPr lang="zh-CN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e Group TEXT"/>
                          <a:ea typeface="+mn-ea"/>
                          <a:cs typeface="+mn-cs"/>
                        </a:rPr>
                        <a:t>YES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he Group TEX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/>
                        <a:t>OK</a:t>
                      </a:r>
                      <a:endParaRPr lang="zh-CN" altLang="en-US" sz="10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672134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ASP58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</a:rPr>
                        <a:t>1.90mm</a:t>
                      </a:r>
                      <a:endParaRPr lang="zh-CN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e Group TEXT"/>
                          <a:ea typeface="+mn-ea"/>
                          <a:cs typeface="+mn-cs"/>
                        </a:rPr>
                        <a:t>YES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he Group TEX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</a:rPr>
                        <a:t>OK</a:t>
                      </a:r>
                      <a:endParaRPr lang="zh-CN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713469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ASP59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2"/>
                          </a:solidFill>
                        </a:rPr>
                        <a:t>26.64mm</a:t>
                      </a:r>
                      <a:endParaRPr lang="zh-CN" alt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rgbClr val="FF0000"/>
                          </a:solidFill>
                        </a:rPr>
                        <a:t>NO</a:t>
                      </a:r>
                      <a:endParaRPr lang="zh-CN" altLang="en-US" sz="10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>
                          <a:solidFill>
                            <a:schemeClr val="tx1"/>
                          </a:solidFill>
                        </a:rPr>
                        <a:t>NOK</a:t>
                      </a:r>
                      <a:endParaRPr lang="zh-CN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CBCD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52254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ASP60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</a:rPr>
                        <a:t>2.07mm</a:t>
                      </a:r>
                      <a:endParaRPr lang="zh-CN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e Group TEXT"/>
                          <a:ea typeface="+mn-ea"/>
                          <a:cs typeface="+mn-cs"/>
                        </a:rPr>
                        <a:t>YES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he Group TEX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/>
                        <a:t>OK</a:t>
                      </a:r>
                      <a:endParaRPr lang="zh-CN" altLang="en-US" sz="10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858869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ASP61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</a:rPr>
                        <a:t>1.72mm</a:t>
                      </a:r>
                      <a:endParaRPr lang="zh-CN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e Group TEXT"/>
                          <a:ea typeface="+mn-ea"/>
                          <a:cs typeface="+mn-cs"/>
                        </a:rPr>
                        <a:t>YES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he Group TEX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/>
                        <a:t>OK</a:t>
                      </a:r>
                      <a:endParaRPr lang="zh-CN" altLang="en-US" sz="10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3674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ASP62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</a:rPr>
                        <a:t>1.41mm</a:t>
                      </a:r>
                      <a:endParaRPr lang="zh-CN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YES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</a:rPr>
                        <a:t>OK</a:t>
                      </a:r>
                      <a:endParaRPr lang="zh-CN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89454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ASP63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rgbClr val="FF0000"/>
                          </a:solidFill>
                        </a:rPr>
                        <a:t>32.24mm</a:t>
                      </a:r>
                      <a:endParaRPr lang="zh-CN" altLang="en-US" sz="10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NO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>
                          <a:solidFill>
                            <a:schemeClr val="tx1"/>
                          </a:solidFill>
                        </a:rPr>
                        <a:t>NOK</a:t>
                      </a:r>
                      <a:endParaRPr lang="zh-CN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CBCD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657205"/>
                  </a:ext>
                </a:extLst>
              </a:tr>
            </a:tbl>
          </a:graphicData>
        </a:graphic>
      </p:graphicFrame>
      <p:sp>
        <p:nvSpPr>
          <p:cNvPr id="19" name="矩形 6">
            <a:extLst>
              <a:ext uri="{FF2B5EF4-FFF2-40B4-BE49-F238E27FC236}">
                <a16:creationId xmlns:a16="http://schemas.microsoft.com/office/drawing/2014/main" id="{BF4FE124-15B2-411B-B3BB-EEDA602791BE}"/>
              </a:ext>
            </a:extLst>
          </p:cNvPr>
          <p:cNvSpPr/>
          <p:nvPr/>
        </p:nvSpPr>
        <p:spPr>
          <a:xfrm>
            <a:off x="440362" y="4948020"/>
            <a:ext cx="220458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plastic deformation</a:t>
            </a:r>
          </a:p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breakage</a:t>
            </a:r>
          </a:p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Fastening point must not fail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2C462D7-AF55-4602-9B74-0CE1319C6CF4}"/>
              </a:ext>
            </a:extLst>
          </p:cNvPr>
          <p:cNvGrpSpPr/>
          <p:nvPr/>
        </p:nvGrpSpPr>
        <p:grpSpPr>
          <a:xfrm>
            <a:off x="478801" y="2854818"/>
            <a:ext cx="1874706" cy="2106205"/>
            <a:chOff x="572398" y="2301522"/>
            <a:chExt cx="1874706" cy="2106205"/>
          </a:xfrm>
        </p:grpSpPr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94C307F7-48DF-4649-8B3E-B518DD6E82D2}"/>
                </a:ext>
              </a:extLst>
            </p:cNvPr>
            <p:cNvSpPr txBox="1"/>
            <p:nvPr/>
          </p:nvSpPr>
          <p:spPr>
            <a:xfrm>
              <a:off x="640117" y="2561068"/>
              <a:ext cx="1806987" cy="184665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200" b="1" i="0" u="none" strike="noStrike" kern="1200" baseline="0" dirty="0">
                  <a:solidFill>
                    <a:schemeClr val="dk1"/>
                  </a:solidFill>
                  <a:latin typeface="+mn-ea"/>
                  <a:cs typeface="+mn-cs"/>
                </a:rPr>
                <a:t>150N*X-direction</a:t>
              </a:r>
            </a:p>
            <a:p>
              <a:r>
                <a:rPr lang="en-US" altLang="zh-CN" sz="1200" dirty="0">
                  <a:solidFill>
                    <a:schemeClr val="dk1"/>
                  </a:solidFill>
                  <a:latin typeface="+mn-ea"/>
                </a:rPr>
                <a:t>(extended position)</a:t>
              </a:r>
              <a:endParaRPr lang="en-US" altLang="zh-CN" sz="1200" b="1" i="0" u="none" strike="noStrike" kern="1200" baseline="0" dirty="0">
                <a:solidFill>
                  <a:schemeClr val="dk1"/>
                </a:solidFill>
                <a:latin typeface="+mn-ea"/>
                <a:cs typeface="+mn-cs"/>
              </a:endParaRPr>
            </a:p>
            <a:p>
              <a:r>
                <a:rPr lang="en-US" altLang="zh-CN" sz="1200" dirty="0">
                  <a:solidFill>
                    <a:schemeClr val="dk1"/>
                  </a:solidFill>
                  <a:latin typeface="+mn-ea"/>
                </a:rPr>
                <a:t>displacement&lt;30mm</a:t>
              </a:r>
            </a:p>
            <a:p>
              <a:r>
                <a:rPr lang="en-US" altLang="zh-CN" sz="1200" b="1" dirty="0">
                  <a:solidFill>
                    <a:schemeClr val="dk1"/>
                  </a:solidFill>
                  <a:latin typeface="+mn-ea"/>
                </a:rPr>
                <a:t>15</a:t>
              </a:r>
              <a:r>
                <a:rPr lang="en-US" altLang="zh-CN" sz="1200" b="1" i="0" u="none" strike="noStrike" kern="1200" baseline="0" dirty="0">
                  <a:solidFill>
                    <a:schemeClr val="dk1"/>
                  </a:solidFill>
                  <a:latin typeface="+mn-ea"/>
                  <a:cs typeface="+mn-cs"/>
                </a:rPr>
                <a:t>0N*Y-direction</a:t>
              </a:r>
            </a:p>
            <a:p>
              <a:r>
                <a:rPr lang="en-US" altLang="zh-CN" sz="1200" dirty="0">
                  <a:solidFill>
                    <a:schemeClr val="dk1"/>
                  </a:solidFill>
                  <a:latin typeface="+mn-ea"/>
                </a:rPr>
                <a:t>(extended position)</a:t>
              </a:r>
              <a:endParaRPr lang="en-US" altLang="zh-CN" sz="1200" b="1" i="0" u="none" strike="noStrike" kern="1200" baseline="0" dirty="0">
                <a:solidFill>
                  <a:schemeClr val="dk1"/>
                </a:solidFill>
                <a:latin typeface="+mn-ea"/>
                <a:cs typeface="+mn-cs"/>
              </a:endParaRPr>
            </a:p>
            <a:p>
              <a:r>
                <a:rPr lang="en-US" altLang="zh-CN" sz="1200">
                  <a:solidFill>
                    <a:schemeClr val="dk1"/>
                  </a:solidFill>
                  <a:latin typeface="+mn-ea"/>
                </a:rPr>
                <a:t>displacement&lt;30mm </a:t>
              </a:r>
              <a:endParaRPr lang="en-US" altLang="zh-CN" sz="1200" b="0" i="0" u="none" strike="noStrike" kern="1200" baseline="0" dirty="0">
                <a:solidFill>
                  <a:schemeClr val="dk1"/>
                </a:solidFill>
                <a:latin typeface="+mn-ea"/>
                <a:cs typeface="+mn-cs"/>
              </a:endParaRPr>
            </a:p>
            <a:p>
              <a:r>
                <a:rPr lang="en-US" altLang="zh-CN" sz="1200" b="1" dirty="0">
                  <a:solidFill>
                    <a:schemeClr val="dk1"/>
                  </a:solidFill>
                  <a:latin typeface="+mn-ea"/>
                </a:rPr>
                <a:t>15</a:t>
              </a:r>
              <a:r>
                <a:rPr lang="en-US" altLang="zh-CN" sz="1200" b="1" i="0" u="none" strike="noStrike" kern="1200" baseline="0" dirty="0">
                  <a:solidFill>
                    <a:schemeClr val="dk1"/>
                  </a:solidFill>
                  <a:latin typeface="+mn-ea"/>
                  <a:cs typeface="+mn-cs"/>
                </a:rPr>
                <a:t>0N*Z-direction</a:t>
              </a:r>
            </a:p>
            <a:p>
              <a:r>
                <a:rPr lang="en-US" altLang="zh-CN" sz="1200" dirty="0">
                  <a:solidFill>
                    <a:schemeClr val="dk1"/>
                  </a:solidFill>
                  <a:latin typeface="+mn-ea"/>
                </a:rPr>
                <a:t>(extended position)</a:t>
              </a:r>
              <a:endParaRPr lang="en-US" altLang="zh-CN" sz="1200" b="1" i="0" u="none" strike="noStrike" kern="1200" baseline="0" dirty="0">
                <a:solidFill>
                  <a:schemeClr val="dk1"/>
                </a:solidFill>
                <a:latin typeface="+mn-ea"/>
                <a:cs typeface="+mn-cs"/>
              </a:endParaRPr>
            </a:p>
            <a:p>
              <a:r>
                <a:rPr lang="en-US" altLang="zh-CN" sz="1200" dirty="0">
                  <a:solidFill>
                    <a:schemeClr val="dk1"/>
                  </a:solidFill>
                  <a:latin typeface="+mn-ea"/>
                </a:rPr>
                <a:t>displacement&lt;30mm</a:t>
              </a:r>
            </a:p>
            <a:p>
              <a:r>
                <a:rPr lang="en-US" altLang="zh-CN" sz="1200" dirty="0">
                  <a:solidFill>
                    <a:schemeClr val="dk1"/>
                  </a:solidFill>
                  <a:latin typeface="+mn-ea"/>
                </a:rPr>
                <a:t>Ø80mm</a:t>
              </a:r>
            </a:p>
          </p:txBody>
        </p:sp>
        <p:sp>
          <p:nvSpPr>
            <p:cNvPr id="33" name="矩形 42">
              <a:extLst>
                <a:ext uri="{FF2B5EF4-FFF2-40B4-BE49-F238E27FC236}">
                  <a16:creationId xmlns:a16="http://schemas.microsoft.com/office/drawing/2014/main" id="{005EBD04-E132-4150-BD55-F7236B647CCE}"/>
                </a:ext>
              </a:extLst>
            </p:cNvPr>
            <p:cNvSpPr/>
            <p:nvPr/>
          </p:nvSpPr>
          <p:spPr>
            <a:xfrm>
              <a:off x="572398" y="2301522"/>
              <a:ext cx="900013" cy="323165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pPr algn="l"/>
              <a:r>
                <a:rPr lang="en-US" altLang="zh-CN" sz="1500" b="1" dirty="0"/>
                <a:t>Open</a:t>
              </a:r>
              <a:endParaRPr lang="zh-CN" altLang="en-US" sz="1500" b="1" dirty="0" err="1"/>
            </a:p>
          </p:txBody>
        </p:sp>
        <p:sp>
          <p:nvSpPr>
            <p:cNvPr id="34" name="椭圆 60">
              <a:extLst>
                <a:ext uri="{FF2B5EF4-FFF2-40B4-BE49-F238E27FC236}">
                  <a16:creationId xmlns:a16="http://schemas.microsoft.com/office/drawing/2014/main" id="{F48AF4BA-1A5C-4669-82E8-98F94C751139}"/>
                </a:ext>
              </a:extLst>
            </p:cNvPr>
            <p:cNvSpPr/>
            <p:nvPr/>
          </p:nvSpPr>
          <p:spPr>
            <a:xfrm>
              <a:off x="2159493" y="2601077"/>
              <a:ext cx="201168" cy="201168"/>
            </a:xfrm>
            <a:prstGeom prst="ellipse">
              <a:avLst/>
            </a:prstGeom>
            <a:solidFill>
              <a:srgbClr val="00B0F0">
                <a:alpha val="49804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X</a:t>
              </a:r>
              <a:endParaRPr lang="zh-CN" altLang="en-US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35" name="椭圆 61">
              <a:extLst>
                <a:ext uri="{FF2B5EF4-FFF2-40B4-BE49-F238E27FC236}">
                  <a16:creationId xmlns:a16="http://schemas.microsoft.com/office/drawing/2014/main" id="{A9B6BE0A-1386-42D5-9C8E-CD7DEF34E1B9}"/>
                </a:ext>
              </a:extLst>
            </p:cNvPr>
            <p:cNvSpPr/>
            <p:nvPr/>
          </p:nvSpPr>
          <p:spPr>
            <a:xfrm>
              <a:off x="2153236" y="3011239"/>
              <a:ext cx="201168" cy="201168"/>
            </a:xfrm>
            <a:prstGeom prst="ellipse">
              <a:avLst/>
            </a:prstGeom>
            <a:solidFill>
              <a:srgbClr val="D8AFD2">
                <a:alpha val="49804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Y</a:t>
              </a:r>
              <a:endParaRPr lang="zh-CN" altLang="en-US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36" name="椭圆 62">
              <a:extLst>
                <a:ext uri="{FF2B5EF4-FFF2-40B4-BE49-F238E27FC236}">
                  <a16:creationId xmlns:a16="http://schemas.microsoft.com/office/drawing/2014/main" id="{C4B273F9-7705-4A87-A4D1-D2A07AA489B3}"/>
                </a:ext>
              </a:extLst>
            </p:cNvPr>
            <p:cNvSpPr/>
            <p:nvPr/>
          </p:nvSpPr>
          <p:spPr>
            <a:xfrm>
              <a:off x="2149511" y="3473206"/>
              <a:ext cx="201168" cy="201168"/>
            </a:xfrm>
            <a:prstGeom prst="ellipse">
              <a:avLst/>
            </a:prstGeom>
            <a:solidFill>
              <a:srgbClr val="FCCD22">
                <a:alpha val="49804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Z</a:t>
              </a:r>
              <a:endParaRPr lang="zh-CN" altLang="en-US" sz="1800" b="1" dirty="0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38" name="内容占位符 3">
            <a:extLst>
              <a:ext uri="{FF2B5EF4-FFF2-40B4-BE49-F238E27FC236}">
                <a16:creationId xmlns:a16="http://schemas.microsoft.com/office/drawing/2014/main" id="{888CCD18-3D59-4DF0-B63E-66A7F7850394}"/>
              </a:ext>
            </a:extLst>
          </p:cNvPr>
          <p:cNvGraphicFramePr>
            <a:graphicFrameLocks/>
          </p:cNvGraphicFramePr>
          <p:nvPr/>
        </p:nvGraphicFramePr>
        <p:xfrm>
          <a:off x="2564908" y="3004827"/>
          <a:ext cx="2560320" cy="2542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13001367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39885948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05145579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44192708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+mn-lt"/>
                        </a:rPr>
                        <a:t>Point</a:t>
                      </a:r>
                      <a:endParaRPr lang="zh-CN" altLang="en-US" sz="10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+mn-lt"/>
                        </a:rPr>
                        <a:t>X/mm</a:t>
                      </a:r>
                      <a:endParaRPr lang="zh-CN" altLang="en-US" sz="10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+mn-lt"/>
                        </a:rPr>
                        <a:t>Y/mm</a:t>
                      </a:r>
                      <a:endParaRPr lang="zh-CN" altLang="en-US" sz="10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+mn-lt"/>
                        </a:rPr>
                        <a:t>Z/mm</a:t>
                      </a:r>
                      <a:endParaRPr lang="zh-CN" altLang="en-US" sz="10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5641087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ASP56</a:t>
                      </a:r>
                      <a:endParaRPr kumimoji="0" lang="zh-CN" alt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3329.782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-65.257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1542.465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61349139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ASP57</a:t>
                      </a:r>
                      <a:endParaRPr kumimoji="0" lang="zh-CN" alt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2904.725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-88.192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1601.232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4280661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ASP58</a:t>
                      </a:r>
                      <a:endParaRPr kumimoji="0" lang="zh-CN" alt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3114.749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-74.680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1618.065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3364662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ASP59</a:t>
                      </a:r>
                      <a:endParaRPr kumimoji="0" lang="zh-CN" alt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3114.765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-56.195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1576.067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6231407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ASP60</a:t>
                      </a:r>
                      <a:endParaRPr kumimoji="0" lang="zh-CN" alt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3329.782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65.257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1542.465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0982248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ASP61</a:t>
                      </a:r>
                      <a:endParaRPr kumimoji="0" lang="zh-CN" alt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2904.725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88.192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1601.232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7105246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ASP62</a:t>
                      </a:r>
                      <a:endParaRPr kumimoji="0" lang="zh-CN" alt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3114.749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74.680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1618.066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0764139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ASP63</a:t>
                      </a:r>
                      <a:endParaRPr kumimoji="0" lang="zh-CN" alt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3114.765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56.195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1576.067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47277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2219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23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9249B2F-9173-48D3-A5BC-90A6758C671B}" type="slidenum">
              <a:rPr lang="en-GB" noProof="0" smtClean="0"/>
              <a:pPr/>
              <a:t>10</a:t>
            </a:fld>
            <a:endParaRPr lang="en-GB" noProof="0" dirty="0"/>
          </a:p>
        </p:txBody>
      </p:sp>
      <p:sp>
        <p:nvSpPr>
          <p:cNvPr id="43" name="Content Placeholder 42"/>
          <p:cNvSpPr>
            <a:spLocks noGrp="1"/>
          </p:cNvSpPr>
          <p:nvPr>
            <p:ph idx="45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en-US" altLang="zh-CN" baseline="30000" dirty="0"/>
              <a:t>st</a:t>
            </a:r>
            <a:r>
              <a:rPr lang="en-US" altLang="zh-CN" dirty="0"/>
              <a:t> global modal</a:t>
            </a:r>
            <a:r>
              <a:rPr lang="en-US" altLang="zh-CN"/>
              <a:t>= 33.2Hz </a:t>
            </a:r>
            <a:r>
              <a:rPr lang="en-US" altLang="zh-CN" dirty="0"/>
              <a:t>&gt; 28Hz,</a:t>
            </a:r>
            <a:r>
              <a:rPr lang="zh-CN" altLang="en-US" dirty="0"/>
              <a:t> </a:t>
            </a:r>
            <a:r>
              <a:rPr lang="en-US" altLang="zh-CN" dirty="0"/>
              <a:t>and it can meet the target.</a:t>
            </a:r>
            <a:endParaRPr lang="en-US" dirty="0"/>
          </a:p>
        </p:txBody>
      </p:sp>
      <p:sp>
        <p:nvSpPr>
          <p:cNvPr id="46" name="Text Placeholder 45"/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r>
              <a:rPr lang="en-US" altLang="zh-CN" dirty="0"/>
              <a:t>Results overview of NVH analysis</a:t>
            </a:r>
            <a:endParaRPr lang="en-US" dirty="0"/>
          </a:p>
        </p:txBody>
      </p:sp>
      <p:sp>
        <p:nvSpPr>
          <p:cNvPr id="42" name="Title 41"/>
          <p:cNvSpPr>
            <a:spLocks noGrp="1"/>
          </p:cNvSpPr>
          <p:nvPr>
            <p:ph type="title"/>
          </p:nvPr>
        </p:nvSpPr>
        <p:spPr/>
        <p:txBody>
          <a:bodyPr vert="horz" rIns="91440">
            <a:normAutofit fontScale="90000"/>
          </a:bodyPr>
          <a:lstStyle/>
          <a:p>
            <a:r>
              <a:rPr lang="en-US" altLang="zh-CN" dirty="0"/>
              <a:t>A01_CNSL - Basic Version</a:t>
            </a:r>
            <a:endParaRPr lang="en-US" dirty="0"/>
          </a:p>
        </p:txBody>
      </p:sp>
      <p:grpSp>
        <p:nvGrpSpPr>
          <p:cNvPr id="24" name="Grupo 19">
            <a:extLst>
              <a:ext uri="{FF2B5EF4-FFF2-40B4-BE49-F238E27FC236}">
                <a16:creationId xmlns:a16="http://schemas.microsoft.com/office/drawing/2014/main" id="{F22BFD07-732C-4790-9E64-860C8A3F0966}"/>
              </a:ext>
            </a:extLst>
          </p:cNvPr>
          <p:cNvGrpSpPr/>
          <p:nvPr/>
        </p:nvGrpSpPr>
        <p:grpSpPr>
          <a:xfrm>
            <a:off x="11206995" y="1020015"/>
            <a:ext cx="264755" cy="711903"/>
            <a:chOff x="8749258" y="52264"/>
            <a:chExt cx="216024" cy="594066"/>
          </a:xfrm>
        </p:grpSpPr>
        <p:sp>
          <p:nvSpPr>
            <p:cNvPr id="25" name="CustomShape 9">
              <a:extLst>
                <a:ext uri="{FF2B5EF4-FFF2-40B4-BE49-F238E27FC236}">
                  <a16:creationId xmlns:a16="http://schemas.microsoft.com/office/drawing/2014/main" id="{1275F3A0-8968-4C0B-A438-984CDE0BF95A}"/>
                </a:ext>
              </a:extLst>
            </p:cNvPr>
            <p:cNvSpPr/>
            <p:nvPr/>
          </p:nvSpPr>
          <p:spPr>
            <a:xfrm>
              <a:off x="8775573" y="80460"/>
              <a:ext cx="160650" cy="160650"/>
            </a:xfrm>
            <a:prstGeom prst="ellipse">
              <a:avLst/>
            </a:prstGeom>
            <a:solidFill>
              <a:srgbClr val="FF00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6" name="CustomShape 9">
              <a:extLst>
                <a:ext uri="{FF2B5EF4-FFF2-40B4-BE49-F238E27FC236}">
                  <a16:creationId xmlns:a16="http://schemas.microsoft.com/office/drawing/2014/main" id="{C5F8E015-E2FD-49B3-8BDF-44D621AA8D05}"/>
                </a:ext>
              </a:extLst>
            </p:cNvPr>
            <p:cNvSpPr/>
            <p:nvPr/>
          </p:nvSpPr>
          <p:spPr>
            <a:xfrm>
              <a:off x="8771413" y="257107"/>
              <a:ext cx="160650" cy="160650"/>
            </a:xfrm>
            <a:prstGeom prst="ellipse">
              <a:avLst/>
            </a:prstGeom>
            <a:solidFill>
              <a:srgbClr val="FFFF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7" name="CustomShape 9">
              <a:extLst>
                <a:ext uri="{FF2B5EF4-FFF2-40B4-BE49-F238E27FC236}">
                  <a16:creationId xmlns:a16="http://schemas.microsoft.com/office/drawing/2014/main" id="{B9CFFB10-C53A-432E-87CC-478A0739D942}"/>
                </a:ext>
              </a:extLst>
            </p:cNvPr>
            <p:cNvSpPr/>
            <p:nvPr/>
          </p:nvSpPr>
          <p:spPr>
            <a:xfrm>
              <a:off x="8773488" y="446224"/>
              <a:ext cx="160650" cy="160650"/>
            </a:xfrm>
            <a:prstGeom prst="ellipse">
              <a:avLst/>
            </a:prstGeom>
            <a:solidFill>
              <a:srgbClr val="339933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8" name="CustomShape 8">
              <a:extLst>
                <a:ext uri="{FF2B5EF4-FFF2-40B4-BE49-F238E27FC236}">
                  <a16:creationId xmlns:a16="http://schemas.microsoft.com/office/drawing/2014/main" id="{B0A29D94-2638-4878-BCFE-89A735CC9D39}"/>
                </a:ext>
              </a:extLst>
            </p:cNvPr>
            <p:cNvSpPr/>
            <p:nvPr/>
          </p:nvSpPr>
          <p:spPr>
            <a:xfrm>
              <a:off x="8749258" y="52264"/>
              <a:ext cx="216024" cy="594066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65000"/>
              </a:schemeClr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 dirty="0"/>
            </a:p>
          </p:txBody>
        </p:sp>
        <p:grpSp>
          <p:nvGrpSpPr>
            <p:cNvPr id="29" name="Grupo 1">
              <a:extLst>
                <a:ext uri="{FF2B5EF4-FFF2-40B4-BE49-F238E27FC236}">
                  <a16:creationId xmlns:a16="http://schemas.microsoft.com/office/drawing/2014/main" id="{4159E755-032D-450E-BAC9-B830D2C7077C}"/>
                </a:ext>
              </a:extLst>
            </p:cNvPr>
            <p:cNvGrpSpPr/>
            <p:nvPr/>
          </p:nvGrpSpPr>
          <p:grpSpPr>
            <a:xfrm>
              <a:off x="8776118" y="86090"/>
              <a:ext cx="160650" cy="526414"/>
              <a:chOff x="8776118" y="80460"/>
              <a:chExt cx="160650" cy="526414"/>
            </a:xfrm>
          </p:grpSpPr>
          <p:sp>
            <p:nvSpPr>
              <p:cNvPr id="30" name="CustomShape 9">
                <a:extLst>
                  <a:ext uri="{FF2B5EF4-FFF2-40B4-BE49-F238E27FC236}">
                    <a16:creationId xmlns:a16="http://schemas.microsoft.com/office/drawing/2014/main" id="{B3A63F11-04CC-41FB-ADB3-2CE69FE2EF80}"/>
                  </a:ext>
                </a:extLst>
              </p:cNvPr>
              <p:cNvSpPr/>
              <p:nvPr/>
            </p:nvSpPr>
            <p:spPr>
              <a:xfrm>
                <a:off x="8776118" y="80460"/>
                <a:ext cx="160650" cy="160650"/>
              </a:xfrm>
              <a:prstGeom prst="ellipse">
                <a:avLst/>
              </a:prstGeom>
              <a:solidFill>
                <a:srgbClr val="92D050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1" name="CustomShape 9">
                <a:extLst>
                  <a:ext uri="{FF2B5EF4-FFF2-40B4-BE49-F238E27FC236}">
                    <a16:creationId xmlns:a16="http://schemas.microsoft.com/office/drawing/2014/main" id="{8FAB183F-57B2-499E-B7EE-AA098CC5237D}"/>
                  </a:ext>
                </a:extLst>
              </p:cNvPr>
              <p:cNvSpPr/>
              <p:nvPr/>
            </p:nvSpPr>
            <p:spPr>
              <a:xfrm>
                <a:off x="8776118" y="263342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32" name="CustomShape 9">
                <a:extLst>
                  <a:ext uri="{FF2B5EF4-FFF2-40B4-BE49-F238E27FC236}">
                    <a16:creationId xmlns:a16="http://schemas.microsoft.com/office/drawing/2014/main" id="{FB2F5B3C-3D47-47BF-BC6D-649E45D1006E}"/>
                  </a:ext>
                </a:extLst>
              </p:cNvPr>
              <p:cNvSpPr/>
              <p:nvPr/>
            </p:nvSpPr>
            <p:spPr>
              <a:xfrm>
                <a:off x="8776118" y="446224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</p:grpSp>
      </p:grpSp>
      <p:sp>
        <p:nvSpPr>
          <p:cNvPr id="18" name="文本占位符 2">
            <a:extLst>
              <a:ext uri="{FF2B5EF4-FFF2-40B4-BE49-F238E27FC236}">
                <a16:creationId xmlns:a16="http://schemas.microsoft.com/office/drawing/2014/main" id="{461E227B-9F8E-4019-A4C2-3F1568506F60}"/>
              </a:ext>
            </a:extLst>
          </p:cNvPr>
          <p:cNvSpPr txBox="1">
            <a:spLocks/>
          </p:cNvSpPr>
          <p:nvPr/>
        </p:nvSpPr>
        <p:spPr bwMode="gray">
          <a:xfrm>
            <a:off x="562017" y="1938862"/>
            <a:ext cx="11233150" cy="360099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 algn="l" defTabSz="121914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600" b="0" kern="1200" spc="1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1219140" rtl="0" eaLnBrk="1" latinLnBrk="0" hangingPunct="1">
              <a:spcBef>
                <a:spcPts val="0"/>
              </a:spcBef>
              <a:buFont typeface="Arial" panose="020B0604020202020204" pitchFamily="34" charset="0"/>
              <a:buNone/>
              <a:defRPr sz="2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1219140" rtl="0" eaLnBrk="1" latinLnBrk="0" hangingPunct="1">
              <a:spcBef>
                <a:spcPts val="0"/>
              </a:spcBef>
              <a:buFont typeface="VW Text Office" panose="020B0503040200000003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219140" rtl="0" eaLnBrk="1" latinLnBrk="0" hangingPunct="1">
              <a:spcBef>
                <a:spcPts val="0"/>
              </a:spcBef>
              <a:buFont typeface="Symbol" panose="05050102010706020507" pitchFamily="18" charset="2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1219140" rtl="0" eaLnBrk="1" latinLnBrk="0" hangingPunct="1">
              <a:spcBef>
                <a:spcPts val="0"/>
              </a:spcBef>
              <a:buFont typeface="Symbol" panose="05050102010706020507" pitchFamily="18" charset="2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63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0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77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341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3.1 NVH analysis</a:t>
            </a:r>
          </a:p>
        </p:txBody>
      </p:sp>
      <p:graphicFrame>
        <p:nvGraphicFramePr>
          <p:cNvPr id="3" name="表格占位符 7">
            <a:extLst>
              <a:ext uri="{FF2B5EF4-FFF2-40B4-BE49-F238E27FC236}">
                <a16:creationId xmlns:a16="http://schemas.microsoft.com/office/drawing/2014/main" id="{2722A462-168B-4240-885C-94D16CDB00EF}"/>
              </a:ext>
            </a:extLst>
          </p:cNvPr>
          <p:cNvGraphicFramePr>
            <a:graphicFrameLocks/>
          </p:cNvGraphicFramePr>
          <p:nvPr/>
        </p:nvGraphicFramePr>
        <p:xfrm>
          <a:off x="1279341" y="2491894"/>
          <a:ext cx="9461501" cy="30321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1417">
                  <a:extLst>
                    <a:ext uri="{9D8B030D-6E8A-4147-A177-3AD203B41FA5}">
                      <a16:colId xmlns:a16="http://schemas.microsoft.com/office/drawing/2014/main" val="2481704842"/>
                    </a:ext>
                  </a:extLst>
                </a:gridCol>
                <a:gridCol w="1064871">
                  <a:extLst>
                    <a:ext uri="{9D8B030D-6E8A-4147-A177-3AD203B41FA5}">
                      <a16:colId xmlns:a16="http://schemas.microsoft.com/office/drawing/2014/main" val="928479458"/>
                    </a:ext>
                  </a:extLst>
                </a:gridCol>
                <a:gridCol w="2794912">
                  <a:extLst>
                    <a:ext uri="{9D8B030D-6E8A-4147-A177-3AD203B41FA5}">
                      <a16:colId xmlns:a16="http://schemas.microsoft.com/office/drawing/2014/main" val="4028686089"/>
                    </a:ext>
                  </a:extLst>
                </a:gridCol>
                <a:gridCol w="2044700">
                  <a:extLst>
                    <a:ext uri="{9D8B030D-6E8A-4147-A177-3AD203B41FA5}">
                      <a16:colId xmlns:a16="http://schemas.microsoft.com/office/drawing/2014/main" val="2887143440"/>
                    </a:ext>
                  </a:extLst>
                </a:gridCol>
                <a:gridCol w="1625601">
                  <a:extLst>
                    <a:ext uri="{9D8B030D-6E8A-4147-A177-3AD203B41FA5}">
                      <a16:colId xmlns:a16="http://schemas.microsoft.com/office/drawing/2014/main" val="2377884716"/>
                    </a:ext>
                  </a:extLst>
                </a:gridCol>
              </a:tblGrid>
              <a:tr h="837547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+mn-lt"/>
                        </a:rPr>
                        <a:t>Global Modal</a:t>
                      </a:r>
                      <a:endParaRPr lang="zh-CN" altLang="en-US" sz="1800" dirty="0">
                        <a:latin typeface="+mn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Target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+mn-lt"/>
                        </a:rPr>
                        <a:t>CAE Result</a:t>
                      </a:r>
                      <a:endParaRPr lang="zh-CN" altLang="en-US" sz="1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Status</a:t>
                      </a:r>
                      <a:endParaRPr lang="zh-CN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1302475"/>
                  </a:ext>
                </a:extLst>
              </a:tr>
              <a:tr h="54864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600" baseline="0" dirty="0"/>
                        <a:t>CNSL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1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/>
                        <a:t>1st</a:t>
                      </a:r>
                      <a:endParaRPr lang="zh-CN" altLang="en-US" sz="16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lt"/>
                        </a:rPr>
                        <a:t>Natural Frequency &gt; 28Hz</a:t>
                      </a:r>
                      <a:endParaRPr lang="zh-CN" altLang="en-US" sz="16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33.9Hz</a:t>
                      </a:r>
                      <a:endParaRPr lang="zh-CN" altLang="en-US" sz="16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12191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/>
                        <a:t>OK</a:t>
                      </a:r>
                      <a:endParaRPr lang="zh-CN" altLang="en-US" sz="16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604074"/>
                  </a:ext>
                </a:extLst>
              </a:tr>
              <a:tr h="548640">
                <a:tc vMerge="1">
                  <a:txBody>
                    <a:bodyPr/>
                    <a:lstStyle/>
                    <a:p>
                      <a:pPr algn="ctr"/>
                      <a:endParaRPr lang="en-US" altLang="zh-CN" sz="1600" baseline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1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/>
                        <a:t>2nd</a:t>
                      </a:r>
                      <a:endParaRPr lang="zh-CN" altLang="en-US" sz="16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6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46.7Hz</a:t>
                      </a:r>
                      <a:endParaRPr lang="zh-CN" altLang="en-US" sz="16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418201"/>
                  </a:ext>
                </a:extLst>
              </a:tr>
              <a:tr h="54864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600" baseline="0" dirty="0"/>
                        <a:t>IP+CNSL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1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/>
                        <a:t>1st</a:t>
                      </a:r>
                      <a:endParaRPr lang="zh-CN" altLang="en-US" sz="16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lt"/>
                        </a:rPr>
                        <a:t>Natural Frequency &gt; 28Hz</a:t>
                      </a:r>
                      <a:endParaRPr lang="zh-CN" altLang="en-US" sz="16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33.2Hz</a:t>
                      </a:r>
                      <a:endParaRPr lang="zh-CN" altLang="en-US" sz="16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12191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e Group TEXT"/>
                          <a:ea typeface="+mn-ea"/>
                          <a:cs typeface="+mn-cs"/>
                        </a:rPr>
                        <a:t>OK</a:t>
                      </a:r>
                      <a:endParaRPr kumimoji="0" lang="zh-CN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he Group TEX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2753947"/>
                  </a:ext>
                </a:extLst>
              </a:tr>
              <a:tr h="548640">
                <a:tc vMerge="1">
                  <a:txBody>
                    <a:bodyPr/>
                    <a:lstStyle/>
                    <a:p>
                      <a:pPr algn="ctr"/>
                      <a:endParaRPr lang="en-US" altLang="zh-CN" sz="1600" baseline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1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/>
                        <a:t>2nd</a:t>
                      </a:r>
                      <a:endParaRPr lang="zh-CN" altLang="en-US" sz="16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6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49.6Hz</a:t>
                      </a:r>
                      <a:endParaRPr lang="zh-CN" altLang="en-US" sz="16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12191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he Group TEX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0807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28289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23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9249B2F-9173-48D3-A5BC-90A6758C671B}" type="slidenum">
              <a:rPr lang="en-GB" noProof="0" smtClean="0"/>
              <a:pPr/>
              <a:t>11</a:t>
            </a:fld>
            <a:endParaRPr lang="en-GB" noProof="0" dirty="0"/>
          </a:p>
        </p:txBody>
      </p:sp>
      <p:sp>
        <p:nvSpPr>
          <p:cNvPr id="43" name="Content Placeholder 42"/>
          <p:cNvSpPr>
            <a:spLocks noGrp="1"/>
          </p:cNvSpPr>
          <p:nvPr>
            <p:ph idx="45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 load case of Rear Impact can meet the target.</a:t>
            </a:r>
          </a:p>
        </p:txBody>
      </p:sp>
      <p:sp>
        <p:nvSpPr>
          <p:cNvPr id="46" name="Text Placeholder 45"/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r>
              <a:rPr lang="en-US" altLang="zh-CN" dirty="0"/>
              <a:t>Results overview of Rear Impact</a:t>
            </a:r>
            <a:endParaRPr lang="en-US" dirty="0"/>
          </a:p>
        </p:txBody>
      </p:sp>
      <p:sp>
        <p:nvSpPr>
          <p:cNvPr id="42" name="Title 4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VW416/9CM B-SUV CNSL - Basic Version</a:t>
            </a:r>
            <a:endParaRPr lang="en-US" dirty="0"/>
          </a:p>
        </p:txBody>
      </p:sp>
      <p:grpSp>
        <p:nvGrpSpPr>
          <p:cNvPr id="21" name="Grupo 19">
            <a:extLst>
              <a:ext uri="{FF2B5EF4-FFF2-40B4-BE49-F238E27FC236}">
                <a16:creationId xmlns:a16="http://schemas.microsoft.com/office/drawing/2014/main" id="{6D990188-E5C0-1C1D-5AEE-85527600D39F}"/>
              </a:ext>
            </a:extLst>
          </p:cNvPr>
          <p:cNvGrpSpPr/>
          <p:nvPr/>
        </p:nvGrpSpPr>
        <p:grpSpPr>
          <a:xfrm>
            <a:off x="11206995" y="1020015"/>
            <a:ext cx="264755" cy="711903"/>
            <a:chOff x="8749258" y="52264"/>
            <a:chExt cx="216024" cy="594066"/>
          </a:xfrm>
        </p:grpSpPr>
        <p:sp>
          <p:nvSpPr>
            <p:cNvPr id="22" name="CustomShape 9">
              <a:extLst>
                <a:ext uri="{FF2B5EF4-FFF2-40B4-BE49-F238E27FC236}">
                  <a16:creationId xmlns:a16="http://schemas.microsoft.com/office/drawing/2014/main" id="{E6B6C570-1B70-D846-4371-BD97A8E8A070}"/>
                </a:ext>
              </a:extLst>
            </p:cNvPr>
            <p:cNvSpPr/>
            <p:nvPr/>
          </p:nvSpPr>
          <p:spPr>
            <a:xfrm>
              <a:off x="8775573" y="80460"/>
              <a:ext cx="160650" cy="160650"/>
            </a:xfrm>
            <a:prstGeom prst="ellipse">
              <a:avLst/>
            </a:prstGeom>
            <a:solidFill>
              <a:srgbClr val="FF00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3" name="CustomShape 9">
              <a:extLst>
                <a:ext uri="{FF2B5EF4-FFF2-40B4-BE49-F238E27FC236}">
                  <a16:creationId xmlns:a16="http://schemas.microsoft.com/office/drawing/2014/main" id="{AEA4E4A9-A187-6256-CCF1-1F676953C2E0}"/>
                </a:ext>
              </a:extLst>
            </p:cNvPr>
            <p:cNvSpPr/>
            <p:nvPr/>
          </p:nvSpPr>
          <p:spPr>
            <a:xfrm>
              <a:off x="8771413" y="257107"/>
              <a:ext cx="160650" cy="160650"/>
            </a:xfrm>
            <a:prstGeom prst="ellipse">
              <a:avLst/>
            </a:prstGeom>
            <a:solidFill>
              <a:srgbClr val="FFFF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4" name="CustomShape 9">
              <a:extLst>
                <a:ext uri="{FF2B5EF4-FFF2-40B4-BE49-F238E27FC236}">
                  <a16:creationId xmlns:a16="http://schemas.microsoft.com/office/drawing/2014/main" id="{99577C17-81E3-A9AA-41C4-516C663FE5CF}"/>
                </a:ext>
              </a:extLst>
            </p:cNvPr>
            <p:cNvSpPr/>
            <p:nvPr/>
          </p:nvSpPr>
          <p:spPr>
            <a:xfrm>
              <a:off x="8773488" y="446224"/>
              <a:ext cx="160650" cy="160650"/>
            </a:xfrm>
            <a:prstGeom prst="ellipse">
              <a:avLst/>
            </a:prstGeom>
            <a:solidFill>
              <a:srgbClr val="339933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5" name="CustomShape 8">
              <a:extLst>
                <a:ext uri="{FF2B5EF4-FFF2-40B4-BE49-F238E27FC236}">
                  <a16:creationId xmlns:a16="http://schemas.microsoft.com/office/drawing/2014/main" id="{8213CD32-D15A-C579-C84B-A3CE9A5412A7}"/>
                </a:ext>
              </a:extLst>
            </p:cNvPr>
            <p:cNvSpPr/>
            <p:nvPr/>
          </p:nvSpPr>
          <p:spPr>
            <a:xfrm>
              <a:off x="8749258" y="52264"/>
              <a:ext cx="216024" cy="594066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65000"/>
              </a:schemeClr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 dirty="0"/>
            </a:p>
          </p:txBody>
        </p:sp>
        <p:grpSp>
          <p:nvGrpSpPr>
            <p:cNvPr id="36" name="Grupo 1">
              <a:extLst>
                <a:ext uri="{FF2B5EF4-FFF2-40B4-BE49-F238E27FC236}">
                  <a16:creationId xmlns:a16="http://schemas.microsoft.com/office/drawing/2014/main" id="{1600D330-BCEB-1B44-5B13-ABE382E533CB}"/>
                </a:ext>
              </a:extLst>
            </p:cNvPr>
            <p:cNvGrpSpPr/>
            <p:nvPr/>
          </p:nvGrpSpPr>
          <p:grpSpPr>
            <a:xfrm>
              <a:off x="8776118" y="86090"/>
              <a:ext cx="160650" cy="526414"/>
              <a:chOff x="8776118" y="80460"/>
              <a:chExt cx="160650" cy="526414"/>
            </a:xfrm>
          </p:grpSpPr>
          <p:sp>
            <p:nvSpPr>
              <p:cNvPr id="37" name="CustomShape 9">
                <a:extLst>
                  <a:ext uri="{FF2B5EF4-FFF2-40B4-BE49-F238E27FC236}">
                    <a16:creationId xmlns:a16="http://schemas.microsoft.com/office/drawing/2014/main" id="{606A5496-0FC4-2967-B999-9DE7D4F7F180}"/>
                  </a:ext>
                </a:extLst>
              </p:cNvPr>
              <p:cNvSpPr/>
              <p:nvPr/>
            </p:nvSpPr>
            <p:spPr>
              <a:xfrm>
                <a:off x="8776118" y="80460"/>
                <a:ext cx="160650" cy="160650"/>
              </a:xfrm>
              <a:prstGeom prst="ellipse">
                <a:avLst/>
              </a:prstGeom>
              <a:solidFill>
                <a:srgbClr val="92D050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38" name="CustomShape 9">
                <a:extLst>
                  <a:ext uri="{FF2B5EF4-FFF2-40B4-BE49-F238E27FC236}">
                    <a16:creationId xmlns:a16="http://schemas.microsoft.com/office/drawing/2014/main" id="{38265107-8BB1-35C3-C0B5-4AE80533890F}"/>
                  </a:ext>
                </a:extLst>
              </p:cNvPr>
              <p:cNvSpPr/>
              <p:nvPr/>
            </p:nvSpPr>
            <p:spPr>
              <a:xfrm>
                <a:off x="8776118" y="263342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40" name="CustomShape 9">
                <a:extLst>
                  <a:ext uri="{FF2B5EF4-FFF2-40B4-BE49-F238E27FC236}">
                    <a16:creationId xmlns:a16="http://schemas.microsoft.com/office/drawing/2014/main" id="{18384BDC-6A59-780B-FB94-78FC58975DDC}"/>
                  </a:ext>
                </a:extLst>
              </p:cNvPr>
              <p:cNvSpPr/>
              <p:nvPr/>
            </p:nvSpPr>
            <p:spPr>
              <a:xfrm>
                <a:off x="8776118" y="446224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</p:grpSp>
      </p:grpSp>
      <p:sp>
        <p:nvSpPr>
          <p:cNvPr id="18" name="文本占位符 2">
            <a:extLst>
              <a:ext uri="{FF2B5EF4-FFF2-40B4-BE49-F238E27FC236}">
                <a16:creationId xmlns:a16="http://schemas.microsoft.com/office/drawing/2014/main" id="{3D2B9553-AE2E-4CAF-B944-A4D7D14A9CF0}"/>
              </a:ext>
            </a:extLst>
          </p:cNvPr>
          <p:cNvSpPr txBox="1">
            <a:spLocks/>
          </p:cNvSpPr>
          <p:nvPr/>
        </p:nvSpPr>
        <p:spPr bwMode="gray">
          <a:xfrm>
            <a:off x="550861" y="1910591"/>
            <a:ext cx="11233150" cy="360099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 algn="l" defTabSz="121914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600" b="0" kern="1200" spc="1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1219140" rtl="0" eaLnBrk="1" latinLnBrk="0" hangingPunct="1">
              <a:spcBef>
                <a:spcPts val="0"/>
              </a:spcBef>
              <a:buFont typeface="Arial" panose="020B0604020202020204" pitchFamily="34" charset="0"/>
              <a:buNone/>
              <a:defRPr sz="2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1219140" rtl="0" eaLnBrk="1" latinLnBrk="0" hangingPunct="1">
              <a:spcBef>
                <a:spcPts val="0"/>
              </a:spcBef>
              <a:buFont typeface="VW Text Office" panose="020B0503040200000003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219140" rtl="0" eaLnBrk="1" latinLnBrk="0" hangingPunct="1">
              <a:spcBef>
                <a:spcPts val="0"/>
              </a:spcBef>
              <a:buFont typeface="Symbol" panose="05050102010706020507" pitchFamily="18" charset="2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1219140" rtl="0" eaLnBrk="1" latinLnBrk="0" hangingPunct="1">
              <a:spcBef>
                <a:spcPts val="0"/>
              </a:spcBef>
              <a:buFont typeface="Symbol" panose="05050102010706020507" pitchFamily="18" charset="2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63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0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77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341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3.5 Rear Impact</a:t>
            </a:r>
          </a:p>
        </p:txBody>
      </p:sp>
      <p:sp>
        <p:nvSpPr>
          <p:cNvPr id="19" name="矩形 46">
            <a:extLst>
              <a:ext uri="{FF2B5EF4-FFF2-40B4-BE49-F238E27FC236}">
                <a16:creationId xmlns:a16="http://schemas.microsoft.com/office/drawing/2014/main" id="{69B442DE-076F-4DB4-A387-62E34F5A770E}"/>
              </a:ext>
            </a:extLst>
          </p:cNvPr>
          <p:cNvSpPr/>
          <p:nvPr/>
        </p:nvSpPr>
        <p:spPr>
          <a:xfrm>
            <a:off x="476082" y="4031127"/>
            <a:ext cx="3050889" cy="1548089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rtlCol="0" anchor="t"/>
          <a:lstStyle/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Loading: 30g Sine wave </a:t>
            </a:r>
          </a:p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Target: 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failure of parts.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must not separate.</a:t>
            </a:r>
          </a:p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Loading Direction: Global -X</a:t>
            </a:r>
          </a:p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Temperature: 23℃</a:t>
            </a:r>
          </a:p>
        </p:txBody>
      </p:sp>
      <p:graphicFrame>
        <p:nvGraphicFramePr>
          <p:cNvPr id="20" name="表格占位符 7">
            <a:extLst>
              <a:ext uri="{FF2B5EF4-FFF2-40B4-BE49-F238E27FC236}">
                <a16:creationId xmlns:a16="http://schemas.microsoft.com/office/drawing/2014/main" id="{00E208F9-5FE7-44FA-A0C1-3D1C09E274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7623367"/>
              </p:ext>
            </p:extLst>
          </p:nvPr>
        </p:nvGraphicFramePr>
        <p:xfrm>
          <a:off x="3903276" y="2870343"/>
          <a:ext cx="5384582" cy="17519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243">
                  <a:extLst>
                    <a:ext uri="{9D8B030D-6E8A-4147-A177-3AD203B41FA5}">
                      <a16:colId xmlns:a16="http://schemas.microsoft.com/office/drawing/2014/main" val="2481704842"/>
                    </a:ext>
                  </a:extLst>
                </a:gridCol>
                <a:gridCol w="1851124">
                  <a:extLst>
                    <a:ext uri="{9D8B030D-6E8A-4147-A177-3AD203B41FA5}">
                      <a16:colId xmlns:a16="http://schemas.microsoft.com/office/drawing/2014/main" val="4028686089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887143440"/>
                    </a:ext>
                  </a:extLst>
                </a:gridCol>
                <a:gridCol w="744855">
                  <a:extLst>
                    <a:ext uri="{9D8B030D-6E8A-4147-A177-3AD203B41FA5}">
                      <a16:colId xmlns:a16="http://schemas.microsoft.com/office/drawing/2014/main" val="2377884716"/>
                    </a:ext>
                  </a:extLst>
                </a:gridCol>
              </a:tblGrid>
              <a:tr h="418774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Load case</a:t>
                      </a:r>
                      <a:endParaRPr lang="zh-CN" altLang="en-US" sz="14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Target</a:t>
                      </a:r>
                      <a:endParaRPr lang="zh-CN" altLang="en-US" sz="14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V00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1302475"/>
                  </a:ext>
                </a:extLst>
              </a:tr>
              <a:tr h="41877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+mn-lt"/>
                        </a:rPr>
                        <a:t>CAE Result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002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zh-CN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4650282"/>
                  </a:ext>
                </a:extLst>
              </a:tr>
              <a:tr h="41148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Rear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Impact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 failure of parts.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All components</a:t>
                      </a:r>
                      <a:r>
                        <a:rPr lang="en-US" altLang="zh-CN" sz="1200" baseline="0" dirty="0"/>
                        <a:t> have no faults.</a:t>
                      </a:r>
                      <a:endParaRPr lang="en-US" altLang="zh-C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1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OK</a:t>
                      </a:r>
                      <a:endParaRPr lang="zh-CN" altLang="en-US" sz="14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604074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Components must not separate.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The CNSL components are not separate.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1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OK</a:t>
                      </a:r>
                      <a:endParaRPr lang="zh-CN" altLang="en-US" sz="14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55177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172752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0ff92c5-92ff-43fe-a760-6a9303f9073d}" enabled="1" method="Standard" siteId="{1272ef7d-0a4c-4c35-8f4b-416e283c5d59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1473</Words>
  <Application>Microsoft Office PowerPoint</Application>
  <PresentationFormat>Widescreen</PresentationFormat>
  <Paragraphs>768</Paragraphs>
  <Slides>11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主题​​</vt:lpstr>
      <vt:lpstr>A01_CNSL</vt:lpstr>
      <vt:lpstr>A01_CNSL</vt:lpstr>
      <vt:lpstr>A01_CNSL - Basic Version</vt:lpstr>
      <vt:lpstr>A01_CNSL - Basic Version</vt:lpstr>
      <vt:lpstr>A01_CNSL - Basic Version</vt:lpstr>
      <vt:lpstr>A01_CNSL - Basic Version</vt:lpstr>
      <vt:lpstr>A01_CNSL - Basic Version</vt:lpstr>
      <vt:lpstr>A01_CNSL - Basic Version</vt:lpstr>
      <vt:lpstr>A01_CNSL - Basic Version</vt:lpstr>
      <vt:lpstr>A01_CNSL - Basic Version</vt:lpstr>
      <vt:lpstr>VW416/9CM B-SUV CNSL - Basic Version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Qiao, Shihao (VCTC-EKAI)</dc:creator>
  <cp:lastModifiedBy>Qiao, Shihao (VCTC-EKAI)</cp:lastModifiedBy>
  <cp:revision>3</cp:revision>
  <dcterms:created xsi:type="dcterms:W3CDTF">2026-04-14T05:54:23Z</dcterms:created>
  <dcterms:modified xsi:type="dcterms:W3CDTF">2026-04-20T02:08:43Z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主题​​:9</vt:lpwstr>
  </property>
  <property fmtid="{D5CDD505-2E9C-101B-9397-08002B2CF9AE}" pid="3" name="ClassificationContentMarkingFooterText">
    <vt:lpwstr>INTERNAL</vt:lpwstr>
  </property>
</Properties>
</file>