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147481211" r:id="rId3"/>
    <p:sldId id="2147481224" r:id="rId4"/>
    <p:sldId id="2147481243" r:id="rId5"/>
    <p:sldId id="2147481307" r:id="rId6"/>
    <p:sldId id="2147481309" r:id="rId7"/>
    <p:sldId id="2147481308" r:id="rId8"/>
    <p:sldId id="2147481310" r:id="rId9"/>
    <p:sldId id="2147481248" r:id="rId10"/>
    <p:sldId id="2147481249" r:id="rId11"/>
    <p:sldId id="2147481233" r:id="rId12"/>
    <p:sldId id="2147481256" r:id="rId13"/>
    <p:sldId id="2147481266" r:id="rId14"/>
    <p:sldId id="2147481267" r:id="rId15"/>
    <p:sldId id="2147481268" r:id="rId16"/>
    <p:sldId id="2147481327" r:id="rId17"/>
    <p:sldId id="2147481269" r:id="rId18"/>
    <p:sldId id="2147481284" r:id="rId19"/>
    <p:sldId id="2147481285" r:id="rId20"/>
    <p:sldId id="2147481292" r:id="rId21"/>
    <p:sldId id="2147481293" r:id="rId22"/>
    <p:sldId id="2147481300" r:id="rId23"/>
    <p:sldId id="214748130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DABC7A5-38BF-4F86-BAA1-115E104E80C3}">
          <p14:sldIdLst>
            <p14:sldId id="256"/>
          </p14:sldIdLst>
        </p14:section>
        <p14:section name="PRESENTATION" id="{704D60C4-1F58-4045-9824-A751DF7B4B41}">
          <p14:sldIdLst>
            <p14:sldId id="2147481211"/>
          </p14:sldIdLst>
        </p14:section>
        <p14:section name="1.1.1 Radial elasticity: Steering column on rigid plate" id="{07F68AF1-D4D2-4F94-8163-F8F583B51A36}">
          <p14:sldIdLst>
            <p14:sldId id="2147481224"/>
            <p14:sldId id="2147481243"/>
          </p14:sldIdLst>
        </p14:section>
        <p14:section name="1.1.2 Radial elasticity: MQT with steering column in rigid frame" id="{EC0D6985-BC00-4ADA-887A-0660225A44BD}">
          <p14:sldIdLst>
            <p14:sldId id="2147481307"/>
            <p14:sldId id="2147481309"/>
          </p14:sldIdLst>
        </p14:section>
        <p14:section name="1.1.3 Radial elasticity: MQT with steering column in body" id="{67AEF313-DE53-4547-B9F8-C9E374DA9ED4}">
          <p14:sldIdLst>
            <p14:sldId id="2147481308"/>
            <p14:sldId id="2147481310"/>
          </p14:sldIdLst>
        </p14:section>
        <p14:section name="1.2.1 Deflection: Load at center of MQT" id="{0D236B3A-0A9E-483B-A408-B8B2ACFF3FB8}">
          <p14:sldIdLst>
            <p14:sldId id="2147481248"/>
            <p14:sldId id="2147481249"/>
          </p14:sldIdLst>
        </p14:section>
        <p14:section name="1.3.1 Static stiffness of the bolt-on points: Body-in-white" id="{45E593E3-F449-4F9E-BEB8-C78AE0B5DDB3}">
          <p14:sldIdLst>
            <p14:sldId id="2147481233"/>
            <p14:sldId id="2147481256"/>
          </p14:sldIdLst>
        </p14:section>
        <p14:section name="1.3.2 Static stiffness of the bolt-on points: MQT in rigid frame" id="{541EBF94-795E-4891-B734-FDFF4D998C84}">
          <p14:sldIdLst>
            <p14:sldId id="2147481266"/>
            <p14:sldId id="2147481267"/>
            <p14:sldId id="2147481268"/>
            <p14:sldId id="2147481327"/>
            <p14:sldId id="2147481269"/>
          </p14:sldIdLst>
        </p14:section>
        <p14:section name="2.1.1 Natural frequencies and mode shapes :Steering column on rigid plate" id="{EF51E108-F555-48B1-AFC9-DBD0280C7B00}">
          <p14:sldIdLst>
            <p14:sldId id="2147481284"/>
            <p14:sldId id="2147481285"/>
          </p14:sldIdLst>
        </p14:section>
        <p14:section name="2.1.2 Natural frequencies and mode shapes : MQT with steering column in rigid frame" id="{A1D971B9-237D-48B4-8963-E43E4979F9B9}">
          <p14:sldIdLst>
            <p14:sldId id="2147481292"/>
            <p14:sldId id="2147481293"/>
          </p14:sldIdLst>
        </p14:section>
        <p14:section name="2.1.3 Natural frequencies and mode shapes : MQT with steering column in body" id="{24C8C0B4-7C2B-4C10-8F7C-5F328870B2C6}">
          <p14:sldIdLst>
            <p14:sldId id="2147481300"/>
            <p14:sldId id="2147481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BFFA5-6221-4398-8F2B-C7E1899EF2DE}" type="datetimeFigureOut">
              <a:rPr lang="de-DE" smtClean="0"/>
              <a:t>19.04.2026</a:t>
            </a:fld>
            <a:endParaRPr lang="de-DE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F6298-892C-4D92-9B4C-E32822B6D4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33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00FE9-537A-CA4E-B1FB-A898AEF39DD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663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00FE9-537A-CA4E-B1FB-A898AEF39DD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183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00FE9-537A-CA4E-B1FB-A898AEF39DD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284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2A9FD-7BEB-8660-8DF3-0A7B7F6B4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F9CFB2-AE36-2039-02AA-5768BA16F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645E9C-8BEB-75D5-4FCD-22D0BA8B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1534A9-192E-4AD5-7358-EFE5B9C1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1AD286-A01E-E71F-A715-4BC1D240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1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BFAE1-294B-5388-8F78-9ECAA7998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029FA4-F454-724C-1B9F-F490D474D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8B0D4C-F8B1-733B-3006-0A00CD6A3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E0D46B-6C5A-EF44-E6FE-05D2D725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488BBE-FF2B-12F7-2326-6697D95E6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62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E326A-D9C5-3DC6-660E-FAD15301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FE9000-9AB4-1AAC-D0C5-432FBABD3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BEC58C-6C2C-0226-4469-5025F808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BAD29-CAC4-3A01-A1BB-D2C401260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C5AFCD-33B3-3225-5E92-0C69CAE0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59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D71D8-2EC8-6150-0CC6-4779BC29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BE40-FDBE-FF1F-A69C-E35F468D9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986BDF-1C4F-31EB-7BBA-869EDF4FE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59A7D5-F0BB-56B4-9F25-A628BEA9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72FB80-A790-AE2E-9AEB-CCAA51C0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F1D0C9-2C3C-22FA-34AB-CA067AED2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60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045F54-4800-82FE-1898-81FAC9A1A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5A66A2-FCC0-D7FB-CC35-F2E5D5245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9F0D97-1755-98DB-9517-31564C58D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C6979F-0CA1-F821-BBB1-720E92957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2AFE2B-E64C-9484-B12A-BD165AC8D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A4F602-1995-01CA-767D-FC415BBB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9F4742-E733-93D6-E7EC-2BCE6668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8D7F23-4C01-3F5A-FF56-AAD9CBF2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40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00597-CB44-4CB1-5628-253C22829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A5E241-1D69-DB0A-F874-7EFCC27B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3147F-24A1-7DC8-C8B9-02474FC3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56FE0F-43FA-B7B1-64C5-47A6FABB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02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BAB3B3-69EE-3C3A-BA15-D3F4E0F1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CB7ED4-A3CC-753B-4E34-A8316668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21CFED-796E-EB35-D879-2DA2E0B1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78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5B149-69A4-6F7E-317B-67D3991B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920906-686C-563A-9F0D-CB83FEEBD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88B813-F412-FE80-320B-2885EF14D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4E9EE8-A88D-184F-1F9E-A0F568466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1EBFE3-8E5A-021E-2FBC-9C2CC209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C5A002-5F26-CCD6-D4E2-C0B7F064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124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2B00C-4E52-3132-F69E-09B56895B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F702B3-A1FC-6514-F008-C2DA34F1D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EEB1F6-00F5-3D90-0777-99F137A0F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547565-E5EB-70AE-479A-7149A4361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79388E-B555-92AD-9D28-BE94EC49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0DC6D4-1C7B-4364-A5D4-00E1A9C8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84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A5D26-1BCD-3745-A4CA-B1FD4202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62484D-7AFA-7894-08AA-4CA1BB6A7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28B02F-18FB-C357-D820-C7F2958C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02BAC7-D6E3-A230-5CD9-1D9C2116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3474E-F509-89EB-1388-838ED8C8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61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536E84-8581-5CD7-422F-992FA451E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7C67C8-E34B-742A-15B5-E8409AE4D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52FE4E-646E-5918-DF42-91C3ACA37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BB187-5496-0064-B2B0-8EA5265E1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512888-9E00-B049-C0B4-15C0BA0F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334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Mgmt-Zusammenfassung (ohne Bild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1034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2230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Mgmt-Zusammenfassung (ohne Bild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1389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63378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gmt-Zusammenfassung (ohne Bild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672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4379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Mgmt-Zusammenfassung (ohne Bild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1830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3820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992383F-66EB-5CAB-BC00-E46C4E2F64FB}"/>
              </a:ext>
            </a:extLst>
          </p:cNvPr>
          <p:cNvGraphicFramePr>
            <a:graphicFrameLocks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5288726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8" imgW="395" imgH="394" progId="TCLayout.ActiveDocument.1">
                  <p:embed/>
                </p:oleObj>
              </mc:Choice>
              <mc:Fallback>
                <p:oleObj name="think-cell 幻灯片" r:id="rId18" imgW="395" imgH="39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92383F-66EB-5CAB-BC00-E46C4E2F64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C07E736-F207-7B22-29F5-C6B122A52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C98E46-C7A0-762A-2951-EA3D82C8C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BABBCE-C975-2A0D-834B-3039B86D6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6C6CE-127E-4DB4-9656-D2F4316D2E99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ABD2D2-8D1F-BCF0-352A-D6C3EA44F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36C749-E6E7-A9C2-2506-360AEE73C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AA863-382B-4016-8DE0-819EC0F015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96DAB9-01EA-A542-69DE-77C140E9391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 dirty="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88714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9.xml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4.xml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Relationship Id="rId4" Type="http://schemas.openxmlformats.org/officeDocument/2006/relationships/image" Target="../media/image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6.xml"/><Relationship Id="rId4" Type="http://schemas.openxmlformats.org/officeDocument/2006/relationships/image" Target="../media/image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Relationship Id="rId4" Type="http://schemas.openxmlformats.org/officeDocument/2006/relationships/image" Target="../media/image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8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E4D9B34-7577-49F0-95D4-BC366A80E5E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8652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95" imgH="394" progId="TCLayout.ActiveDocument.1">
                  <p:embed/>
                </p:oleObj>
              </mc:Choice>
              <mc:Fallback>
                <p:oleObj name="think-cell 幻灯片" r:id="rId3" imgW="395" imgH="39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4D9B34-7577-49F0-95D4-BC366A80E5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150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8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All </a:t>
            </a:r>
            <a:r>
              <a:rPr lang="en-US" dirty="0" err="1"/>
              <a:t>loadcase</a:t>
            </a:r>
            <a:r>
              <a:rPr lang="en-US" dirty="0"/>
              <a:t>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450785"/>
              </p:ext>
            </p:extLst>
          </p:nvPr>
        </p:nvGraphicFramePr>
        <p:xfrm>
          <a:off x="407986" y="1619329"/>
          <a:ext cx="11376024" cy="257460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59822">
                  <a:extLst>
                    <a:ext uri="{9D8B030D-6E8A-4147-A177-3AD203B41FA5}">
                      <a16:colId xmlns:a16="http://schemas.microsoft.com/office/drawing/2014/main" val="1318071878"/>
                    </a:ext>
                  </a:extLst>
                </a:gridCol>
                <a:gridCol w="3359822">
                  <a:extLst>
                    <a:ext uri="{9D8B030D-6E8A-4147-A177-3AD203B41FA5}">
                      <a16:colId xmlns:a16="http://schemas.microsoft.com/office/drawing/2014/main" val="3547428507"/>
                    </a:ext>
                  </a:extLst>
                </a:gridCol>
                <a:gridCol w="644769">
                  <a:extLst>
                    <a:ext uri="{9D8B030D-6E8A-4147-A177-3AD203B41FA5}">
                      <a16:colId xmlns:a16="http://schemas.microsoft.com/office/drawing/2014/main" val="1975162907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3183687047"/>
                    </a:ext>
                  </a:extLst>
                </a:gridCol>
                <a:gridCol w="3334955">
                  <a:extLst>
                    <a:ext uri="{9D8B030D-6E8A-4147-A177-3AD203B41FA5}">
                      <a16:colId xmlns:a16="http://schemas.microsoft.com/office/drawing/2014/main" val="2557891524"/>
                    </a:ext>
                  </a:extLst>
                </a:gridCol>
              </a:tblGrid>
              <a:tr h="26647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1. Static load cases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Remark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901866"/>
                  </a:ext>
                </a:extLst>
              </a:tr>
              <a:tr h="266474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1.1 Radial elasticity: At steering wheel hub: 600 N in Z-direction or 250 N in Y-direction (local coordinate system)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1.1.1 Steering column on rigid plate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263420"/>
                  </a:ext>
                </a:extLst>
              </a:tr>
              <a:tr h="266474">
                <a:tc v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en-US" altLang="zh-CN" sz="1800" dirty="0">
                        <a:solidFill>
                          <a:srgbClr val="0027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1.1.2 MQT with steering column in rigid frame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zh-CN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095470"/>
                  </a:ext>
                </a:extLst>
              </a:tr>
              <a:tr h="286062">
                <a:tc v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en-US" altLang="zh-CN" sz="1800" dirty="0">
                        <a:solidFill>
                          <a:srgbClr val="0027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1.1.3 MQT with steering column in body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434255"/>
                  </a:ext>
                </a:extLst>
              </a:tr>
              <a:tr h="438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1.2 Deflection: Load at center of MQT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1.2.1 MQT with steering column in rigid frame, bolts not tightened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The center of MQT is deformed 1mm when loaded 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125N.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455521"/>
                  </a:ext>
                </a:extLst>
              </a:tr>
              <a:tr h="61132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1.3 Static stiffness of the bolt-on 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1.3.1 Body-in-white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altLang="zh-CN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596663"/>
                  </a:ext>
                </a:extLst>
              </a:tr>
              <a:tr h="438898">
                <a:tc v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en-US" altLang="zh-CN" sz="1800" dirty="0">
                        <a:solidFill>
                          <a:srgbClr val="0027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1.3.2 MQT in rigid frame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232764"/>
                  </a:ext>
                </a:extLst>
              </a:tr>
            </a:tbl>
          </a:graphicData>
        </a:graphic>
      </p:graphicFrame>
      <p:sp>
        <p:nvSpPr>
          <p:cNvPr id="10" name="Footer Placeholder 9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graphicFrame>
        <p:nvGraphicFramePr>
          <p:cNvPr id="12" name="Table 8">
            <a:extLst>
              <a:ext uri="{FF2B5EF4-FFF2-40B4-BE49-F238E27FC236}">
                <a16:creationId xmlns:a16="http://schemas.microsoft.com/office/drawing/2014/main" id="{EA469776-E5C9-2932-DA67-361FD670E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59814"/>
              </p:ext>
            </p:extLst>
          </p:nvPr>
        </p:nvGraphicFramePr>
        <p:xfrm>
          <a:off x="407986" y="4304013"/>
          <a:ext cx="11376026" cy="18129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59823">
                  <a:extLst>
                    <a:ext uri="{9D8B030D-6E8A-4147-A177-3AD203B41FA5}">
                      <a16:colId xmlns:a16="http://schemas.microsoft.com/office/drawing/2014/main" val="1318071878"/>
                    </a:ext>
                  </a:extLst>
                </a:gridCol>
                <a:gridCol w="3359823">
                  <a:extLst>
                    <a:ext uri="{9D8B030D-6E8A-4147-A177-3AD203B41FA5}">
                      <a16:colId xmlns:a16="http://schemas.microsoft.com/office/drawing/2014/main" val="3547428507"/>
                    </a:ext>
                  </a:extLst>
                </a:gridCol>
                <a:gridCol w="635623">
                  <a:extLst>
                    <a:ext uri="{9D8B030D-6E8A-4147-A177-3AD203B41FA5}">
                      <a16:colId xmlns:a16="http://schemas.microsoft.com/office/drawing/2014/main" val="19751629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83687047"/>
                    </a:ext>
                  </a:extLst>
                </a:gridCol>
                <a:gridCol w="3334957">
                  <a:extLst>
                    <a:ext uri="{9D8B030D-6E8A-4147-A177-3AD203B41FA5}">
                      <a16:colId xmlns:a16="http://schemas.microsoft.com/office/drawing/2014/main" val="2557891524"/>
                    </a:ext>
                  </a:extLst>
                </a:gridCol>
              </a:tblGrid>
              <a:tr h="219808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600"/>
                        </a:spcAft>
                      </a:pP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2. Dynamic load cases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Remark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901866"/>
                  </a:ext>
                </a:extLst>
              </a:tr>
              <a:tr h="512885">
                <a:tc rowSpan="3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2.1 Natural frequencies and mode shapes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2.1.1 Steering column on rigid plate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The 1</a:t>
                      </a:r>
                      <a:r>
                        <a:rPr lang="en-US" altLang="zh-CN" sz="1100" baseline="30000" dirty="0"/>
                        <a:t>st </a:t>
                      </a:r>
                      <a:r>
                        <a:rPr lang="en-US" altLang="zh-CN" sz="1100" dirty="0"/>
                        <a:t>global modal is 60.981Hz.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263420"/>
                  </a:ext>
                </a:extLst>
              </a:tr>
              <a:tr h="512885">
                <a:tc v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en-US" altLang="zh-CN" sz="1800" dirty="0">
                        <a:solidFill>
                          <a:srgbClr val="0027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2.1.2 MQT with steering column in rigid frame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altLang="zh-CN" sz="1100" dirty="0"/>
                        <a:t>The 1</a:t>
                      </a:r>
                      <a:r>
                        <a:rPr lang="en-US" altLang="zh-CN" sz="1100" baseline="30000" dirty="0"/>
                        <a:t>st</a:t>
                      </a:r>
                      <a:r>
                        <a:rPr lang="en-US" altLang="zh-CN" sz="1100" dirty="0"/>
                        <a:t> global modal is 45.778Hz.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095470"/>
                  </a:ext>
                </a:extLst>
              </a:tr>
              <a:tr h="512885">
                <a:tc v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en-US" altLang="zh-CN" sz="1800" dirty="0">
                        <a:solidFill>
                          <a:srgbClr val="0027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2.1.3 MQT with steering column in body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The 5</a:t>
                      </a:r>
                      <a:r>
                        <a:rPr lang="en-US" altLang="zh-CN" sz="1100" baseline="30000" dirty="0"/>
                        <a:t>th</a:t>
                      </a:r>
                      <a:r>
                        <a:rPr lang="en-US" altLang="zh-CN" sz="1100" dirty="0"/>
                        <a:t> local Modal is 37.962Hz.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434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7966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25" imgH="426" progId="TCLayout.ActiveDocument.1">
                  <p:embed/>
                </p:oleObj>
              </mc:Choice>
              <mc:Fallback>
                <p:oleObj name="think-cell 幻灯片" r:id="rId4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Boundary condition &amp; Load case 1.1.1 review</a:t>
            </a:r>
            <a:endParaRPr lang="en-US" altLang="zh-CN" dirty="0">
              <a:solidFill>
                <a:srgbClr val="002733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399E41-F0EA-0DB0-2C22-F43AF5F35013}"/>
              </a:ext>
            </a:extLst>
          </p:cNvPr>
          <p:cNvSpPr txBox="1"/>
          <p:nvPr/>
        </p:nvSpPr>
        <p:spPr>
          <a:xfrm>
            <a:off x="658821" y="2719067"/>
            <a:ext cx="588265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Force:</a:t>
            </a:r>
            <a:r>
              <a:rPr lang="pt-BR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Z=600N,-Y=250N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Direction: Normal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23℃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Target:-Z=600N,Displacement&lt;2.4mm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-Y=250N,Displacement&lt;1.5mm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DFDD35-E09F-759A-5670-B4E042DF0455}"/>
              </a:ext>
            </a:extLst>
          </p:cNvPr>
          <p:cNvSpPr txBox="1"/>
          <p:nvPr/>
        </p:nvSpPr>
        <p:spPr>
          <a:xfrm>
            <a:off x="478801" y="2008552"/>
            <a:ext cx="7293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rgbClr val="002733"/>
                </a:solidFill>
              </a:rPr>
              <a:t>1.1.1 Radial elasticity: Steering column on rigid plate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CECB93-0FC7-4B11-B765-D8F5938BA6E8}"/>
              </a:ext>
            </a:extLst>
          </p:cNvPr>
          <p:cNvSpPr txBox="1"/>
          <p:nvPr/>
        </p:nvSpPr>
        <p:spPr>
          <a:xfrm>
            <a:off x="1450730" y="6205661"/>
            <a:ext cx="6260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zh-CN" sz="1400" dirty="0"/>
              <a:t>Bound the bolt-on points between car cross beam and steering column</a:t>
            </a:r>
            <a:endParaRPr lang="zh-CN" alt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263280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002733"/>
                </a:solidFill>
              </a:rPr>
              <a:t>radial elasticity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2733"/>
                </a:solidFill>
              </a:rPr>
              <a:t>at steering wheel hub </a:t>
            </a:r>
            <a:r>
              <a:rPr lang="en-US" altLang="zh-CN" dirty="0"/>
              <a:t>can meet the target.</a:t>
            </a:r>
            <a:endParaRPr lang="zh-CN" altLang="en-US" dirty="0"/>
          </a:p>
        </p:txBody>
      </p:sp>
      <p:graphicFrame>
        <p:nvGraphicFramePr>
          <p:cNvPr id="7" name="表格占位符 6">
            <a:extLst>
              <a:ext uri="{FF2B5EF4-FFF2-40B4-BE49-F238E27FC236}">
                <a16:creationId xmlns:a16="http://schemas.microsoft.com/office/drawing/2014/main" id="{647139A1-5A34-95B8-1BDE-9AD0C9DF0096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527050" y="1965325"/>
          <a:ext cx="6734493" cy="3494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588">
                  <a:extLst>
                    <a:ext uri="{9D8B030D-6E8A-4147-A177-3AD203B41FA5}">
                      <a16:colId xmlns:a16="http://schemas.microsoft.com/office/drawing/2014/main" val="2318293907"/>
                    </a:ext>
                  </a:extLst>
                </a:gridCol>
                <a:gridCol w="943124">
                  <a:extLst>
                    <a:ext uri="{9D8B030D-6E8A-4147-A177-3AD203B41FA5}">
                      <a16:colId xmlns:a16="http://schemas.microsoft.com/office/drawing/2014/main" val="2514085691"/>
                    </a:ext>
                  </a:extLst>
                </a:gridCol>
                <a:gridCol w="1281681">
                  <a:extLst>
                    <a:ext uri="{9D8B030D-6E8A-4147-A177-3AD203B41FA5}">
                      <a16:colId xmlns:a16="http://schemas.microsoft.com/office/drawing/2014/main" val="3281927589"/>
                    </a:ext>
                  </a:extLst>
                </a:gridCol>
                <a:gridCol w="1233316">
                  <a:extLst>
                    <a:ext uri="{9D8B030D-6E8A-4147-A177-3AD203B41FA5}">
                      <a16:colId xmlns:a16="http://schemas.microsoft.com/office/drawing/2014/main" val="3500680260"/>
                    </a:ext>
                  </a:extLst>
                </a:gridCol>
                <a:gridCol w="881784">
                  <a:extLst>
                    <a:ext uri="{9D8B030D-6E8A-4147-A177-3AD203B41FA5}">
                      <a16:colId xmlns:a16="http://schemas.microsoft.com/office/drawing/2014/main" val="3030122667"/>
                    </a:ext>
                  </a:extLst>
                </a:gridCol>
              </a:tblGrid>
              <a:tr h="1055562">
                <a:tc>
                  <a:txBody>
                    <a:bodyPr/>
                    <a:lstStyle/>
                    <a:p>
                      <a:r>
                        <a:rPr lang="en-US" altLang="zh-CN" dirty="0"/>
                        <a:t>Load case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Force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Target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CAE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Status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718984"/>
                  </a:ext>
                </a:extLst>
              </a:tr>
              <a:tr h="12194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1.1.1 </a:t>
                      </a:r>
                      <a:r>
                        <a:rPr lang="en-US" altLang="zh-CN" dirty="0">
                          <a:solidFill>
                            <a:srgbClr val="002733"/>
                          </a:solidFill>
                        </a:rPr>
                        <a:t>Radial elasticity: </a:t>
                      </a:r>
                      <a:r>
                        <a:rPr lang="en-US" altLang="zh-CN" sz="1800" dirty="0">
                          <a:solidFill>
                            <a:srgbClr val="002733"/>
                          </a:solidFill>
                        </a:rPr>
                        <a:t>Steering column on rigid plate</a:t>
                      </a:r>
                      <a:endParaRPr lang="en-US" altLang="zh-C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-Z600N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Dis&lt;2.4mm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0.76mm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OK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589554"/>
                  </a:ext>
                </a:extLst>
              </a:tr>
              <a:tr h="12194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-Y250N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Dis&lt;1.5mm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0.29mm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OK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227778"/>
                  </a:ext>
                </a:extLst>
              </a:tr>
            </a:tbl>
          </a:graphicData>
        </a:graphic>
      </p:graphicFrame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0599981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>
                <a:solidFill>
                  <a:srgbClr val="002733"/>
                </a:solidFill>
              </a:rPr>
              <a:t>1.1.1 Radial elasticity: Steering column on rigid plate </a:t>
            </a:r>
            <a:r>
              <a:rPr lang="en-US" dirty="0"/>
              <a:t>results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530A62D-0F79-9114-08C0-C6C66BCEFCD9}"/>
              </a:ext>
            </a:extLst>
          </p:cNvPr>
          <p:cNvGrpSpPr/>
          <p:nvPr/>
        </p:nvGrpSpPr>
        <p:grpSpPr>
          <a:xfrm>
            <a:off x="7261542" y="2020371"/>
            <a:ext cx="4169496" cy="3422652"/>
            <a:chOff x="7248531" y="2434008"/>
            <a:chExt cx="4169496" cy="3422652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8A056BB-8A5A-4DB6-53AE-2C8DB6E33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48531" y="2434008"/>
              <a:ext cx="4169496" cy="3422652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B2EADC3-74FA-EFB8-592C-02091F894788}"/>
                </a:ext>
              </a:extLst>
            </p:cNvPr>
            <p:cNvSpPr txBox="1"/>
            <p:nvPr/>
          </p:nvSpPr>
          <p:spPr>
            <a:xfrm>
              <a:off x="9041369" y="4006834"/>
              <a:ext cx="79829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rgbClr val="7030A0"/>
                  </a:solidFill>
                </a:rPr>
                <a:t>-Y=250N</a:t>
              </a:r>
              <a:endParaRPr lang="zh-CN" altLang="en-US" sz="1800" dirty="0" err="1">
                <a:solidFill>
                  <a:srgbClr val="7030A0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05506E5-E92B-A980-A434-4FD8B7976021}"/>
                </a:ext>
              </a:extLst>
            </p:cNvPr>
            <p:cNvSpPr txBox="1"/>
            <p:nvPr/>
          </p:nvSpPr>
          <p:spPr>
            <a:xfrm>
              <a:off x="8247882" y="4477829"/>
              <a:ext cx="79348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rgbClr val="C709B9"/>
                  </a:solidFill>
                </a:rPr>
                <a:t>-Z=600N</a:t>
              </a:r>
              <a:endParaRPr lang="zh-CN" altLang="en-US" sz="1800" dirty="0" err="1">
                <a:solidFill>
                  <a:srgbClr val="C709B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9721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25" imgH="426" progId="TCLayout.ActiveDocument.1">
                  <p:embed/>
                </p:oleObj>
              </mc:Choice>
              <mc:Fallback>
                <p:oleObj name="think-cell 幻灯片" r:id="rId4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Boundary condition &amp; Load case 1.1.2 review</a:t>
            </a:r>
            <a:endParaRPr lang="en-US" altLang="zh-CN" dirty="0">
              <a:solidFill>
                <a:srgbClr val="002733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399E41-F0EA-0DB0-2C22-F43AF5F35013}"/>
              </a:ext>
            </a:extLst>
          </p:cNvPr>
          <p:cNvSpPr txBox="1"/>
          <p:nvPr/>
        </p:nvSpPr>
        <p:spPr>
          <a:xfrm>
            <a:off x="605481" y="2760640"/>
            <a:ext cx="588265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Force:</a:t>
            </a:r>
            <a:r>
              <a:rPr lang="pt-BR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Z=600N,-Y=250N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Direction: Normal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23℃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Target:-Z=600N,Displacement&lt;2.4mm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-Y=250N,Displacement&lt;1.5mm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DFDD35-E09F-759A-5670-B4E042DF0455}"/>
              </a:ext>
            </a:extLst>
          </p:cNvPr>
          <p:cNvSpPr txBox="1"/>
          <p:nvPr/>
        </p:nvSpPr>
        <p:spPr>
          <a:xfrm>
            <a:off x="478801" y="2008552"/>
            <a:ext cx="8017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rgbClr val="002733"/>
                </a:solidFill>
              </a:rPr>
              <a:t>1.1.2 Radial elasticity: MQT with steering column in rigid frame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CECB93-0FC7-4B11-B765-D8F5938BA6E8}"/>
              </a:ext>
            </a:extLst>
          </p:cNvPr>
          <p:cNvSpPr txBox="1"/>
          <p:nvPr/>
        </p:nvSpPr>
        <p:spPr>
          <a:xfrm>
            <a:off x="2180221" y="6205661"/>
            <a:ext cx="52392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400"/>
              </a:spcBef>
            </a:pPr>
            <a:r>
              <a:rPr lang="en-US" altLang="zh-CN" sz="1400" dirty="0"/>
              <a:t>Bound the bolt-on points between car cross beam and BIW</a:t>
            </a:r>
            <a:endParaRPr lang="zh-CN" alt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425879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002733"/>
                </a:solidFill>
              </a:rPr>
              <a:t>radial elasticity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2733"/>
                </a:solidFill>
              </a:rPr>
              <a:t>at steering wheel hub </a:t>
            </a:r>
            <a:r>
              <a:rPr lang="en-US" altLang="zh-CN" dirty="0"/>
              <a:t>can meet the target.</a:t>
            </a:r>
            <a:endParaRPr lang="zh-CN" altLang="en-US" dirty="0"/>
          </a:p>
        </p:txBody>
      </p:sp>
      <p:graphicFrame>
        <p:nvGraphicFramePr>
          <p:cNvPr id="7" name="表格占位符 6">
            <a:extLst>
              <a:ext uri="{FF2B5EF4-FFF2-40B4-BE49-F238E27FC236}">
                <a16:creationId xmlns:a16="http://schemas.microsoft.com/office/drawing/2014/main" id="{647139A1-5A34-95B8-1BDE-9AD0C9DF0096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527050" y="1965325"/>
          <a:ext cx="6849696" cy="348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227">
                  <a:extLst>
                    <a:ext uri="{9D8B030D-6E8A-4147-A177-3AD203B41FA5}">
                      <a16:colId xmlns:a16="http://schemas.microsoft.com/office/drawing/2014/main" val="2318293907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514085691"/>
                    </a:ext>
                  </a:extLst>
                </a:gridCol>
                <a:gridCol w="1450731">
                  <a:extLst>
                    <a:ext uri="{9D8B030D-6E8A-4147-A177-3AD203B41FA5}">
                      <a16:colId xmlns:a16="http://schemas.microsoft.com/office/drawing/2014/main" val="3281927589"/>
                    </a:ext>
                  </a:extLst>
                </a:gridCol>
                <a:gridCol w="1090246">
                  <a:extLst>
                    <a:ext uri="{9D8B030D-6E8A-4147-A177-3AD203B41FA5}">
                      <a16:colId xmlns:a16="http://schemas.microsoft.com/office/drawing/2014/main" val="3500680260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3030122667"/>
                    </a:ext>
                  </a:extLst>
                </a:gridCol>
              </a:tblGrid>
              <a:tr h="1052881">
                <a:tc>
                  <a:txBody>
                    <a:bodyPr/>
                    <a:lstStyle/>
                    <a:p>
                      <a:r>
                        <a:rPr lang="en-US" altLang="zh-CN" dirty="0"/>
                        <a:t>Load case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Force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Target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CAE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Status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718984"/>
                  </a:ext>
                </a:extLst>
              </a:tr>
              <a:tr h="121634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002733"/>
                          </a:solidFill>
                        </a:rPr>
                        <a:t>1.1.2 </a:t>
                      </a:r>
                      <a:r>
                        <a:rPr lang="en-US" altLang="zh-CN" dirty="0">
                          <a:solidFill>
                            <a:srgbClr val="002733"/>
                          </a:solidFill>
                        </a:rPr>
                        <a:t>Radial elasticity: </a:t>
                      </a:r>
                      <a:r>
                        <a:rPr lang="en-US" altLang="zh-CN" sz="1800" dirty="0">
                          <a:solidFill>
                            <a:srgbClr val="002733"/>
                          </a:solidFill>
                        </a:rPr>
                        <a:t>MQT with steering column in rigid frame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-Z600N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Dis&lt;2.4mm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1.53mm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OK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216575"/>
                  </a:ext>
                </a:extLst>
              </a:tr>
              <a:tr h="121634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-Y250N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Dis&lt;1.5mm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0.39mm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OK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166800"/>
                  </a:ext>
                </a:extLst>
              </a:tr>
            </a:tbl>
          </a:graphicData>
        </a:graphic>
      </p:graphicFrame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0599981" cy="7478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solidFill>
                  <a:srgbClr val="002733"/>
                </a:solidFill>
              </a:rPr>
              <a:t>1.1.2 Radial elasticity: MQT with steering column in rigid frame </a:t>
            </a:r>
            <a:r>
              <a:rPr lang="en-US" dirty="0"/>
              <a:t>results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12" name="Grupo 19">
            <a:extLst>
              <a:ext uri="{FF2B5EF4-FFF2-40B4-BE49-F238E27FC236}">
                <a16:creationId xmlns:a16="http://schemas.microsoft.com/office/drawing/2014/main" id="{158718CC-52BC-30EC-39ED-89A66014E603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13" name="CustomShape 9">
              <a:extLst>
                <a:ext uri="{FF2B5EF4-FFF2-40B4-BE49-F238E27FC236}">
                  <a16:creationId xmlns:a16="http://schemas.microsoft.com/office/drawing/2014/main" id="{13B53B4C-EF72-9AF1-15D5-7ABDD55DB91D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CustomShape 9">
              <a:extLst>
                <a:ext uri="{FF2B5EF4-FFF2-40B4-BE49-F238E27FC236}">
                  <a16:creationId xmlns:a16="http://schemas.microsoft.com/office/drawing/2014/main" id="{0BDE693A-1A5C-1883-0E1F-3E58CC69DB31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CustomShape 9">
              <a:extLst>
                <a:ext uri="{FF2B5EF4-FFF2-40B4-BE49-F238E27FC236}">
                  <a16:creationId xmlns:a16="http://schemas.microsoft.com/office/drawing/2014/main" id="{A587AD7C-4839-21FD-191E-F5E79DE99396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CustomShape 8">
              <a:extLst>
                <a:ext uri="{FF2B5EF4-FFF2-40B4-BE49-F238E27FC236}">
                  <a16:creationId xmlns:a16="http://schemas.microsoft.com/office/drawing/2014/main" id="{95AC0ADE-3D4A-4934-EE56-84C1AC7BB907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17" name="Grupo 1">
              <a:extLst>
                <a:ext uri="{FF2B5EF4-FFF2-40B4-BE49-F238E27FC236}">
                  <a16:creationId xmlns:a16="http://schemas.microsoft.com/office/drawing/2014/main" id="{A821004D-4F70-F49A-76A0-95C8C318F9EB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18" name="CustomShape 9">
                <a:extLst>
                  <a:ext uri="{FF2B5EF4-FFF2-40B4-BE49-F238E27FC236}">
                    <a16:creationId xmlns:a16="http://schemas.microsoft.com/office/drawing/2014/main" id="{E302669C-BA91-F71C-E956-DE5EDCC7AB7C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" name="CustomShape 9">
                <a:extLst>
                  <a:ext uri="{FF2B5EF4-FFF2-40B4-BE49-F238E27FC236}">
                    <a16:creationId xmlns:a16="http://schemas.microsoft.com/office/drawing/2014/main" id="{81FBB3A2-0B17-2289-6275-BFC031BBCAA3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20" name="CustomShape 9">
                <a:extLst>
                  <a:ext uri="{FF2B5EF4-FFF2-40B4-BE49-F238E27FC236}">
                    <a16:creationId xmlns:a16="http://schemas.microsoft.com/office/drawing/2014/main" id="{9E4BD86B-E99A-B62D-977B-EFF50472B665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0021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25" imgH="426" progId="TCLayout.ActiveDocument.1">
                  <p:embed/>
                </p:oleObj>
              </mc:Choice>
              <mc:Fallback>
                <p:oleObj name="think-cell 幻灯片" r:id="rId4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Boundary condition &amp; Load case 1.1.3 review</a:t>
            </a:r>
            <a:endParaRPr lang="en-US" altLang="zh-CN" dirty="0">
              <a:solidFill>
                <a:srgbClr val="002733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399E41-F0EA-0DB0-2C22-F43AF5F35013}"/>
              </a:ext>
            </a:extLst>
          </p:cNvPr>
          <p:cNvSpPr txBox="1"/>
          <p:nvPr/>
        </p:nvSpPr>
        <p:spPr>
          <a:xfrm>
            <a:off x="658821" y="2704361"/>
            <a:ext cx="588265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Force:</a:t>
            </a:r>
            <a:r>
              <a:rPr lang="pt-BR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Z=600N,-Y=250N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Direction: Normal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23℃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Target:-Z=600N,Displacement&lt;2.4mm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-Y=250N,Displacement&lt;1.5mm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DFDD35-E09F-759A-5670-B4E042DF0455}"/>
              </a:ext>
            </a:extLst>
          </p:cNvPr>
          <p:cNvSpPr txBox="1"/>
          <p:nvPr/>
        </p:nvSpPr>
        <p:spPr>
          <a:xfrm>
            <a:off x="478801" y="2008552"/>
            <a:ext cx="7293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rgbClr val="002733"/>
                </a:solidFill>
              </a:rPr>
              <a:t>1.1.3 Radial elasticity: MQT with steering column in body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CECB93-0FC7-4B11-B765-D8F5938BA6E8}"/>
              </a:ext>
            </a:extLst>
          </p:cNvPr>
          <p:cNvSpPr txBox="1"/>
          <p:nvPr/>
        </p:nvSpPr>
        <p:spPr>
          <a:xfrm>
            <a:off x="2180221" y="6205661"/>
            <a:ext cx="52392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400"/>
              </a:spcBef>
            </a:pPr>
            <a:r>
              <a:rPr lang="en-US" altLang="zh-CN" sz="1400" dirty="0"/>
              <a:t>Bound the bolt-on points between BIW and suspension </a:t>
            </a:r>
            <a:endParaRPr lang="zh-CN" altLang="en-US" sz="1400" dirty="0" err="1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E919818-3F31-FAC2-5BF8-AE7E3985B15E}"/>
              </a:ext>
            </a:extLst>
          </p:cNvPr>
          <p:cNvGrpSpPr/>
          <p:nvPr/>
        </p:nvGrpSpPr>
        <p:grpSpPr>
          <a:xfrm>
            <a:off x="7350791" y="2503141"/>
            <a:ext cx="4169496" cy="3422652"/>
            <a:chOff x="7248531" y="2434008"/>
            <a:chExt cx="4169496" cy="342265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2BB51757-658E-B90E-F569-38882B6AF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48531" y="2434008"/>
              <a:ext cx="4169496" cy="3422652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46A168D-6339-1FED-C3CB-59BA07E62A1C}"/>
                </a:ext>
              </a:extLst>
            </p:cNvPr>
            <p:cNvSpPr txBox="1"/>
            <p:nvPr/>
          </p:nvSpPr>
          <p:spPr>
            <a:xfrm>
              <a:off x="9041369" y="4006834"/>
              <a:ext cx="79829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rgbClr val="7030A0"/>
                  </a:solidFill>
                </a:rPr>
                <a:t>-Y=250N</a:t>
              </a:r>
              <a:endParaRPr lang="zh-CN" altLang="en-US" sz="1800" dirty="0" err="1">
                <a:solidFill>
                  <a:srgbClr val="7030A0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25A2461-72D8-0EE9-0E7B-7A395722F448}"/>
                </a:ext>
              </a:extLst>
            </p:cNvPr>
            <p:cNvSpPr txBox="1"/>
            <p:nvPr/>
          </p:nvSpPr>
          <p:spPr>
            <a:xfrm>
              <a:off x="8247882" y="4477829"/>
              <a:ext cx="79348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rgbClr val="C709B9"/>
                  </a:solidFill>
                </a:rPr>
                <a:t>-Z=600N</a:t>
              </a:r>
              <a:endParaRPr lang="zh-CN" altLang="en-US" sz="1800" dirty="0" err="1">
                <a:solidFill>
                  <a:srgbClr val="C709B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1861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8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002733"/>
                </a:solidFill>
              </a:rPr>
              <a:t>radial elasticity</a:t>
            </a:r>
            <a:r>
              <a:rPr lang="en-US" altLang="zh-CN" dirty="0"/>
              <a:t> of –Z600N </a:t>
            </a:r>
            <a:r>
              <a:rPr lang="en-US" altLang="zh-CN" dirty="0">
                <a:solidFill>
                  <a:srgbClr val="002733"/>
                </a:solidFill>
              </a:rPr>
              <a:t>at steering wheel hub </a:t>
            </a:r>
            <a:r>
              <a:rPr lang="en-US" altLang="zh-CN" dirty="0"/>
              <a:t>can meet the target.</a:t>
            </a:r>
            <a:endParaRPr lang="zh-CN" altLang="en-US" dirty="0"/>
          </a:p>
        </p:txBody>
      </p:sp>
      <p:graphicFrame>
        <p:nvGraphicFramePr>
          <p:cNvPr id="7" name="表格占位符 6">
            <a:extLst>
              <a:ext uri="{FF2B5EF4-FFF2-40B4-BE49-F238E27FC236}">
                <a16:creationId xmlns:a16="http://schemas.microsoft.com/office/drawing/2014/main" id="{647139A1-5A34-95B8-1BDE-9AD0C9DF0096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527050" y="1965325"/>
          <a:ext cx="6902450" cy="348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888">
                  <a:extLst>
                    <a:ext uri="{9D8B030D-6E8A-4147-A177-3AD203B41FA5}">
                      <a16:colId xmlns:a16="http://schemas.microsoft.com/office/drawing/2014/main" val="2318293907"/>
                    </a:ext>
                  </a:extLst>
                </a:gridCol>
                <a:gridCol w="1125416">
                  <a:extLst>
                    <a:ext uri="{9D8B030D-6E8A-4147-A177-3AD203B41FA5}">
                      <a16:colId xmlns:a16="http://schemas.microsoft.com/office/drawing/2014/main" val="251408569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281927589"/>
                    </a:ext>
                  </a:extLst>
                </a:gridCol>
                <a:gridCol w="1195754">
                  <a:extLst>
                    <a:ext uri="{9D8B030D-6E8A-4147-A177-3AD203B41FA5}">
                      <a16:colId xmlns:a16="http://schemas.microsoft.com/office/drawing/2014/main" val="3500680260"/>
                    </a:ext>
                  </a:extLst>
                </a:gridCol>
                <a:gridCol w="1227992">
                  <a:extLst>
                    <a:ext uri="{9D8B030D-6E8A-4147-A177-3AD203B41FA5}">
                      <a16:colId xmlns:a16="http://schemas.microsoft.com/office/drawing/2014/main" val="3030122667"/>
                    </a:ext>
                  </a:extLst>
                </a:gridCol>
              </a:tblGrid>
              <a:tr h="1052881">
                <a:tc>
                  <a:txBody>
                    <a:bodyPr/>
                    <a:lstStyle/>
                    <a:p>
                      <a:r>
                        <a:rPr lang="en-US" altLang="zh-CN" dirty="0"/>
                        <a:t>Load case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Force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Target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CAE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Status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718984"/>
                  </a:ext>
                </a:extLst>
              </a:tr>
              <a:tr h="121634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rgbClr val="002733"/>
                          </a:solidFill>
                        </a:rPr>
                        <a:t>1.1.3 </a:t>
                      </a:r>
                      <a:r>
                        <a:rPr lang="en-US" altLang="zh-CN" dirty="0">
                          <a:solidFill>
                            <a:srgbClr val="002733"/>
                          </a:solidFill>
                        </a:rPr>
                        <a:t>Radial elasticity: </a:t>
                      </a:r>
                      <a:r>
                        <a:rPr lang="en-US" altLang="zh-CN" sz="1800" dirty="0">
                          <a:solidFill>
                            <a:srgbClr val="002733"/>
                          </a:solidFill>
                        </a:rPr>
                        <a:t>MQT with steering column in body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-Z600N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Dis&lt;2.4mm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2.06mm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OK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216575"/>
                  </a:ext>
                </a:extLst>
              </a:tr>
              <a:tr h="121634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-Y250N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Dis&lt;1.5mm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0.55mm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OK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166800"/>
                  </a:ext>
                </a:extLst>
              </a:tr>
            </a:tbl>
          </a:graphicData>
        </a:graphic>
      </p:graphicFrame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0599981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>
                <a:solidFill>
                  <a:srgbClr val="002733"/>
                </a:solidFill>
              </a:rPr>
              <a:t>1.1.3 Radial elasticity: MQT with steering column in body </a:t>
            </a:r>
            <a:r>
              <a:rPr lang="en-US" dirty="0"/>
              <a:t>results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92EA65E-4C00-D034-B78D-9C4D5B3ED3AD}"/>
              </a:ext>
            </a:extLst>
          </p:cNvPr>
          <p:cNvGrpSpPr/>
          <p:nvPr/>
        </p:nvGrpSpPr>
        <p:grpSpPr>
          <a:xfrm>
            <a:off x="7378223" y="2034590"/>
            <a:ext cx="4169496" cy="3422652"/>
            <a:chOff x="7248531" y="2434008"/>
            <a:chExt cx="4169496" cy="342265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B1D4428-A88C-F3E1-3DB7-A93BEB271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48531" y="2434008"/>
              <a:ext cx="4169496" cy="3422652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F2ADF52-C46A-BAB4-DED9-844F0228B07C}"/>
                </a:ext>
              </a:extLst>
            </p:cNvPr>
            <p:cNvSpPr txBox="1"/>
            <p:nvPr/>
          </p:nvSpPr>
          <p:spPr>
            <a:xfrm>
              <a:off x="9041369" y="4006834"/>
              <a:ext cx="79829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rgbClr val="7030A0"/>
                  </a:solidFill>
                </a:rPr>
                <a:t>-Y=250N</a:t>
              </a:r>
              <a:endParaRPr lang="zh-CN" altLang="en-US" sz="1800" dirty="0" err="1">
                <a:solidFill>
                  <a:srgbClr val="7030A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E846D26-EB90-300C-0EA0-525C4EBFFCB2}"/>
                </a:ext>
              </a:extLst>
            </p:cNvPr>
            <p:cNvSpPr txBox="1"/>
            <p:nvPr/>
          </p:nvSpPr>
          <p:spPr>
            <a:xfrm>
              <a:off x="8247882" y="4477829"/>
              <a:ext cx="79348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rgbClr val="C709B9"/>
                  </a:solidFill>
                </a:rPr>
                <a:t>-Z=600N</a:t>
              </a:r>
              <a:endParaRPr lang="zh-CN" altLang="en-US" sz="1800" dirty="0" err="1">
                <a:solidFill>
                  <a:srgbClr val="C709B9"/>
                </a:solidFill>
              </a:endParaRPr>
            </a:p>
          </p:txBody>
        </p:sp>
      </p:grpSp>
      <p:grpSp>
        <p:nvGrpSpPr>
          <p:cNvPr id="22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33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7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8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0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1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1291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9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Boundary condition &amp; Load case 1.2.1 review</a:t>
            </a:r>
            <a:endParaRPr lang="en-US" altLang="zh-CN" dirty="0">
              <a:solidFill>
                <a:srgbClr val="002733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399E41-F0EA-0DB0-2C22-F43AF5F35013}"/>
              </a:ext>
            </a:extLst>
          </p:cNvPr>
          <p:cNvSpPr txBox="1"/>
          <p:nvPr/>
        </p:nvSpPr>
        <p:spPr>
          <a:xfrm>
            <a:off x="658821" y="2945257"/>
            <a:ext cx="58826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Displacement:</a:t>
            </a:r>
            <a:r>
              <a:rPr lang="pt-BR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Z=1mm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Direction: Normal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23℃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Force&gt;110N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DFDD35-E09F-759A-5670-B4E042DF0455}"/>
              </a:ext>
            </a:extLst>
          </p:cNvPr>
          <p:cNvSpPr txBox="1"/>
          <p:nvPr/>
        </p:nvSpPr>
        <p:spPr>
          <a:xfrm>
            <a:off x="478801" y="2008552"/>
            <a:ext cx="7293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2400" dirty="0">
                <a:solidFill>
                  <a:srgbClr val="002733"/>
                </a:solidFill>
              </a:rPr>
              <a:t>1.2.1 Deflection: Load at center of MQT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5A3D93A-6796-4270-A111-AAA8304C2366}"/>
              </a:ext>
            </a:extLst>
          </p:cNvPr>
          <p:cNvSpPr txBox="1"/>
          <p:nvPr/>
        </p:nvSpPr>
        <p:spPr>
          <a:xfrm>
            <a:off x="4467225" y="6118624"/>
            <a:ext cx="714568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zh-CN" sz="1400" dirty="0"/>
              <a:t>Constrain </a:t>
            </a:r>
            <a:r>
              <a:rPr lang="en-US" altLang="zh-CN" sz="1400" dirty="0" err="1"/>
              <a:t>d.o.f</a:t>
            </a:r>
            <a:r>
              <a:rPr lang="en-US" altLang="zh-CN" sz="1400" dirty="0"/>
              <a:t> 12356 on the bolt-on points between car cross beam and BIW</a:t>
            </a:r>
            <a:endParaRPr lang="zh-CN" alt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4044041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358" y="2432856"/>
            <a:ext cx="3844855" cy="2869151"/>
          </a:xfrm>
          <a:prstGeom prst="rect">
            <a:avLst/>
          </a:prstGeom>
        </p:spPr>
      </p:pic>
      <p:graphicFrame>
        <p:nvGraphicFramePr>
          <p:cNvPr id="16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25" imgH="426" progId="TCLayout.ActiveDocument.1">
                  <p:embed/>
                </p:oleObj>
              </mc:Choice>
              <mc:Fallback>
                <p:oleObj name="think-cell 幻灯片" r:id="rId4" imgW="425" imgH="426" progId="TCLayout.ActiveDocument.1">
                  <p:embed/>
                  <p:pic>
                    <p:nvPicPr>
                      <p:cNvPr id="16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10</a:t>
            </a:fld>
            <a:endParaRPr lang="en-GB" noProof="0" dirty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74789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1.2.1 </a:t>
            </a:r>
            <a:r>
              <a:rPr lang="en-US" altLang="zh-CN" dirty="0">
                <a:solidFill>
                  <a:srgbClr val="002733"/>
                </a:solidFill>
              </a:rPr>
              <a:t>Steering column on rigid plate</a:t>
            </a:r>
            <a:endParaRPr lang="en-US" dirty="0"/>
          </a:p>
          <a:p>
            <a:r>
              <a:rPr lang="en-US" dirty="0"/>
              <a:t>Result in detail</a:t>
            </a:r>
          </a:p>
        </p:txBody>
      </p:sp>
      <p:sp>
        <p:nvSpPr>
          <p:cNvPr id="45" name="Title 44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7D4A5518-DB30-D59B-E43A-6F6F5EED08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42757" y="5718958"/>
            <a:ext cx="11122313" cy="697389"/>
          </a:xfrm>
        </p:spPr>
        <p:txBody>
          <a:bodyPr/>
          <a:lstStyle/>
          <a:p>
            <a:r>
              <a:rPr lang="en-US" altLang="zh-CN" dirty="0"/>
              <a:t>The center of MQT is deformed 1mm when loaded 125N.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A2A0B6-C366-B466-B206-3BDFDB055D23}"/>
              </a:ext>
            </a:extLst>
          </p:cNvPr>
          <p:cNvSpPr txBox="1"/>
          <p:nvPr/>
        </p:nvSpPr>
        <p:spPr>
          <a:xfrm>
            <a:off x="407988" y="1844675"/>
            <a:ext cx="2783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2400" dirty="0">
                <a:solidFill>
                  <a:srgbClr val="002733"/>
                </a:solidFill>
              </a:rPr>
              <a:t>Force = 125N</a:t>
            </a:r>
          </a:p>
        </p:txBody>
      </p:sp>
    </p:spTree>
    <p:extLst>
      <p:ext uri="{BB962C8B-B14F-4D97-AF65-F5344CB8AC3E}">
        <p14:creationId xmlns:p14="http://schemas.microsoft.com/office/powerpoint/2010/main" val="1342995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11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Boundary condition &amp; Load case 1.3.1 review</a:t>
            </a:r>
            <a:endParaRPr lang="en-US" altLang="zh-CN" dirty="0">
              <a:solidFill>
                <a:srgbClr val="002733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399E41-F0EA-0DB0-2C22-F43AF5F35013}"/>
              </a:ext>
            </a:extLst>
          </p:cNvPr>
          <p:cNvSpPr txBox="1"/>
          <p:nvPr/>
        </p:nvSpPr>
        <p:spPr>
          <a:xfrm>
            <a:off x="658821" y="2945257"/>
            <a:ext cx="5882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Force:-X/-Y/-Z=1000N 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Direction: Local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23℃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DFDD35-E09F-759A-5670-B4E042DF0455}"/>
              </a:ext>
            </a:extLst>
          </p:cNvPr>
          <p:cNvSpPr txBox="1"/>
          <p:nvPr/>
        </p:nvSpPr>
        <p:spPr>
          <a:xfrm>
            <a:off x="478801" y="2008552"/>
            <a:ext cx="78563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1.3.1 Static stiffness of the bolt-on points: Body-in-white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858153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12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dirty="0"/>
              <a:t>The target need to be determined after internal discussion.</a:t>
            </a:r>
          </a:p>
        </p:txBody>
      </p:sp>
      <p:sp>
        <p:nvSpPr>
          <p:cNvPr id="45" name="Table Placeholder 44"/>
          <p:cNvSpPr>
            <a:spLocks noGrp="1"/>
          </p:cNvSpPr>
          <p:nvPr>
            <p:ph type="tbl" sz="quarter" idx="4294967295"/>
          </p:nvPr>
        </p:nvSpPr>
        <p:spPr>
          <a:xfrm>
            <a:off x="526426" y="1964724"/>
            <a:ext cx="6529282" cy="3550551"/>
          </a:xfrm>
        </p:spPr>
        <p:txBody>
          <a:bodyPr/>
          <a:lstStyle/>
          <a:p>
            <a:endParaRPr lang="en-US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1.3.1 Static stiffness of the bolt-on points: Body-in-white r</a:t>
            </a:r>
            <a:r>
              <a:rPr lang="en-US" dirty="0"/>
              <a:t>esults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8F137830-FCA9-4B77-B0BE-AE036E7340A2}"/>
              </a:ext>
            </a:extLst>
          </p:cNvPr>
          <p:cNvGraphicFramePr>
            <a:graphicFrameLocks noGrp="1"/>
          </p:cNvGraphicFramePr>
          <p:nvPr/>
        </p:nvGraphicFramePr>
        <p:xfrm>
          <a:off x="526426" y="1950359"/>
          <a:ext cx="6522593" cy="3564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682">
                  <a:extLst>
                    <a:ext uri="{9D8B030D-6E8A-4147-A177-3AD203B41FA5}">
                      <a16:colId xmlns:a16="http://schemas.microsoft.com/office/drawing/2014/main" val="1066757399"/>
                    </a:ext>
                  </a:extLst>
                </a:gridCol>
                <a:gridCol w="847203">
                  <a:extLst>
                    <a:ext uri="{9D8B030D-6E8A-4147-A177-3AD203B41FA5}">
                      <a16:colId xmlns:a16="http://schemas.microsoft.com/office/drawing/2014/main" val="3852319873"/>
                    </a:ext>
                  </a:extLst>
                </a:gridCol>
                <a:gridCol w="1186781">
                  <a:extLst>
                    <a:ext uri="{9D8B030D-6E8A-4147-A177-3AD203B41FA5}">
                      <a16:colId xmlns:a16="http://schemas.microsoft.com/office/drawing/2014/main" val="2755515232"/>
                    </a:ext>
                  </a:extLst>
                </a:gridCol>
                <a:gridCol w="918982">
                  <a:extLst>
                    <a:ext uri="{9D8B030D-6E8A-4147-A177-3AD203B41FA5}">
                      <a16:colId xmlns:a16="http://schemas.microsoft.com/office/drawing/2014/main" val="2523105084"/>
                    </a:ext>
                  </a:extLst>
                </a:gridCol>
                <a:gridCol w="947107">
                  <a:extLst>
                    <a:ext uri="{9D8B030D-6E8A-4147-A177-3AD203B41FA5}">
                      <a16:colId xmlns:a16="http://schemas.microsoft.com/office/drawing/2014/main" val="2706033162"/>
                    </a:ext>
                  </a:extLst>
                </a:gridCol>
                <a:gridCol w="1065919">
                  <a:extLst>
                    <a:ext uri="{9D8B030D-6E8A-4147-A177-3AD203B41FA5}">
                      <a16:colId xmlns:a16="http://schemas.microsoft.com/office/drawing/2014/main" val="3552745417"/>
                    </a:ext>
                  </a:extLst>
                </a:gridCol>
                <a:gridCol w="1065919">
                  <a:extLst>
                    <a:ext uri="{9D8B030D-6E8A-4147-A177-3AD203B41FA5}">
                      <a16:colId xmlns:a16="http://schemas.microsoft.com/office/drawing/2014/main" val="3101792106"/>
                    </a:ext>
                  </a:extLst>
                </a:gridCol>
              </a:tblGrid>
              <a:tr h="29156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No.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</a:rPr>
                        <a:t>Force</a:t>
                      </a:r>
                      <a:endParaRPr lang="zh-CN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Target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CAE</a:t>
                      </a:r>
                      <a:r>
                        <a:rPr lang="en-US" altLang="zh-CN" sz="1200" baseline="0" dirty="0"/>
                        <a:t> Result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939010"/>
                  </a:ext>
                </a:extLst>
              </a:tr>
              <a:tr h="2915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X(mm)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Y(mm)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Z(mm)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979483"/>
                  </a:ext>
                </a:extLst>
              </a:tr>
              <a:tr h="357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10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1000N</a:t>
                      </a:r>
                    </a:p>
                  </a:txBody>
                  <a:tcPr marT="108000" anchor="ctr"/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Displacement: TBD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0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0.24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10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0.32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108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108000" anchor="ctr"/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108000" anchor="ctr"/>
                </a:tc>
                <a:extLst>
                  <a:ext uri="{0D108BD9-81ED-4DB2-BD59-A6C34878D82A}">
                    <a16:rowId xmlns:a16="http://schemas.microsoft.com/office/drawing/2014/main" val="3408288714"/>
                  </a:ext>
                </a:extLst>
              </a:tr>
              <a:tr h="291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0.25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6855602"/>
                  </a:ext>
                </a:extLst>
              </a:tr>
              <a:tr h="291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0.25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0.26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559943"/>
                  </a:ext>
                </a:extLst>
              </a:tr>
              <a:tr h="291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0.25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0.32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317051"/>
                  </a:ext>
                </a:extLst>
              </a:tr>
              <a:tr h="291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0.91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0.09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0.27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867958"/>
                  </a:ext>
                </a:extLst>
              </a:tr>
              <a:tr h="291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0.81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0.14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0.17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562238"/>
                  </a:ext>
                </a:extLst>
              </a:tr>
              <a:tr h="291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7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0.25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247679"/>
                  </a:ext>
                </a:extLst>
              </a:tr>
              <a:tr h="291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8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0.21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0.27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832271"/>
                  </a:ext>
                </a:extLst>
              </a:tr>
              <a:tr h="291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9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0.19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0.27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764725"/>
                  </a:ext>
                </a:extLst>
              </a:tr>
              <a:tr h="291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0.20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0.25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822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607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13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Boundary condition &amp; Load case 1.3.2 review</a:t>
            </a:r>
            <a:endParaRPr lang="en-US" altLang="zh-CN" dirty="0">
              <a:solidFill>
                <a:srgbClr val="002733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399E41-F0EA-0DB0-2C22-F43AF5F35013}"/>
              </a:ext>
            </a:extLst>
          </p:cNvPr>
          <p:cNvSpPr txBox="1"/>
          <p:nvPr/>
        </p:nvSpPr>
        <p:spPr>
          <a:xfrm>
            <a:off x="605595" y="2726127"/>
            <a:ext cx="49795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Force:-X/-Y/</a:t>
            </a:r>
            <a:r>
              <a:rPr lang="pt-BR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Z=150N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Direction: Local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23℃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Sfast_x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≤ 1.5mm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Stran: ≤ 3.0mm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Sunload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≤0.5mm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DFDD35-E09F-759A-5670-B4E042DF0455}"/>
              </a:ext>
            </a:extLst>
          </p:cNvPr>
          <p:cNvSpPr txBox="1"/>
          <p:nvPr/>
        </p:nvSpPr>
        <p:spPr>
          <a:xfrm>
            <a:off x="478801" y="2008552"/>
            <a:ext cx="78563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2400" dirty="0">
                <a:solidFill>
                  <a:srgbClr val="002733"/>
                </a:solidFill>
              </a:rPr>
              <a:t>1.3.2 Static stiffness of the bolt-on points: MQT in rigid frame</a:t>
            </a:r>
          </a:p>
        </p:txBody>
      </p:sp>
    </p:spTree>
    <p:extLst>
      <p:ext uri="{BB962C8B-B14F-4D97-AF65-F5344CB8AC3E}">
        <p14:creationId xmlns:p14="http://schemas.microsoft.com/office/powerpoint/2010/main" val="2457855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14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dirty="0"/>
              <a:t>All points can meet the target.</a:t>
            </a:r>
          </a:p>
        </p:txBody>
      </p:sp>
      <p:graphicFrame>
        <p:nvGraphicFramePr>
          <p:cNvPr id="93" name="表格占位符 92">
            <a:extLst>
              <a:ext uri="{FF2B5EF4-FFF2-40B4-BE49-F238E27FC236}">
                <a16:creationId xmlns:a16="http://schemas.microsoft.com/office/drawing/2014/main" id="{C3226A22-3B22-A491-00CF-2DD6DFB36443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527050" y="1965325"/>
          <a:ext cx="6529384" cy="358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173">
                  <a:extLst>
                    <a:ext uri="{9D8B030D-6E8A-4147-A177-3AD203B41FA5}">
                      <a16:colId xmlns:a16="http://schemas.microsoft.com/office/drawing/2014/main" val="4072189527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835762678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916387441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672812044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3782377439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1352601058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580287882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3264626192"/>
                    </a:ext>
                  </a:extLst>
                </a:gridCol>
              </a:tblGrid>
              <a:tr h="255824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Point number</a:t>
                      </a:r>
                      <a:endParaRPr lang="zh-CN" altLang="en-US" sz="900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CAE Result</a:t>
                      </a: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Status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825219"/>
                  </a:ext>
                </a:extLst>
              </a:tr>
              <a:tr h="255824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150N</a:t>
                      </a: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367009"/>
                  </a:ext>
                </a:extLst>
              </a:tr>
              <a:tr h="255824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/>
                        <a:t>Sfast_x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/>
                        <a:t>Sunload_x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Stran1_y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err="1"/>
                        <a:t>Sunload_y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Stran2_z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err="1"/>
                        <a:t>Sunload_z</a:t>
                      </a:r>
                      <a:endParaRPr lang="zh-CN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32520"/>
                  </a:ext>
                </a:extLst>
              </a:tr>
              <a:tr h="255824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</a:t>
                      </a:r>
                      <a:r>
                        <a:rPr lang="en-US" altLang="zh-CN" sz="900" dirty="0"/>
                        <a:t>1.5mm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≤3.0</a:t>
                      </a:r>
                      <a:r>
                        <a:rPr lang="en-US" altLang="zh-CN" sz="900"/>
                        <a:t>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≤3.0</a:t>
                      </a:r>
                      <a:r>
                        <a:rPr lang="en-US" altLang="zh-CN" sz="900"/>
                        <a:t>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34190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0.18mm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0.07mm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78286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0.01mm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0.04mm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61655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0.01mm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997480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0.06mm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0.07mm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67638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0.76mm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0.54mm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527146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A6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0.28mm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028605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0.31mm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896985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0.37mm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013762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A9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0.07mm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0.18mm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69873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A10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0.59mm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367909"/>
                  </a:ext>
                </a:extLst>
              </a:tr>
            </a:tbl>
          </a:graphicData>
        </a:graphic>
      </p:graphicFrame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>
                <a:solidFill>
                  <a:srgbClr val="002733"/>
                </a:solidFill>
              </a:rPr>
              <a:t>1.3.2 Static stiffness of the bolt-on points: MQT in rigid frame </a:t>
            </a:r>
            <a:r>
              <a:rPr lang="en-US" altLang="zh-CN" dirty="0"/>
              <a:t>results overview</a:t>
            </a:r>
            <a:endParaRPr lang="en-US" dirty="0"/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22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33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7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8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0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1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0547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15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dirty="0"/>
              <a:t>All points can meet the target.</a:t>
            </a:r>
          </a:p>
        </p:txBody>
      </p:sp>
      <p:graphicFrame>
        <p:nvGraphicFramePr>
          <p:cNvPr id="93" name="表格占位符 92">
            <a:extLst>
              <a:ext uri="{FF2B5EF4-FFF2-40B4-BE49-F238E27FC236}">
                <a16:creationId xmlns:a16="http://schemas.microsoft.com/office/drawing/2014/main" id="{C3226A22-3B22-A491-00CF-2DD6DFB36443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527050" y="1965325"/>
          <a:ext cx="6529384" cy="358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173">
                  <a:extLst>
                    <a:ext uri="{9D8B030D-6E8A-4147-A177-3AD203B41FA5}">
                      <a16:colId xmlns:a16="http://schemas.microsoft.com/office/drawing/2014/main" val="4072189527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835762678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916387441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672812044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3782377439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1352601058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580287882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3264626192"/>
                    </a:ext>
                  </a:extLst>
                </a:gridCol>
              </a:tblGrid>
              <a:tr h="255824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Point number</a:t>
                      </a:r>
                      <a:endParaRPr lang="zh-CN" altLang="en-US" sz="900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CAE Result</a:t>
                      </a: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Status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825219"/>
                  </a:ext>
                </a:extLst>
              </a:tr>
              <a:tr h="255824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150N</a:t>
                      </a: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367009"/>
                  </a:ext>
                </a:extLst>
              </a:tr>
              <a:tr h="255824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/>
                        <a:t>Sfast_x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/>
                        <a:t>Sunload_x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Stran1_y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err="1"/>
                        <a:t>Sunload_y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Stran2_z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err="1"/>
                        <a:t>Sunload_z</a:t>
                      </a:r>
                      <a:endParaRPr lang="zh-CN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32520"/>
                  </a:ext>
                </a:extLst>
              </a:tr>
              <a:tr h="255824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</a:t>
                      </a:r>
                      <a:r>
                        <a:rPr lang="en-US" altLang="zh-CN" sz="900" dirty="0"/>
                        <a:t>1.5mm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≤3.0</a:t>
                      </a:r>
                      <a:r>
                        <a:rPr lang="en-US" altLang="zh-CN" sz="900"/>
                        <a:t>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≤3.0</a:t>
                      </a:r>
                      <a:r>
                        <a:rPr lang="en-US" altLang="zh-CN" sz="900"/>
                        <a:t>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34190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A11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0.09mm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0.17mm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78286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A12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0.04mm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61655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A13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997480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A14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0.63mm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0.16mm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67638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A15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0.28mm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0.05mm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0.03mm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527146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A16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0.29mm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0.06mm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0.07mm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028605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A17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0.88mm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0.14mm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1.34mm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896985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A18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0.28mm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0.09mm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013762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A19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0.08mm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69873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A20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0.08mm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0.07mm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367909"/>
                  </a:ext>
                </a:extLst>
              </a:tr>
            </a:tbl>
          </a:graphicData>
        </a:graphic>
      </p:graphicFrame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>
                <a:solidFill>
                  <a:srgbClr val="002733"/>
                </a:solidFill>
              </a:rPr>
              <a:t>1.3.2 Static stiffness of the bolt-on points: MQT in rigid frame </a:t>
            </a:r>
            <a:r>
              <a:rPr lang="en-US" altLang="zh-CN" dirty="0"/>
              <a:t>results overview</a:t>
            </a:r>
            <a:endParaRPr lang="en-US" dirty="0"/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22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33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7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8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0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1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9322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16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dirty="0"/>
              <a:t>All points can meet the target.</a:t>
            </a:r>
          </a:p>
        </p:txBody>
      </p:sp>
      <p:graphicFrame>
        <p:nvGraphicFramePr>
          <p:cNvPr id="93" name="表格占位符 92">
            <a:extLst>
              <a:ext uri="{FF2B5EF4-FFF2-40B4-BE49-F238E27FC236}">
                <a16:creationId xmlns:a16="http://schemas.microsoft.com/office/drawing/2014/main" id="{C3226A22-3B22-A491-00CF-2DD6DFB36443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527050" y="1965325"/>
          <a:ext cx="6529384" cy="358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173">
                  <a:extLst>
                    <a:ext uri="{9D8B030D-6E8A-4147-A177-3AD203B41FA5}">
                      <a16:colId xmlns:a16="http://schemas.microsoft.com/office/drawing/2014/main" val="4072189527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835762678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916387441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672812044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3782377439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1352601058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580287882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3264626192"/>
                    </a:ext>
                  </a:extLst>
                </a:gridCol>
              </a:tblGrid>
              <a:tr h="255824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Point number</a:t>
                      </a:r>
                      <a:endParaRPr lang="zh-CN" altLang="en-US" sz="900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CAE Result</a:t>
                      </a: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Status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825219"/>
                  </a:ext>
                </a:extLst>
              </a:tr>
              <a:tr h="255824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150N</a:t>
                      </a: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367009"/>
                  </a:ext>
                </a:extLst>
              </a:tr>
              <a:tr h="255824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/>
                        <a:t>Sfast_x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/>
                        <a:t>Sunload_x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Stran1_y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err="1"/>
                        <a:t>Sunload_y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Stran2_z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err="1"/>
                        <a:t>Sunload_z</a:t>
                      </a:r>
                      <a:endParaRPr lang="zh-CN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32520"/>
                  </a:ext>
                </a:extLst>
              </a:tr>
              <a:tr h="255824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</a:t>
                      </a:r>
                      <a:r>
                        <a:rPr lang="en-US" altLang="zh-CN" sz="900" dirty="0"/>
                        <a:t>1.5mm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≤3.0</a:t>
                      </a:r>
                      <a:r>
                        <a:rPr lang="en-US" altLang="zh-CN" sz="900"/>
                        <a:t>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≤3.0</a:t>
                      </a:r>
                      <a:r>
                        <a:rPr lang="en-US" altLang="zh-CN" sz="900"/>
                        <a:t>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34190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B1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1.47mm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0.01mm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0.72mm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0.04mm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78286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B2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1.33mm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0.48mm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61655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D1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0.88mm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0.08mm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0.08mm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997480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D2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0.07mm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0.06mm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67638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D3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0.12mm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0.06mm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0.03mm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527146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D4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0.10mm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0.06mm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0.05mm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028605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D5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0.30mm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0.12mm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0.00mm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0.09mm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896985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E1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1.38mm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2.62mm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013762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F1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0.01mm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69873"/>
                  </a:ext>
                </a:extLst>
              </a:tr>
              <a:tr h="255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F2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367909"/>
                  </a:ext>
                </a:extLst>
              </a:tr>
            </a:tbl>
          </a:graphicData>
        </a:graphic>
      </p:graphicFrame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>
                <a:solidFill>
                  <a:srgbClr val="002733"/>
                </a:solidFill>
              </a:rPr>
              <a:t>1.3.2 Static stiffness of the bolt-on points: MQT in rigid frame </a:t>
            </a:r>
            <a:r>
              <a:rPr lang="en-US" altLang="zh-CN" dirty="0"/>
              <a:t>results overview</a:t>
            </a:r>
            <a:endParaRPr lang="en-US" dirty="0"/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33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34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8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4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4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2996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17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dirty="0"/>
              <a:t>All points can meet the target.</a:t>
            </a:r>
          </a:p>
        </p:txBody>
      </p:sp>
      <p:graphicFrame>
        <p:nvGraphicFramePr>
          <p:cNvPr id="93" name="表格占位符 92">
            <a:extLst>
              <a:ext uri="{FF2B5EF4-FFF2-40B4-BE49-F238E27FC236}">
                <a16:creationId xmlns:a16="http://schemas.microsoft.com/office/drawing/2014/main" id="{C3226A22-3B22-A491-00CF-2DD6DFB36443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527050" y="1965325"/>
          <a:ext cx="6529384" cy="2507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173">
                  <a:extLst>
                    <a:ext uri="{9D8B030D-6E8A-4147-A177-3AD203B41FA5}">
                      <a16:colId xmlns:a16="http://schemas.microsoft.com/office/drawing/2014/main" val="4072189527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835762678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916387441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2672812044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3782377439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1352601058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580287882"/>
                    </a:ext>
                  </a:extLst>
                </a:gridCol>
                <a:gridCol w="816173">
                  <a:extLst>
                    <a:ext uri="{9D8B030D-6E8A-4147-A177-3AD203B41FA5}">
                      <a16:colId xmlns:a16="http://schemas.microsoft.com/office/drawing/2014/main" val="3264626192"/>
                    </a:ext>
                  </a:extLst>
                </a:gridCol>
              </a:tblGrid>
              <a:tr h="358153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Point number</a:t>
                      </a:r>
                      <a:endParaRPr lang="zh-CN" altLang="en-US" sz="900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CAE Result</a:t>
                      </a: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Status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825219"/>
                  </a:ext>
                </a:extLst>
              </a:tr>
              <a:tr h="358153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150N</a:t>
                      </a: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367009"/>
                  </a:ext>
                </a:extLst>
              </a:tr>
              <a:tr h="358153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/>
                        <a:t>Sfast_x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/>
                        <a:t>Sunload_x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Stran1_y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err="1"/>
                        <a:t>Sunload_y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Stran2_z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err="1"/>
                        <a:t>Sunload_z</a:t>
                      </a:r>
                      <a:endParaRPr lang="zh-CN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32520"/>
                  </a:ext>
                </a:extLst>
              </a:tr>
              <a:tr h="358153"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</a:t>
                      </a:r>
                      <a:r>
                        <a:rPr lang="en-US" altLang="zh-CN" sz="900" dirty="0"/>
                        <a:t>1.5mm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≤3.0</a:t>
                      </a:r>
                      <a:r>
                        <a:rPr lang="en-US" altLang="zh-CN" sz="900"/>
                        <a:t>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≤3.0</a:t>
                      </a:r>
                      <a:r>
                        <a:rPr lang="en-US" altLang="zh-CN" sz="900"/>
                        <a:t>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Dis</a:t>
                      </a:r>
                      <a:r>
                        <a:rPr lang="en-US" altLang="zh-C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≤0</a:t>
                      </a:r>
                      <a:r>
                        <a:rPr lang="en-US" altLang="zh-CN" sz="900" dirty="0"/>
                        <a:t>.5mm</a:t>
                      </a:r>
                      <a:endParaRPr lang="zh-CN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34190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F3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0.11mm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0.02mm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0.04mm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78286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F4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0.05mm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0.04mm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0.01mm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61655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H1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0.08mm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0.03mm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0.00mm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OK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997480"/>
                  </a:ext>
                </a:extLst>
              </a:tr>
            </a:tbl>
          </a:graphicData>
        </a:graphic>
      </p:graphicFrame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720197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>
                <a:solidFill>
                  <a:srgbClr val="002733"/>
                </a:solidFill>
              </a:rPr>
              <a:t>1.3.2 Static stiffness of the bolt-on points: MQT </a:t>
            </a:r>
            <a:r>
              <a:rPr lang="en-US" altLang="zh-CN" dirty="0">
                <a:solidFill>
                  <a:srgbClr val="FFFFFF"/>
                </a:solidFill>
              </a:rPr>
              <a:t>NOK</a:t>
            </a:r>
            <a:endParaRPr lang="zh-CN" altLang="zh-CN" b="0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2733"/>
                </a:solidFill>
              </a:rPr>
              <a:t>in rigid frame </a:t>
            </a:r>
            <a:r>
              <a:rPr lang="en-US" altLang="zh-CN" dirty="0"/>
              <a:t>results overview</a:t>
            </a:r>
            <a:endParaRPr lang="en-US" dirty="0"/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33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34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8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4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4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316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18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Boundary condition &amp; Load case 2.1.1 review</a:t>
            </a:r>
            <a:endParaRPr lang="en-US" altLang="zh-CN" dirty="0">
              <a:solidFill>
                <a:srgbClr val="002733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399E41-F0EA-0DB0-2C22-F43AF5F35013}"/>
              </a:ext>
            </a:extLst>
          </p:cNvPr>
          <p:cNvSpPr txBox="1"/>
          <p:nvPr/>
        </p:nvSpPr>
        <p:spPr>
          <a:xfrm>
            <a:off x="658821" y="2945257"/>
            <a:ext cx="5882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/>
              <a:t>Constrained modal analysis, based on Boundary condition. 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/>
              <a:t>Target:&gt;50Hz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DFDD35-E09F-759A-5670-B4E042DF0455}"/>
              </a:ext>
            </a:extLst>
          </p:cNvPr>
          <p:cNvSpPr txBox="1"/>
          <p:nvPr/>
        </p:nvSpPr>
        <p:spPr>
          <a:xfrm>
            <a:off x="478801" y="2008552"/>
            <a:ext cx="73363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2400" dirty="0"/>
              <a:t>2.1.1 </a:t>
            </a:r>
            <a:r>
              <a:rPr lang="en-US" altLang="zh-CN" sz="2400" dirty="0"/>
              <a:t>Natural frequencies and mode shapes :Steering column on rigid plate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319252-F679-4950-9637-426CC258AEF7}"/>
              </a:ext>
            </a:extLst>
          </p:cNvPr>
          <p:cNvSpPr txBox="1"/>
          <p:nvPr/>
        </p:nvSpPr>
        <p:spPr>
          <a:xfrm>
            <a:off x="4580052" y="6127158"/>
            <a:ext cx="707174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zh-CN" sz="1400" dirty="0"/>
              <a:t>Bound the bolt-on points between car cross beam and steering column</a:t>
            </a:r>
            <a:endParaRPr lang="zh-CN" alt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1592377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526426" y="1955335"/>
          <a:ext cx="6529284" cy="3560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321">
                  <a:extLst>
                    <a:ext uri="{9D8B030D-6E8A-4147-A177-3AD203B41FA5}">
                      <a16:colId xmlns:a16="http://schemas.microsoft.com/office/drawing/2014/main" val="2431682139"/>
                    </a:ext>
                  </a:extLst>
                </a:gridCol>
                <a:gridCol w="1632321">
                  <a:extLst>
                    <a:ext uri="{9D8B030D-6E8A-4147-A177-3AD203B41FA5}">
                      <a16:colId xmlns:a16="http://schemas.microsoft.com/office/drawing/2014/main" val="4065600253"/>
                    </a:ext>
                  </a:extLst>
                </a:gridCol>
                <a:gridCol w="1632321">
                  <a:extLst>
                    <a:ext uri="{9D8B030D-6E8A-4147-A177-3AD203B41FA5}">
                      <a16:colId xmlns:a16="http://schemas.microsoft.com/office/drawing/2014/main" val="3749091553"/>
                    </a:ext>
                  </a:extLst>
                </a:gridCol>
                <a:gridCol w="1632321">
                  <a:extLst>
                    <a:ext uri="{9D8B030D-6E8A-4147-A177-3AD203B41FA5}">
                      <a16:colId xmlns:a16="http://schemas.microsoft.com/office/drawing/2014/main" val="2845340286"/>
                    </a:ext>
                  </a:extLst>
                </a:gridCol>
              </a:tblGrid>
              <a:tr h="4497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Modal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Frequency(Hz)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Modal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Direction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709206"/>
                  </a:ext>
                </a:extLst>
              </a:tr>
              <a:tr h="321275"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marT="108000"/>
                </a:tc>
                <a:extLst>
                  <a:ext uri="{0D108BD9-81ED-4DB2-BD59-A6C34878D82A}">
                    <a16:rowId xmlns:a16="http://schemas.microsoft.com/office/drawing/2014/main" val="2540482488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60.891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Global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135°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136147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3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61.664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Global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45°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738269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177.381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Global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Y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70802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203.718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Global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Z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354865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6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246.810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Global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45°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475504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7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265.421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Global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X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570080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8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325.765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Local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85358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370.001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Local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315075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383.639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Global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135°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065446"/>
                  </a:ext>
                </a:extLst>
              </a:tr>
            </a:tbl>
          </a:graphicData>
        </a:graphic>
      </p:graphicFrame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19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endParaRPr lang="en-US" altLang="zh-CN" sz="1600" dirty="0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747897"/>
          </a:xfrm>
        </p:spPr>
        <p:txBody>
          <a:bodyPr>
            <a:normAutofit fontScale="92500" lnSpcReduction="10000"/>
          </a:bodyPr>
          <a:lstStyle/>
          <a:p>
            <a:r>
              <a:rPr lang="de-DE" altLang="zh-CN" dirty="0"/>
              <a:t>2.1.1 </a:t>
            </a:r>
            <a:r>
              <a:rPr lang="en-US" altLang="zh-CN" dirty="0"/>
              <a:t>Natural frequencies and mode shapes :Steering column on rigid plate </a:t>
            </a:r>
            <a:r>
              <a:rPr lang="en-US" dirty="0"/>
              <a:t>results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0957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20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Boundary condition &amp; Load case 2.1.2 review</a:t>
            </a:r>
            <a:endParaRPr lang="en-US" altLang="zh-CN" dirty="0">
              <a:solidFill>
                <a:srgbClr val="002733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399E41-F0EA-0DB0-2C22-F43AF5F35013}"/>
              </a:ext>
            </a:extLst>
          </p:cNvPr>
          <p:cNvSpPr txBox="1"/>
          <p:nvPr/>
        </p:nvSpPr>
        <p:spPr>
          <a:xfrm>
            <a:off x="658821" y="2945257"/>
            <a:ext cx="588265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/>
              <a:t>Constrained modal analysis, based on Boundary condition. 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/>
              <a:t>Target:&gt;42Hz</a:t>
            </a:r>
            <a:r>
              <a:rPr lang="en-US" altLang="zh-CN" sz="1800" dirty="0"/>
              <a:t>.</a:t>
            </a:r>
          </a:p>
          <a:p>
            <a:pPr marL="171450" indent="-171450">
              <a:buFont typeface="Wingdings" panose="05000000000000000000" charset="0"/>
              <a:buChar char="l"/>
            </a:pPr>
            <a:endParaRPr lang="en-US" altLang="zh-CN" sz="1800" dirty="0"/>
          </a:p>
          <a:p>
            <a:pPr marL="171450" indent="-171450">
              <a:buFont typeface="Wingdings" panose="05000000000000000000" charset="0"/>
              <a:buChar char="l"/>
            </a:pPr>
            <a:endParaRPr lang="en-US" altLang="zh-CN" sz="2000" dirty="0"/>
          </a:p>
          <a:p>
            <a:pPr marL="171450" indent="-171450">
              <a:buFont typeface="Wingdings" panose="05000000000000000000" charset="0"/>
              <a:buChar char="l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DFDD35-E09F-759A-5670-B4E042DF0455}"/>
              </a:ext>
            </a:extLst>
          </p:cNvPr>
          <p:cNvSpPr txBox="1"/>
          <p:nvPr/>
        </p:nvSpPr>
        <p:spPr>
          <a:xfrm>
            <a:off x="478801" y="2008552"/>
            <a:ext cx="73363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2400" dirty="0"/>
              <a:t>2.1.2 </a:t>
            </a:r>
            <a:r>
              <a:rPr lang="en-US" altLang="zh-CN" sz="2400" dirty="0"/>
              <a:t>Natural frequencies and mode shapes : MQT with steering column in rigid frame</a:t>
            </a:r>
          </a:p>
        </p:txBody>
      </p:sp>
      <p:sp>
        <p:nvSpPr>
          <p:cNvPr id="11" name="文本框 6">
            <a:extLst>
              <a:ext uri="{FF2B5EF4-FFF2-40B4-BE49-F238E27FC236}">
                <a16:creationId xmlns:a16="http://schemas.microsoft.com/office/drawing/2014/main" id="{305EFEF2-FF4A-41A9-8DED-ABAF939FD6B0}"/>
              </a:ext>
            </a:extLst>
          </p:cNvPr>
          <p:cNvSpPr txBox="1"/>
          <p:nvPr/>
        </p:nvSpPr>
        <p:spPr>
          <a:xfrm>
            <a:off x="6703976" y="6070526"/>
            <a:ext cx="52392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zh-CN" sz="1400" dirty="0"/>
              <a:t>Bound the bolt-on points between car cross beam and BIW</a:t>
            </a:r>
            <a:endParaRPr lang="zh-CN" alt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446260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526426" y="1955335"/>
          <a:ext cx="6529284" cy="3560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321">
                  <a:extLst>
                    <a:ext uri="{9D8B030D-6E8A-4147-A177-3AD203B41FA5}">
                      <a16:colId xmlns:a16="http://schemas.microsoft.com/office/drawing/2014/main" val="2431682139"/>
                    </a:ext>
                  </a:extLst>
                </a:gridCol>
                <a:gridCol w="1632321">
                  <a:extLst>
                    <a:ext uri="{9D8B030D-6E8A-4147-A177-3AD203B41FA5}">
                      <a16:colId xmlns:a16="http://schemas.microsoft.com/office/drawing/2014/main" val="4065600253"/>
                    </a:ext>
                  </a:extLst>
                </a:gridCol>
                <a:gridCol w="1632321">
                  <a:extLst>
                    <a:ext uri="{9D8B030D-6E8A-4147-A177-3AD203B41FA5}">
                      <a16:colId xmlns:a16="http://schemas.microsoft.com/office/drawing/2014/main" val="3749091553"/>
                    </a:ext>
                  </a:extLst>
                </a:gridCol>
                <a:gridCol w="1632321">
                  <a:extLst>
                    <a:ext uri="{9D8B030D-6E8A-4147-A177-3AD203B41FA5}">
                      <a16:colId xmlns:a16="http://schemas.microsoft.com/office/drawing/2014/main" val="2845340286"/>
                    </a:ext>
                  </a:extLst>
                </a:gridCol>
              </a:tblGrid>
              <a:tr h="4497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Modal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Frequency(Hz)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Modal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Direction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709206"/>
                  </a:ext>
                </a:extLst>
              </a:tr>
              <a:tr h="3212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0.158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Local</a:t>
                      </a:r>
                      <a:endParaRPr lang="zh-CN" altLang="en-US" sz="1100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 marT="108000"/>
                </a:tc>
                <a:extLst>
                  <a:ext uri="{0D108BD9-81ED-4DB2-BD59-A6C34878D82A}">
                    <a16:rowId xmlns:a16="http://schemas.microsoft.com/office/drawing/2014/main" val="2540482488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45.778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Global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Z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136147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3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55.650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Global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Y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738269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106.902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Local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70802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126.202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Global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X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354865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6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136.858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Local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475504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7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157.718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Local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570080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8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174.445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Local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85358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181.389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Local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315075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190.201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Global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180°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065446"/>
                  </a:ext>
                </a:extLst>
              </a:tr>
            </a:tbl>
          </a:graphicData>
        </a:graphic>
      </p:graphicFrame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21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endParaRPr lang="en-US" altLang="zh-CN" sz="1600" dirty="0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0644711" cy="720197"/>
          </a:xfrm>
        </p:spPr>
        <p:txBody>
          <a:bodyPr>
            <a:normAutofit fontScale="92500" lnSpcReduction="20000"/>
          </a:bodyPr>
          <a:lstStyle/>
          <a:p>
            <a:r>
              <a:rPr lang="de-DE" altLang="zh-CN" dirty="0"/>
              <a:t>2.1.2 </a:t>
            </a:r>
            <a:r>
              <a:rPr lang="en-US" altLang="zh-CN" dirty="0"/>
              <a:t>Natural frequencies and mode shapes : MQT with steering column in rigid frame results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4658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22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Boundary condition &amp; Load case 2.1.3 review</a:t>
            </a:r>
            <a:endParaRPr lang="en-US" altLang="zh-CN" dirty="0">
              <a:solidFill>
                <a:srgbClr val="002733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399E41-F0EA-0DB0-2C22-F43AF5F35013}"/>
              </a:ext>
            </a:extLst>
          </p:cNvPr>
          <p:cNvSpPr txBox="1"/>
          <p:nvPr/>
        </p:nvSpPr>
        <p:spPr>
          <a:xfrm>
            <a:off x="658821" y="2945257"/>
            <a:ext cx="58826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/>
              <a:t>Constrained modal analysis, based on Boundary condition. 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/>
              <a:t>Target:&gt;36Hz.</a:t>
            </a:r>
          </a:p>
          <a:p>
            <a:pPr marL="171450" indent="-171450">
              <a:buFont typeface="Wingdings" panose="05000000000000000000" charset="0"/>
              <a:buChar char="l"/>
            </a:pPr>
            <a:endParaRPr lang="en-US" altLang="zh-CN" sz="2000" dirty="0"/>
          </a:p>
          <a:p>
            <a:pPr marL="171450" indent="-171450">
              <a:buFont typeface="Wingdings" panose="05000000000000000000" charset="0"/>
              <a:buChar char="l"/>
            </a:pPr>
            <a:endParaRPr lang="en-US" altLang="zh-CN" sz="2000" dirty="0"/>
          </a:p>
          <a:p>
            <a:pPr marL="171450" indent="-171450">
              <a:buFont typeface="Wingdings" panose="05000000000000000000" charset="0"/>
              <a:buChar char="l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DFDD35-E09F-759A-5670-B4E042DF0455}"/>
              </a:ext>
            </a:extLst>
          </p:cNvPr>
          <p:cNvSpPr txBox="1"/>
          <p:nvPr/>
        </p:nvSpPr>
        <p:spPr>
          <a:xfrm>
            <a:off x="478801" y="2008552"/>
            <a:ext cx="73363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2400" dirty="0"/>
              <a:t>2.1.3 </a:t>
            </a:r>
            <a:r>
              <a:rPr lang="en-US" altLang="zh-CN" sz="2400" dirty="0"/>
              <a:t>Natural frequencies and mode shapes : MQT with steering column in body </a:t>
            </a:r>
          </a:p>
        </p:txBody>
      </p:sp>
      <p:sp>
        <p:nvSpPr>
          <p:cNvPr id="11" name="文本框 6">
            <a:extLst>
              <a:ext uri="{FF2B5EF4-FFF2-40B4-BE49-F238E27FC236}">
                <a16:creationId xmlns:a16="http://schemas.microsoft.com/office/drawing/2014/main" id="{DE126B67-0E91-4D90-8309-303A762157F6}"/>
              </a:ext>
            </a:extLst>
          </p:cNvPr>
          <p:cNvSpPr txBox="1"/>
          <p:nvPr/>
        </p:nvSpPr>
        <p:spPr>
          <a:xfrm>
            <a:off x="6766119" y="6038754"/>
            <a:ext cx="52392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zh-CN" sz="1400" dirty="0"/>
              <a:t>Bound the bolt-on points between BIW and Suspension </a:t>
            </a:r>
            <a:endParaRPr lang="zh-CN" altLang="en-US" sz="1400" dirty="0" err="1"/>
          </a:p>
        </p:txBody>
      </p:sp>
    </p:spTree>
    <p:extLst>
      <p:ext uri="{BB962C8B-B14F-4D97-AF65-F5344CB8AC3E}">
        <p14:creationId xmlns:p14="http://schemas.microsoft.com/office/powerpoint/2010/main" val="1987607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23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endParaRPr lang="en-US" altLang="zh-CN" sz="1600" dirty="0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720197"/>
          </a:xfrm>
        </p:spPr>
        <p:txBody>
          <a:bodyPr>
            <a:normAutofit fontScale="92500" lnSpcReduction="20000"/>
          </a:bodyPr>
          <a:lstStyle/>
          <a:p>
            <a:r>
              <a:rPr lang="de-DE" altLang="zh-CN" dirty="0"/>
              <a:t>2.1.3 </a:t>
            </a:r>
            <a:r>
              <a:rPr lang="en-US" altLang="zh-CN" dirty="0"/>
              <a:t>Natural frequencies and mode shapes : MQT with steering column in body results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A01_MQT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AD86B42-B896-D065-99DE-708374139096}"/>
              </a:ext>
            </a:extLst>
          </p:cNvPr>
          <p:cNvGraphicFramePr>
            <a:graphicFrameLocks noGrp="1"/>
          </p:cNvGraphicFramePr>
          <p:nvPr/>
        </p:nvGraphicFramePr>
        <p:xfrm>
          <a:off x="526426" y="1955335"/>
          <a:ext cx="6529284" cy="3560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636">
                  <a:extLst>
                    <a:ext uri="{9D8B030D-6E8A-4147-A177-3AD203B41FA5}">
                      <a16:colId xmlns:a16="http://schemas.microsoft.com/office/drawing/2014/main" val="2431682139"/>
                    </a:ext>
                  </a:extLst>
                </a:gridCol>
                <a:gridCol w="1723292">
                  <a:extLst>
                    <a:ext uri="{9D8B030D-6E8A-4147-A177-3AD203B41FA5}">
                      <a16:colId xmlns:a16="http://schemas.microsoft.com/office/drawing/2014/main" val="4065600253"/>
                    </a:ext>
                  </a:extLst>
                </a:gridCol>
                <a:gridCol w="2543908">
                  <a:extLst>
                    <a:ext uri="{9D8B030D-6E8A-4147-A177-3AD203B41FA5}">
                      <a16:colId xmlns:a16="http://schemas.microsoft.com/office/drawing/2014/main" val="3749091553"/>
                    </a:ext>
                  </a:extLst>
                </a:gridCol>
                <a:gridCol w="1182448">
                  <a:extLst>
                    <a:ext uri="{9D8B030D-6E8A-4147-A177-3AD203B41FA5}">
                      <a16:colId xmlns:a16="http://schemas.microsoft.com/office/drawing/2014/main" val="2845340286"/>
                    </a:ext>
                  </a:extLst>
                </a:gridCol>
              </a:tblGrid>
              <a:tr h="4497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Modal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Frequency(Hz)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Modal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Direction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709206"/>
                  </a:ext>
                </a:extLst>
              </a:tr>
              <a:tr h="321275"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0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08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 marT="108000" anchor="ctr"/>
                </a:tc>
                <a:extLst>
                  <a:ext uri="{0D108BD9-81ED-4DB2-BD59-A6C34878D82A}">
                    <a16:rowId xmlns:a16="http://schemas.microsoft.com/office/drawing/2014/main" val="2540482488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136147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738269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370802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37.962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Local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Z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354865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6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40.287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Global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135°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475504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7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44.673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Global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45°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570080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8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46.760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Local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Y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885358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48.771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Local(Rear bumper bracket)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45°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315075"/>
                  </a:ext>
                </a:extLst>
              </a:tr>
              <a:tr h="3098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51.715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Global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/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065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1556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0ff92c5-92ff-43fe-a760-6a9303f9073d}" enabled="1" method="Standard" siteId="{1272ef7d-0a4c-4c35-8f4b-416e283c5d59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1736</Words>
  <Application>Microsoft Office PowerPoint</Application>
  <PresentationFormat>Widescreen</PresentationFormat>
  <Paragraphs>727</Paragraphs>
  <Slides>23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主题​​</vt:lpstr>
      <vt:lpstr>PowerPoint Presentation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  <vt:lpstr>A01_MQT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Qiao, Shihao (VCTC-EKAI)</dc:creator>
  <cp:lastModifiedBy>Qiao, Shihao (VCTC-EKAI)</cp:lastModifiedBy>
  <cp:revision>4</cp:revision>
  <dcterms:created xsi:type="dcterms:W3CDTF">2026-04-14T06:31:25Z</dcterms:created>
  <dcterms:modified xsi:type="dcterms:W3CDTF">2026-04-20T02:07:26Z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主题​​:9</vt:lpwstr>
  </property>
  <property fmtid="{D5CDD505-2E9C-101B-9397-08002B2CF9AE}" pid="3" name="ClassificationContentMarkingFooterText">
    <vt:lpwstr>INTERNAL</vt:lpwstr>
  </property>
</Properties>
</file>