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147481331" r:id="rId2"/>
    <p:sldId id="2147481764" r:id="rId3"/>
    <p:sldId id="2147481765" r:id="rId4"/>
    <p:sldId id="2147481766" r:id="rId5"/>
    <p:sldId id="2147481767" r:id="rId6"/>
    <p:sldId id="2147481768" r:id="rId7"/>
    <p:sldId id="2147481770" r:id="rId8"/>
    <p:sldId id="2147481771" r:id="rId9"/>
    <p:sldId id="2147481772" r:id="rId10"/>
    <p:sldId id="2147481773" r:id="rId11"/>
    <p:sldId id="2147481774" r:id="rId12"/>
    <p:sldId id="2147481775" r:id="rId13"/>
    <p:sldId id="2147481753" r:id="rId14"/>
    <p:sldId id="2147481754" r:id="rId15"/>
    <p:sldId id="2147481905" r:id="rId16"/>
    <p:sldId id="2147481747" r:id="rId17"/>
    <p:sldId id="2147481879" r:id="rId18"/>
    <p:sldId id="2147481783" r:id="rId19"/>
    <p:sldId id="2147481784" r:id="rId20"/>
    <p:sldId id="2147481901" r:id="rId21"/>
    <p:sldId id="2147481903" r:id="rId22"/>
    <p:sldId id="2147481904" r:id="rId23"/>
    <p:sldId id="2147481703" r:id="rId24"/>
    <p:sldId id="2147481833" r:id="rId25"/>
    <p:sldId id="2147481848" r:id="rId26"/>
    <p:sldId id="214748186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E009630-6C25-4A5A-9E76-F840534E2353}">
          <p14:sldIdLst/>
        </p14:section>
        <p14:section name="PRESENTATION" id="{704D60C4-1F58-4045-9824-A751DF7B4B41}">
          <p14:sldIdLst>
            <p14:sldId id="2147481331"/>
          </p14:sldIdLst>
        </p14:section>
        <p14:section name="1.1. Static dashboard compression test" id="{29FB14E6-DBC6-409E-900B-D93637B7F426}">
          <p14:sldIdLst>
            <p14:sldId id="2147481764"/>
            <p14:sldId id="2147481765"/>
            <p14:sldId id="2147481766"/>
            <p14:sldId id="2147481767"/>
          </p14:sldIdLst>
        </p14:section>
        <p14:section name="1.2. Static pressure test of FID and ABT" id="{30F99BC8-4B45-4346-89A8-85D53E987630}">
          <p14:sldIdLst>
            <p14:sldId id="2147481768"/>
            <p14:sldId id="2147481770"/>
            <p14:sldId id="2147481771"/>
            <p14:sldId id="2147481772"/>
            <p14:sldId id="2147481773"/>
          </p14:sldIdLst>
        </p14:section>
        <p14:section name="1.3. Static glove compartment compression test" id="{24132F13-8D38-4FB6-82D7-7BD3FB7A4826}">
          <p14:sldIdLst>
            <p14:sldId id="2147481774"/>
            <p14:sldId id="2147481775"/>
          </p14:sldIdLst>
        </p14:section>
        <p14:section name="2.1 Head Impact" id="{DFCE7260-5216-4D32-96E9-A0E765972C73}">
          <p14:sldIdLst>
            <p14:sldId id="2147481753"/>
            <p14:sldId id="2147481754"/>
            <p14:sldId id="2147481905"/>
          </p14:sldIdLst>
        </p14:section>
        <p14:section name="3.1 NVH analysis" id="{716E1635-D1BF-4D2E-82A3-1029D70EFE09}">
          <p14:sldIdLst>
            <p14:sldId id="2147481747"/>
            <p14:sldId id="2147481879"/>
          </p14:sldIdLst>
        </p14:section>
        <p14:section name="3.4 Rear Impact" id="{F17DE79C-8688-4765-ADE0-0746F6314296}">
          <p14:sldIdLst>
            <p14:sldId id="2147481783"/>
            <p14:sldId id="2147481784"/>
          </p14:sldIdLst>
        </p14:section>
        <p14:section name="3.6 Image stability of FID and ABT" id="{8401CFF6-BCF4-4E04-83BB-1BA236137A90}">
          <p14:sldIdLst>
            <p14:sldId id="2147481901"/>
            <p14:sldId id="2147481903"/>
            <p14:sldId id="2147481904"/>
          </p14:sldIdLst>
        </p14:section>
        <p14:section name="3.7 PAB Deployment" id="{241FDA8A-3AC2-4030-BAA0-A297076EDD4D}">
          <p14:sldIdLst>
            <p14:sldId id="2147481703"/>
            <p14:sldId id="2147481833"/>
            <p14:sldId id="2147481848"/>
            <p14:sldId id="21474818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B55F-0ED4-4B96-9D26-4FE9349119EB}" type="datetimeFigureOut">
              <a:rPr lang="de-DE" smtClean="0"/>
              <a:t>19.04.2026</a:t>
            </a:fld>
            <a:endParaRPr lang="de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de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40064-7425-4C81-98E3-66105C253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96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298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C8282-A460-DD95-D340-2951A776B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EA1431-7D61-3702-6107-F4E737B3F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FD8C2-8210-63A6-5E46-62F3DECD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DCBCC2-BBB8-FC24-E8D4-324CFCB13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4D4B4E-A8C9-4F34-04E8-68195225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8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FD1F7-65C4-A993-9B3F-BAE776D4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BFCE8-F4FC-792D-073E-F242F107F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14C05-0C2B-5C83-44B0-969D5F6A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C809E-E091-D302-1BF0-39860AC2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84E4E6-42B7-825A-A875-35D9BE16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93A7C-AC03-9242-940A-DCC1C14D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48860A-4DD0-9138-11C0-C867FA8A5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DF3A2-07F4-70CD-3D3B-B0A571C0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6E25F8-03B9-676E-FF4B-BCE08DF9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1993B7-4F87-85C3-8759-E2F610D3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23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9FC56-37FA-B81A-1151-7C1FDA721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4F27E-B4BD-A5BB-E8D0-CA117E2EE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1346A5-7581-9EAB-7EFB-591DD287C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B754A9-74EE-3263-7897-207C79D4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E0AAB6-1086-DFEB-D7FE-2FFDFED1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1AC317-05D2-3D18-0654-6EEB43BB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7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58A3E-CD61-AAA9-F8F6-31D91BD8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8623F-5150-EA59-3DCF-82FB155A6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8D5592-6FCD-4171-B188-D27A62E38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51D7FA-6AE0-59DC-C5D9-21605E6E7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F78F1A-B622-57D9-FB7A-4B50B5097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FEC6F4-8988-6047-6FA3-3FEDD3A6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A08EF6-A153-3E8A-25DC-BE2B1579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41D9EE-16EA-E2B8-A106-4FCA61C0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2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E1531-0B91-906D-E2F9-E37A4F09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1240DF-6867-C238-50BD-4EFA4BAA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CC5872-515C-2D44-06CA-6487A662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28C94A-EB6B-4C95-B197-6F3EA01E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1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C9C010-40A8-C1DE-8E3A-5F869FCF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EEEB8A-527B-1F2D-4C8F-67381ADB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836C69-95F0-6B38-EAA4-A99F5AD7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9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60784-3E55-5B45-C067-E4B8C4FB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87F6D-64B1-AC39-9D1E-4EDB522D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1E6F7F-2DB9-071F-4B08-31418CF63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610AF9-4310-7A47-EF13-1DC9086F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C07800-8626-041C-A24B-4EC1CCF0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2A3358-FFD8-33A1-4B6F-A464877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2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48CE3-EFE3-05B4-4FBF-FB8AE658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5BA939-AD8D-848B-C26C-3D13033F2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5265B0-0700-E1B2-3B23-2CA5FF146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206724-213A-F7CB-01B7-C26A739F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F549D1-22DE-5C51-A589-FB88A4F2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50D2D-49AA-CFA4-C0A4-23A913A1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9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B46B3-D5F0-7F63-76D5-E5701185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B6F4A3-3D28-A14D-69C7-1D18D6C13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6C9FC-4570-7948-8597-4EFBEE71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5A7F0-56D6-5333-1559-09505901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14BC1-6A59-A5F0-882C-EC69618D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787986-A09B-2A97-FE3C-189C7FAAA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7A45A7-15B1-711F-5716-4BB95BE47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81773-4C86-AC58-85AD-A49F8847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67134-27B4-15E6-047F-639CF5D6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EA3A5-9CC2-11D0-2FED-A3E505F1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61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1034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840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6824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Mgmt-Zusammenfassung (ohne Bild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8826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833988C-DB2B-3BFA-150B-BB0D0090B258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51852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95" imgH="394" progId="TCLayout.ActiveDocument.1">
                  <p:embed/>
                </p:oleObj>
              </mc:Choice>
              <mc:Fallback>
                <p:oleObj name="think-cell 幻灯片" r:id="rId17" imgW="395" imgH="394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33988C-DB2B-3BFA-150B-BB0D0090B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C523CD-2E65-3973-68D5-9D556FF1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D3B7FB-C957-E5F8-B699-B3573DEA0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67452-B773-B4FF-4A31-6A1A613D4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84BB6-106A-4DB4-8EB3-13D9F0A799C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C28F2-2C95-0197-4608-793FB0566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1CFF3-B16F-4036-517E-1547C449B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916BF-B181-43F1-9E21-280036AE027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A38F0E-D0C4-8F13-F05F-532BB21D1C4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458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4" Type="http://schemas.openxmlformats.org/officeDocument/2006/relationships/image" Target="../media/image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4" Type="http://schemas.openxmlformats.org/officeDocument/2006/relationships/image" Target="../media/image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25" imgH="426" progId="TCLayout.ActiveDocument.1">
                  <p:embed/>
                </p:oleObj>
              </mc:Choice>
              <mc:Fallback>
                <p:oleObj name="think-cell 幻灯片" r:id="rId4" imgW="425" imgH="426" progId="TCLayout.ActiveDocument.1">
                  <p:embed/>
                  <p:pic>
                    <p:nvPicPr>
                      <p:cNvPr id="8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All load case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8801" y="1863686"/>
          <a:ext cx="11143704" cy="45633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22285">
                  <a:extLst>
                    <a:ext uri="{9D8B030D-6E8A-4147-A177-3AD203B41FA5}">
                      <a16:colId xmlns:a16="http://schemas.microsoft.com/office/drawing/2014/main" val="1318071878"/>
                    </a:ext>
                  </a:extLst>
                </a:gridCol>
                <a:gridCol w="1710340">
                  <a:extLst>
                    <a:ext uri="{9D8B030D-6E8A-4147-A177-3AD203B41FA5}">
                      <a16:colId xmlns:a16="http://schemas.microsoft.com/office/drawing/2014/main" val="1975162907"/>
                    </a:ext>
                  </a:extLst>
                </a:gridCol>
                <a:gridCol w="1435459">
                  <a:extLst>
                    <a:ext uri="{9D8B030D-6E8A-4147-A177-3AD203B41FA5}">
                      <a16:colId xmlns:a16="http://schemas.microsoft.com/office/drawing/2014/main" val="3183687047"/>
                    </a:ext>
                  </a:extLst>
                </a:gridCol>
                <a:gridCol w="3975620">
                  <a:extLst>
                    <a:ext uri="{9D8B030D-6E8A-4147-A177-3AD203B41FA5}">
                      <a16:colId xmlns:a16="http://schemas.microsoft.com/office/drawing/2014/main" val="2557891524"/>
                    </a:ext>
                  </a:extLst>
                </a:gridCol>
              </a:tblGrid>
              <a:tr h="32964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Load case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Remark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901866"/>
                  </a:ext>
                </a:extLst>
              </a:tr>
              <a:tr h="269711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1.1 Static dashboard compression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All of the points can</a:t>
                      </a:r>
                      <a:r>
                        <a:rPr lang="en-US" sz="1200" baseline="0" dirty="0"/>
                        <a:t> meet the target.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263420"/>
                  </a:ext>
                </a:extLst>
              </a:tr>
              <a:tr h="639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1.2 </a:t>
                      </a: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Static pressure test of FID and ABT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All of points can meet the displacement target, but when loading force is 400N, individual elements in FID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ABT and IP occurred plastic strain.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095470"/>
                  </a:ext>
                </a:extLst>
              </a:tr>
              <a:tr h="355112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1.3. Static glove compartment compression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The glove box is not damaged,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/>
                        <a:t>it can meet the target.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34255"/>
                  </a:ext>
                </a:extLst>
              </a:tr>
              <a:tr h="269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2.1</a:t>
                      </a:r>
                      <a:r>
                        <a:rPr lang="en-US" altLang="zh-CN" sz="1100" baseline="0" dirty="0">
                          <a:solidFill>
                            <a:srgbClr val="002733"/>
                          </a:solidFill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Head 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All of the points can meet the target. </a:t>
                      </a:r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55521"/>
                  </a:ext>
                </a:extLst>
              </a:tr>
              <a:tr h="269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3.1</a:t>
                      </a:r>
                      <a:r>
                        <a:rPr lang="en-US" altLang="zh-CN" sz="1100" baseline="0" dirty="0">
                          <a:solidFill>
                            <a:srgbClr val="002733"/>
                          </a:solidFill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NVH</a:t>
                      </a:r>
                      <a:r>
                        <a:rPr lang="en-US" altLang="zh-CN" sz="1100" baseline="0" dirty="0">
                          <a:solidFill>
                            <a:srgbClr val="002733"/>
                          </a:solidFill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analysis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1</a:t>
                      </a:r>
                      <a:r>
                        <a:rPr lang="en-US" altLang="zh-CN" sz="1200" baseline="30000" dirty="0"/>
                        <a:t>st</a:t>
                      </a:r>
                      <a:r>
                        <a:rPr lang="en-US" altLang="zh-CN" sz="1200" dirty="0"/>
                        <a:t> global modal of IP is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35.1</a:t>
                      </a:r>
                      <a:r>
                        <a:rPr lang="en-US" altLang="zh-CN" sz="1200" dirty="0"/>
                        <a:t> Hz &gt; 35Hz.</a:t>
                      </a:r>
                      <a:r>
                        <a:rPr lang="en-US" altLang="zh-CN" sz="1200" baseline="0" dirty="0"/>
                        <a:t> 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596663"/>
                  </a:ext>
                </a:extLst>
              </a:tr>
              <a:tr h="98894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3.4</a:t>
                      </a:r>
                      <a:r>
                        <a:rPr lang="en-US" altLang="zh-CN" sz="1100" baseline="0" dirty="0">
                          <a:solidFill>
                            <a:srgbClr val="002733"/>
                          </a:solidFill>
                        </a:rPr>
                        <a:t> </a:t>
                      </a:r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Rear impact 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The IP structure and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/>
                        <a:t>Wrap-around trim bracket is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/>
                        <a:t>complete, the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/>
                        <a:t>connection</a:t>
                      </a:r>
                      <a:r>
                        <a:rPr lang="en-US" altLang="zh-CN" sz="1200" baseline="0" dirty="0"/>
                        <a:t> points</a:t>
                      </a:r>
                      <a:r>
                        <a:rPr lang="en-US" altLang="zh-CN" sz="1200" dirty="0"/>
                        <a:t> between</a:t>
                      </a:r>
                      <a:r>
                        <a:rPr lang="en-US" altLang="zh-CN" sz="1200" baseline="0" dirty="0"/>
                        <a:t> IP and</a:t>
                      </a:r>
                      <a:r>
                        <a:rPr lang="en-US" altLang="zh-CN" sz="1200" dirty="0"/>
                        <a:t> CCB have not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fallen off</a:t>
                      </a:r>
                      <a:r>
                        <a:rPr lang="en-US" altLang="zh-CN" sz="1200" dirty="0"/>
                        <a:t>,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dirty="0"/>
                        <a:t>there are only individual </a:t>
                      </a:r>
                      <a:r>
                        <a:rPr lang="en-US" altLang="zh-CN" sz="1200" baseline="0" dirty="0"/>
                        <a:t>welding columns and ribs have detached, and there are no parts flying out.  </a:t>
                      </a:r>
                      <a:endParaRPr lang="zh-CN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232764"/>
                  </a:ext>
                </a:extLst>
              </a:tr>
              <a:tr h="26971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002733"/>
                          </a:solidFill>
                        </a:rPr>
                        <a:t>3.6. Image stability of FID</a:t>
                      </a:r>
                      <a:r>
                        <a:rPr lang="en-US" altLang="zh-CN" sz="1100" baseline="0" dirty="0">
                          <a:solidFill>
                            <a:srgbClr val="002733"/>
                          </a:solidFill>
                        </a:rPr>
                        <a:t> and ABT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All response points can meet the target,</a:t>
                      </a:r>
                      <a:r>
                        <a:rPr lang="en-US" altLang="zh-CN" sz="1200" baseline="0" dirty="0"/>
                        <a:t> </a:t>
                      </a:r>
                      <a:endParaRPr lang="en-US" altLang="zh-C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598914"/>
                  </a:ext>
                </a:extLst>
              </a:tr>
              <a:tr h="1129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3.7 PAB Deployment RT&amp;HT&amp;LT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Upper and</a:t>
                      </a:r>
                      <a:r>
                        <a:rPr lang="en-US" altLang="zh-CN" sz="1200" baseline="0" dirty="0"/>
                        <a:t> lower</a:t>
                      </a:r>
                      <a:r>
                        <a:rPr lang="en-US" altLang="zh-CN" sz="1200" dirty="0"/>
                        <a:t> bracket is complete at</a:t>
                      </a:r>
                      <a:r>
                        <a:rPr lang="en-US" altLang="zh-CN" sz="1200" baseline="0" dirty="0"/>
                        <a:t> RT</a:t>
                      </a:r>
                      <a:r>
                        <a:rPr lang="zh-CN" altLang="en-US" sz="1200" baseline="0" dirty="0"/>
                        <a:t>、</a:t>
                      </a:r>
                      <a:r>
                        <a:rPr lang="en-US" altLang="zh-CN" sz="1200" baseline="0" dirty="0"/>
                        <a:t>HT</a:t>
                      </a:r>
                      <a:r>
                        <a:rPr lang="zh-CN" altLang="en-US" sz="1200" baseline="0" dirty="0"/>
                        <a:t>、</a:t>
                      </a:r>
                      <a:r>
                        <a:rPr lang="en-US" altLang="zh-CN" sz="1200" baseline="0" dirty="0"/>
                        <a:t>LT, T</a:t>
                      </a:r>
                      <a:r>
                        <a:rPr lang="en-US" altLang="zh-CN" sz="1200" dirty="0"/>
                        <a:t>here are minor damage</a:t>
                      </a:r>
                      <a:r>
                        <a:rPr lang="en-US" altLang="zh-CN" sz="1200" baseline="0" dirty="0"/>
                        <a:t> in topp</a:t>
                      </a:r>
                      <a:r>
                        <a:rPr lang="en-US" altLang="zh-CN" sz="1200" dirty="0"/>
                        <a:t>er cover at </a:t>
                      </a:r>
                      <a:r>
                        <a:rPr lang="en-US" altLang="zh-CN" sz="1200" baseline="0" dirty="0"/>
                        <a:t>RT</a:t>
                      </a:r>
                      <a:r>
                        <a:rPr lang="zh-CN" altLang="en-US" sz="1200" baseline="0" dirty="0"/>
                        <a:t>、</a:t>
                      </a:r>
                      <a:r>
                        <a:rPr lang="en-US" altLang="zh-CN" sz="1200" baseline="0" dirty="0"/>
                        <a:t>HT</a:t>
                      </a:r>
                      <a:r>
                        <a:rPr lang="zh-CN" altLang="en-US" sz="1200" baseline="0" dirty="0"/>
                        <a:t>、</a:t>
                      </a:r>
                      <a:r>
                        <a:rPr lang="en-US" altLang="zh-CN" sz="1200" baseline="0" dirty="0"/>
                        <a:t>LT; </a:t>
                      </a:r>
                      <a:r>
                        <a:rPr lang="en-US" altLang="zh-CN" sz="1200" dirty="0"/>
                        <a:t>Speaker cover</a:t>
                      </a:r>
                      <a:r>
                        <a:rPr lang="zh-CN" altLang="en-US" sz="1200" dirty="0"/>
                        <a:t>、</a:t>
                      </a:r>
                      <a:r>
                        <a:rPr lang="en-US" altLang="zh-CN" sz="1200" dirty="0"/>
                        <a:t>air outlet trim panel and </a:t>
                      </a:r>
                      <a:r>
                        <a:rPr lang="en-US" altLang="zh-CN" sz="1200" dirty="0">
                          <a:solidFill>
                            <a:schemeClr val="tx2"/>
                          </a:solidFill>
                        </a:rPr>
                        <a:t>upper atmosphere light cover </a:t>
                      </a:r>
                      <a:r>
                        <a:rPr lang="en-US" altLang="zh-CN" sz="1200" dirty="0"/>
                        <a:t>have not </a:t>
                      </a:r>
                      <a:r>
                        <a:rPr lang="en-US" altLang="zh-CN" sz="1200" dirty="0">
                          <a:solidFill>
                            <a:schemeClr val="tx2"/>
                          </a:solidFill>
                        </a:rPr>
                        <a:t>fallen off,</a:t>
                      </a:r>
                      <a:r>
                        <a:rPr lang="en-US" altLang="zh-CN" sz="1200" dirty="0"/>
                        <a:t> and front glass has on failure at three temperatures.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573169"/>
                  </a:ext>
                </a:extLst>
              </a:tr>
            </a:tbl>
          </a:graphicData>
        </a:graphic>
      </p:graphicFrame>
      <p:sp>
        <p:nvSpPr>
          <p:cNvPr id="10" name="Footer Placeholder 9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11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12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16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17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8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9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2411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sz="1600" dirty="0"/>
              <a:t>All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dashboard compression test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879228"/>
          <a:ext cx="4864105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639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72885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83293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213576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32066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ASP01</a:t>
                      </a:r>
                      <a:endParaRPr lang="zh-CN" altLang="en-US" sz="12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Stiffness value&gt; 40N/mm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115.27N/mm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145.45N/mm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186.92N/mm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136.05N/mm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ASP05</a:t>
                      </a:r>
                      <a:endParaRPr lang="zh-CN" altLang="en-US" sz="1200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ø25mm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285.71N/mm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243.90N/mm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ASP07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220.99N/mm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ASP08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182.65N/mm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ASP09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191.39N/mm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ASP10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232.56N/mm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2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ASP11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400.00N/mm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57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he Group TEXT"/>
                          <a:ea typeface="+mn-ea"/>
                          <a:cs typeface="+mn-cs"/>
                        </a:rPr>
                        <a:t>248.45N/mm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he Group TEX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58566"/>
                  </a:ext>
                </a:extLst>
              </a:tr>
            </a:tbl>
          </a:graphicData>
        </a:graphic>
      </p:graphicFrame>
      <p:graphicFrame>
        <p:nvGraphicFramePr>
          <p:cNvPr id="57" name="表格占位符 10">
            <a:extLst>
              <a:ext uri="{FF2B5EF4-FFF2-40B4-BE49-F238E27FC236}">
                <a16:creationId xmlns:a16="http://schemas.microsoft.com/office/drawing/2014/main" id="{45CC939B-E58E-E833-0D48-29EC74A87B30}"/>
              </a:ext>
            </a:extLst>
          </p:cNvPr>
          <p:cNvGraphicFramePr>
            <a:graphicFrameLocks/>
          </p:cNvGraphicFramePr>
          <p:nvPr/>
        </p:nvGraphicFramePr>
        <p:xfrm>
          <a:off x="5447951" y="1900010"/>
          <a:ext cx="486410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963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62561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83293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22390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21742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ASP13</a:t>
                      </a:r>
                      <a:endParaRPr lang="zh-CN" altLang="en-US" sz="12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Stiffness value&gt; 40N/mm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141.34N/mm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158.10N/mm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213.90N/mm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30E7859-55C7-5FC5-C378-D4F5597E826D}"/>
              </a:ext>
            </a:extLst>
          </p:cNvPr>
          <p:cNvSpPr txBox="1"/>
          <p:nvPr/>
        </p:nvSpPr>
        <p:spPr>
          <a:xfrm>
            <a:off x="5894260" y="4760882"/>
            <a:ext cx="68701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ASP01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F3F229-23A3-A7AB-6C92-956C2EBD2BD0}"/>
              </a:ext>
            </a:extLst>
          </p:cNvPr>
          <p:cNvSpPr txBox="1"/>
          <p:nvPr/>
        </p:nvSpPr>
        <p:spPr>
          <a:xfrm>
            <a:off x="5814448" y="4473805"/>
            <a:ext cx="76682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ASP02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D1BBF8-FA71-ED4F-BDAD-0AAABC132C06}"/>
              </a:ext>
            </a:extLst>
          </p:cNvPr>
          <p:cNvSpPr txBox="1"/>
          <p:nvPr/>
        </p:nvSpPr>
        <p:spPr>
          <a:xfrm>
            <a:off x="7485759" y="4780318"/>
            <a:ext cx="65142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ASP04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A24E9C-20AD-6D8C-B21A-7EB1F8ECD866}"/>
              </a:ext>
            </a:extLst>
          </p:cNvPr>
          <p:cNvSpPr txBox="1"/>
          <p:nvPr/>
        </p:nvSpPr>
        <p:spPr>
          <a:xfrm>
            <a:off x="9023009" y="4915585"/>
            <a:ext cx="66862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ASP05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9C237F-E1C8-11F2-4050-48526517BBD7}"/>
              </a:ext>
            </a:extLst>
          </p:cNvPr>
          <p:cNvSpPr txBox="1"/>
          <p:nvPr/>
        </p:nvSpPr>
        <p:spPr>
          <a:xfrm>
            <a:off x="9524500" y="4967934"/>
            <a:ext cx="65709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ASP06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22423F-E9A5-6DA0-8C70-81CE75C63818}"/>
              </a:ext>
            </a:extLst>
          </p:cNvPr>
          <p:cNvSpPr txBox="1"/>
          <p:nvPr/>
        </p:nvSpPr>
        <p:spPr>
          <a:xfrm>
            <a:off x="9741290" y="4752952"/>
            <a:ext cx="596861" cy="1699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ASP07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15FB69-99D2-DC57-6C42-E7282250B762}"/>
              </a:ext>
            </a:extLst>
          </p:cNvPr>
          <p:cNvSpPr txBox="1"/>
          <p:nvPr/>
        </p:nvSpPr>
        <p:spPr>
          <a:xfrm>
            <a:off x="10013641" y="4958398"/>
            <a:ext cx="72421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ASP08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49D91-8661-4311-1B5F-F56F6D1A7D8E}"/>
              </a:ext>
            </a:extLst>
          </p:cNvPr>
          <p:cNvSpPr txBox="1"/>
          <p:nvPr/>
        </p:nvSpPr>
        <p:spPr>
          <a:xfrm>
            <a:off x="10387803" y="4814382"/>
            <a:ext cx="71828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ASP09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A76ACC-5CE0-D4B5-0F41-99A8B7EB2CC6}"/>
              </a:ext>
            </a:extLst>
          </p:cNvPr>
          <p:cNvSpPr txBox="1"/>
          <p:nvPr/>
        </p:nvSpPr>
        <p:spPr>
          <a:xfrm>
            <a:off x="10787508" y="4922897"/>
            <a:ext cx="684241" cy="1707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ASP10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759404-85C1-7300-0A59-6921772E27F9}"/>
              </a:ext>
            </a:extLst>
          </p:cNvPr>
          <p:cNvSpPr txBox="1"/>
          <p:nvPr/>
        </p:nvSpPr>
        <p:spPr>
          <a:xfrm>
            <a:off x="9358951" y="4577210"/>
            <a:ext cx="64242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ASP11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38E847-CDA0-E585-46F9-81677691A346}"/>
              </a:ext>
            </a:extLst>
          </p:cNvPr>
          <p:cNvSpPr txBox="1"/>
          <p:nvPr/>
        </p:nvSpPr>
        <p:spPr>
          <a:xfrm>
            <a:off x="10145669" y="4548202"/>
            <a:ext cx="61549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ASP12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2A33DE-D3BA-CEFA-4B0F-7232BF75517D}"/>
              </a:ext>
            </a:extLst>
          </p:cNvPr>
          <p:cNvSpPr txBox="1"/>
          <p:nvPr/>
        </p:nvSpPr>
        <p:spPr>
          <a:xfrm>
            <a:off x="10761163" y="4629275"/>
            <a:ext cx="55113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ASP13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DB3521-2450-A61E-93CE-4C3C12995306}"/>
              </a:ext>
            </a:extLst>
          </p:cNvPr>
          <p:cNvSpPr txBox="1"/>
          <p:nvPr/>
        </p:nvSpPr>
        <p:spPr>
          <a:xfrm>
            <a:off x="10787509" y="4389166"/>
            <a:ext cx="64352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ASP14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5198F0-F1F7-FD4A-7E7C-24EA99DFDF5F}"/>
              </a:ext>
            </a:extLst>
          </p:cNvPr>
          <p:cNvSpPr txBox="1"/>
          <p:nvPr/>
        </p:nvSpPr>
        <p:spPr>
          <a:xfrm>
            <a:off x="10588965" y="4180324"/>
            <a:ext cx="842073" cy="1733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ASP15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0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sz="1600" dirty="0"/>
              <a:t>All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dashboard compression test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4864105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524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153885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21181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ASP16</a:t>
                      </a:r>
                      <a:endParaRPr lang="zh-CN" altLang="en-US" sz="1200" dirty="0"/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Stiffness value&gt; 30N/mm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545.45/mm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428.57N/mm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ASP18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428.57N/mm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ASP19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370.37N/mm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ASP20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789.47N/mm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ASP21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1304.48N/mm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750.00N/mm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857.14N</a:t>
                      </a:r>
                      <a:r>
                        <a:rPr lang="en-US" altLang="zh-CN" sz="1200" dirty="0"/>
                        <a:t>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157.07N/mm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600.00N/mm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2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638.30N/mm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57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ASP27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85.96N/mm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58566"/>
                  </a:ext>
                </a:extLst>
              </a:tr>
            </a:tbl>
          </a:graphicData>
        </a:graphic>
      </p:graphicFrame>
      <p:graphicFrame>
        <p:nvGraphicFramePr>
          <p:cNvPr id="57" name="表格占位符 10">
            <a:extLst>
              <a:ext uri="{FF2B5EF4-FFF2-40B4-BE49-F238E27FC236}">
                <a16:creationId xmlns:a16="http://schemas.microsoft.com/office/drawing/2014/main" id="{45CC939B-E58E-E833-0D48-29EC74A87B30}"/>
              </a:ext>
            </a:extLst>
          </p:cNvPr>
          <p:cNvGraphicFramePr>
            <a:graphicFrameLocks/>
          </p:cNvGraphicFramePr>
          <p:nvPr/>
        </p:nvGraphicFramePr>
        <p:xfrm>
          <a:off x="5447951" y="1900010"/>
          <a:ext cx="4864105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439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91383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121229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43513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ASP28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Stiffness value&gt; 30N/mm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87.72N/mm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7532293-8260-1785-F967-B6A149A51C47}"/>
              </a:ext>
            </a:extLst>
          </p:cNvPr>
          <p:cNvSpPr txBox="1"/>
          <p:nvPr/>
        </p:nvSpPr>
        <p:spPr>
          <a:xfrm>
            <a:off x="5505237" y="3903000"/>
            <a:ext cx="59509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ASP16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9" name="文本框 34">
            <a:extLst>
              <a:ext uri="{FF2B5EF4-FFF2-40B4-BE49-F238E27FC236}">
                <a16:creationId xmlns:a16="http://schemas.microsoft.com/office/drawing/2014/main" id="{690D2A94-D3C0-B251-BEB4-329E4F1AF16B}"/>
              </a:ext>
            </a:extLst>
          </p:cNvPr>
          <p:cNvSpPr/>
          <p:nvPr/>
        </p:nvSpPr>
        <p:spPr>
          <a:xfrm>
            <a:off x="11333686" y="3989518"/>
            <a:ext cx="207996" cy="305131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51"/>
              </a:spcAft>
            </a:pPr>
            <a:r>
              <a:rPr lang="en-US" sz="2000" b="1" strike="noStrike" spc="-1" dirty="0">
                <a:solidFill>
                  <a:srgbClr val="000000"/>
                </a:solidFill>
                <a:latin typeface="VWAG TheSans"/>
              </a:rPr>
              <a:t>II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940FEE-3AA8-1A61-DFC6-742387DF421E}"/>
              </a:ext>
            </a:extLst>
          </p:cNvPr>
          <p:cNvSpPr txBox="1"/>
          <p:nvPr/>
        </p:nvSpPr>
        <p:spPr>
          <a:xfrm>
            <a:off x="6100330" y="3967101"/>
            <a:ext cx="7215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ASP17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3CC457-B5BC-35A3-846C-B1FB5C57C4FD}"/>
              </a:ext>
            </a:extLst>
          </p:cNvPr>
          <p:cNvSpPr txBox="1"/>
          <p:nvPr/>
        </p:nvSpPr>
        <p:spPr>
          <a:xfrm>
            <a:off x="6453031" y="3655688"/>
            <a:ext cx="5652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ASP18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FFFBD1-4A5A-D421-8A08-5D929354B962}"/>
              </a:ext>
            </a:extLst>
          </p:cNvPr>
          <p:cNvSpPr txBox="1"/>
          <p:nvPr/>
        </p:nvSpPr>
        <p:spPr>
          <a:xfrm>
            <a:off x="7066532" y="3632605"/>
            <a:ext cx="63121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ASP19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7A4C46-7C0C-95B7-5708-6700ADDB148D}"/>
              </a:ext>
            </a:extLst>
          </p:cNvPr>
          <p:cNvSpPr txBox="1"/>
          <p:nvPr/>
        </p:nvSpPr>
        <p:spPr>
          <a:xfrm>
            <a:off x="7501368" y="3797156"/>
            <a:ext cx="61696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ASP20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021ED4-8BE2-E94A-B0A6-FA7F800D467A}"/>
              </a:ext>
            </a:extLst>
          </p:cNvPr>
          <p:cNvSpPr txBox="1"/>
          <p:nvPr/>
        </p:nvSpPr>
        <p:spPr>
          <a:xfrm>
            <a:off x="8146587" y="3910503"/>
            <a:ext cx="65121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ASP21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DD734D-EA78-196E-E6B8-3234B0AB094E}"/>
              </a:ext>
            </a:extLst>
          </p:cNvPr>
          <p:cNvSpPr txBox="1"/>
          <p:nvPr/>
        </p:nvSpPr>
        <p:spPr>
          <a:xfrm>
            <a:off x="8856636" y="3871688"/>
            <a:ext cx="6137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ASP22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066089-1985-D8E6-F69E-E4DD3771F833}"/>
              </a:ext>
            </a:extLst>
          </p:cNvPr>
          <p:cNvSpPr txBox="1"/>
          <p:nvPr/>
        </p:nvSpPr>
        <p:spPr>
          <a:xfrm>
            <a:off x="9570288" y="3924942"/>
            <a:ext cx="694717" cy="170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ASP23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8E4C92-822F-DB98-80A0-1C188F4DF1CF}"/>
              </a:ext>
            </a:extLst>
          </p:cNvPr>
          <p:cNvSpPr txBox="1"/>
          <p:nvPr/>
        </p:nvSpPr>
        <p:spPr>
          <a:xfrm>
            <a:off x="9620282" y="3663368"/>
            <a:ext cx="5884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ASP24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A0B616-4562-6149-E5C1-D5AB5CEDAA02}"/>
              </a:ext>
            </a:extLst>
          </p:cNvPr>
          <p:cNvSpPr txBox="1"/>
          <p:nvPr/>
        </p:nvSpPr>
        <p:spPr>
          <a:xfrm>
            <a:off x="10326293" y="3871687"/>
            <a:ext cx="667618" cy="169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ASP25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DBB552-0948-ED37-1217-932D34DB507F}"/>
              </a:ext>
            </a:extLst>
          </p:cNvPr>
          <p:cNvSpPr txBox="1"/>
          <p:nvPr/>
        </p:nvSpPr>
        <p:spPr>
          <a:xfrm>
            <a:off x="10937632" y="3829823"/>
            <a:ext cx="71182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ASP26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84B540-DE8C-4581-0469-909F2AB43429}"/>
              </a:ext>
            </a:extLst>
          </p:cNvPr>
          <p:cNvSpPr txBox="1"/>
          <p:nvPr/>
        </p:nvSpPr>
        <p:spPr>
          <a:xfrm>
            <a:off x="5364412" y="4515695"/>
            <a:ext cx="62731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ASP27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2FA576E-97D5-4B97-5741-B054766C97B4}"/>
              </a:ext>
            </a:extLst>
          </p:cNvPr>
          <p:cNvSpPr txBox="1"/>
          <p:nvPr/>
        </p:nvSpPr>
        <p:spPr>
          <a:xfrm>
            <a:off x="11153403" y="4438823"/>
            <a:ext cx="63060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ASP28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4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sz="1600" dirty="0"/>
              <a:t>All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dashboard compression test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4864105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182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29342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83293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20269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42952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ASP29</a:t>
                      </a:r>
                      <a:endParaRPr lang="zh-CN" altLang="en-US" sz="1200" dirty="0"/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Stiffness value&gt; 15N/mm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400.00N/mm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ASP30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240.96N/mm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ASP31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192.31N/mm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ASP32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155.04N/mm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ASP33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110.50N/mm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327.87N/mm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122.70N/mm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434.78N/mm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ASP37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289.86N/mm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ASP38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357.14N/mm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2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ASP39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162.60N/mm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57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ASP40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127.39N/mm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58566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66AD4F36-0CF2-1CE5-D49B-EB83BAAD24BF}"/>
              </a:ext>
            </a:extLst>
          </p:cNvPr>
          <p:cNvSpPr txBox="1"/>
          <p:nvPr/>
        </p:nvSpPr>
        <p:spPr>
          <a:xfrm>
            <a:off x="5935642" y="3390870"/>
            <a:ext cx="66096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ASP29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38" name="文本框 29">
            <a:extLst>
              <a:ext uri="{FF2B5EF4-FFF2-40B4-BE49-F238E27FC236}">
                <a16:creationId xmlns:a16="http://schemas.microsoft.com/office/drawing/2014/main" id="{D9C6BF7F-46B3-E276-982E-AE2B67DE2909}"/>
              </a:ext>
            </a:extLst>
          </p:cNvPr>
          <p:cNvSpPr/>
          <p:nvPr/>
        </p:nvSpPr>
        <p:spPr>
          <a:xfrm>
            <a:off x="11352183" y="3449940"/>
            <a:ext cx="294052" cy="30855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51"/>
              </a:spcAft>
            </a:pPr>
            <a:r>
              <a:rPr lang="en-US" sz="2000" b="1" strike="noStrike" spc="-1" dirty="0">
                <a:solidFill>
                  <a:srgbClr val="000000"/>
                </a:solidFill>
                <a:latin typeface="VWAG TheSans"/>
              </a:rPr>
              <a:t>III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34FBDB-3070-7FCB-1D4D-9109E07BBF6E}"/>
              </a:ext>
            </a:extLst>
          </p:cNvPr>
          <p:cNvSpPr txBox="1"/>
          <p:nvPr/>
        </p:nvSpPr>
        <p:spPr>
          <a:xfrm>
            <a:off x="5985530" y="3587002"/>
            <a:ext cx="62240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ASP30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E9D0B31-5C31-3056-F593-1F6E2D1EC24E}"/>
              </a:ext>
            </a:extLst>
          </p:cNvPr>
          <p:cNvSpPr txBox="1"/>
          <p:nvPr/>
        </p:nvSpPr>
        <p:spPr>
          <a:xfrm>
            <a:off x="6644107" y="3623755"/>
            <a:ext cx="73360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ASP31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940FC0A-D2AB-D59F-3807-A1E0764CADAA}"/>
              </a:ext>
            </a:extLst>
          </p:cNvPr>
          <p:cNvSpPr txBox="1"/>
          <p:nvPr/>
        </p:nvSpPr>
        <p:spPr>
          <a:xfrm>
            <a:off x="6693911" y="3243455"/>
            <a:ext cx="6590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ASP32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33041B3-35B3-76AC-4003-E4BCE58B5CAE}"/>
              </a:ext>
            </a:extLst>
          </p:cNvPr>
          <p:cNvSpPr txBox="1"/>
          <p:nvPr/>
        </p:nvSpPr>
        <p:spPr>
          <a:xfrm>
            <a:off x="6780997" y="3386256"/>
            <a:ext cx="64844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ASP33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A56FF4E-9319-F9D9-F0BE-02B940B427D8}"/>
              </a:ext>
            </a:extLst>
          </p:cNvPr>
          <p:cNvSpPr txBox="1"/>
          <p:nvPr/>
        </p:nvSpPr>
        <p:spPr>
          <a:xfrm>
            <a:off x="7199605" y="3499635"/>
            <a:ext cx="47897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ASP34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C0AE21B-8292-314F-4D43-45E93FFA42FF}"/>
              </a:ext>
            </a:extLst>
          </p:cNvPr>
          <p:cNvSpPr txBox="1"/>
          <p:nvPr/>
        </p:nvSpPr>
        <p:spPr>
          <a:xfrm>
            <a:off x="7496070" y="3672539"/>
            <a:ext cx="62674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ASP35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6A0178C-2B0C-41B5-82E2-F0ED0A09E5E2}"/>
              </a:ext>
            </a:extLst>
          </p:cNvPr>
          <p:cNvSpPr txBox="1"/>
          <p:nvPr/>
        </p:nvSpPr>
        <p:spPr>
          <a:xfrm>
            <a:off x="7646217" y="3458224"/>
            <a:ext cx="47897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ASP36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DDB952-16C2-9993-EB49-CC74EF218DDD}"/>
              </a:ext>
            </a:extLst>
          </p:cNvPr>
          <p:cNvSpPr txBox="1"/>
          <p:nvPr/>
        </p:nvSpPr>
        <p:spPr>
          <a:xfrm>
            <a:off x="7618698" y="3174836"/>
            <a:ext cx="7238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ASP37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47339A-04D8-1B5B-2437-D16DC3ED305A}"/>
              </a:ext>
            </a:extLst>
          </p:cNvPr>
          <p:cNvSpPr txBox="1"/>
          <p:nvPr/>
        </p:nvSpPr>
        <p:spPr>
          <a:xfrm>
            <a:off x="7972786" y="3306855"/>
            <a:ext cx="635499" cy="1719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ASP38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C06E4BD-85B1-220D-D22C-6B96A1122B98}"/>
              </a:ext>
            </a:extLst>
          </p:cNvPr>
          <p:cNvSpPr txBox="1"/>
          <p:nvPr/>
        </p:nvSpPr>
        <p:spPr>
          <a:xfrm>
            <a:off x="7971793" y="3632890"/>
            <a:ext cx="63519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ASP39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6FA90F5-BEB8-A561-7330-A8CC3A74B8BD}"/>
              </a:ext>
            </a:extLst>
          </p:cNvPr>
          <p:cNvSpPr txBox="1"/>
          <p:nvPr/>
        </p:nvSpPr>
        <p:spPr>
          <a:xfrm>
            <a:off x="8472041" y="3643280"/>
            <a:ext cx="67959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ASP40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03EA8B2-D9EF-9198-FA59-D4F49375933D}"/>
              </a:ext>
            </a:extLst>
          </p:cNvPr>
          <p:cNvSpPr txBox="1"/>
          <p:nvPr/>
        </p:nvSpPr>
        <p:spPr>
          <a:xfrm>
            <a:off x="8494306" y="3347391"/>
            <a:ext cx="65732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ASP41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E09325-E993-9721-A974-B6570A8ED5E0}"/>
              </a:ext>
            </a:extLst>
          </p:cNvPr>
          <p:cNvSpPr txBox="1"/>
          <p:nvPr/>
        </p:nvSpPr>
        <p:spPr>
          <a:xfrm>
            <a:off x="8971295" y="3165198"/>
            <a:ext cx="63575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ASP42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BB1CE5E-8631-50C5-3A5B-E08F41E99B76}"/>
              </a:ext>
            </a:extLst>
          </p:cNvPr>
          <p:cNvSpPr txBox="1"/>
          <p:nvPr/>
        </p:nvSpPr>
        <p:spPr>
          <a:xfrm>
            <a:off x="8964039" y="3442861"/>
            <a:ext cx="47897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ASP43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FE528A6-8084-8519-CBFC-9E7CD25AFB30}"/>
              </a:ext>
            </a:extLst>
          </p:cNvPr>
          <p:cNvSpPr txBox="1"/>
          <p:nvPr/>
        </p:nvSpPr>
        <p:spPr>
          <a:xfrm>
            <a:off x="9128081" y="3630472"/>
            <a:ext cx="6090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ASP44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4196723-A4E6-36A4-9D9C-11E1676CE8B1}"/>
              </a:ext>
            </a:extLst>
          </p:cNvPr>
          <p:cNvSpPr txBox="1"/>
          <p:nvPr/>
        </p:nvSpPr>
        <p:spPr>
          <a:xfrm>
            <a:off x="9442838" y="3338485"/>
            <a:ext cx="64479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ASP45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975744F-846A-E530-D8FD-36044284195E}"/>
              </a:ext>
            </a:extLst>
          </p:cNvPr>
          <p:cNvSpPr txBox="1"/>
          <p:nvPr/>
        </p:nvSpPr>
        <p:spPr>
          <a:xfrm>
            <a:off x="9856495" y="3240337"/>
            <a:ext cx="659857" cy="1723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ASP46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9298939-9E6D-A54C-0857-B39397DC4A2F}"/>
              </a:ext>
            </a:extLst>
          </p:cNvPr>
          <p:cNvSpPr txBox="1"/>
          <p:nvPr/>
        </p:nvSpPr>
        <p:spPr>
          <a:xfrm>
            <a:off x="9887245" y="3499361"/>
            <a:ext cx="6470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ASP47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21CBF34-3FCF-4EBD-68B4-05E955C1FEF6}"/>
              </a:ext>
            </a:extLst>
          </p:cNvPr>
          <p:cNvSpPr txBox="1"/>
          <p:nvPr/>
        </p:nvSpPr>
        <p:spPr>
          <a:xfrm>
            <a:off x="10519194" y="3534468"/>
            <a:ext cx="71462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ASP48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42A6C27-46F8-78C7-7383-CBD8F4D31FF7}"/>
              </a:ext>
            </a:extLst>
          </p:cNvPr>
          <p:cNvSpPr txBox="1"/>
          <p:nvPr/>
        </p:nvSpPr>
        <p:spPr>
          <a:xfrm>
            <a:off x="10550606" y="3342982"/>
            <a:ext cx="78523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100" b="1" dirty="0">
                <a:solidFill>
                  <a:schemeClr val="bg1"/>
                </a:solidFill>
              </a:rPr>
              <a:t>ASP49</a:t>
            </a:r>
            <a:endParaRPr lang="zh-CN" altLang="en-US" sz="11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44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sz="1600" dirty="0"/>
              <a:t>All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dashboard compression test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4864105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724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83293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235347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710295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ASP41</a:t>
                      </a:r>
                      <a:endParaRPr lang="zh-CN" altLang="en-US" sz="1200" dirty="0"/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200N</a:t>
                      </a:r>
                    </a:p>
                    <a:p>
                      <a:pPr algn="ctr"/>
                      <a:r>
                        <a:rPr lang="en-US" altLang="zh-CN" sz="1200" dirty="0"/>
                        <a:t>oval-R17</a:t>
                      </a:r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Stiffness value&gt; 15N/mm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384.62N/mm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ASP42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289.86N/mm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ASP43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454.55N/mm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ASP44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476.19N/mm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ASP45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117.65N/mm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ASP46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152.67N/mm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ASP47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416.67N/mm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ASP48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444.44N/mm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ASP49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408.16N/mm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0ED1281-F3D7-B05E-AD5C-58A0A1AA1D56}"/>
              </a:ext>
            </a:extLst>
          </p:cNvPr>
          <p:cNvSpPr txBox="1"/>
          <p:nvPr/>
        </p:nvSpPr>
        <p:spPr>
          <a:xfrm>
            <a:off x="5935642" y="3390869"/>
            <a:ext cx="69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ASP29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4" name="文本框 29">
            <a:extLst>
              <a:ext uri="{FF2B5EF4-FFF2-40B4-BE49-F238E27FC236}">
                <a16:creationId xmlns:a16="http://schemas.microsoft.com/office/drawing/2014/main" id="{90E86570-791E-2CC4-7A39-CFB85762F456}"/>
              </a:ext>
            </a:extLst>
          </p:cNvPr>
          <p:cNvSpPr/>
          <p:nvPr/>
        </p:nvSpPr>
        <p:spPr>
          <a:xfrm>
            <a:off x="11352183" y="3449940"/>
            <a:ext cx="294052" cy="30855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51"/>
              </a:spcAft>
            </a:pPr>
            <a:r>
              <a:rPr lang="en-US" sz="2000" b="1" strike="noStrike" spc="-1" dirty="0">
                <a:solidFill>
                  <a:srgbClr val="000000"/>
                </a:solidFill>
                <a:latin typeface="VWAG TheSans"/>
              </a:rPr>
              <a:t>III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813533-495B-941C-3D20-642E60732864}"/>
              </a:ext>
            </a:extLst>
          </p:cNvPr>
          <p:cNvSpPr txBox="1"/>
          <p:nvPr/>
        </p:nvSpPr>
        <p:spPr>
          <a:xfrm>
            <a:off x="5985530" y="3587002"/>
            <a:ext cx="6553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ASP30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D90271-06D3-9C78-EFD4-A3B4C7FB9035}"/>
              </a:ext>
            </a:extLst>
          </p:cNvPr>
          <p:cNvSpPr txBox="1"/>
          <p:nvPr/>
        </p:nvSpPr>
        <p:spPr>
          <a:xfrm>
            <a:off x="6644107" y="3623754"/>
            <a:ext cx="77261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ASP31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1AF68-2933-7784-1886-140D297A6C21}"/>
              </a:ext>
            </a:extLst>
          </p:cNvPr>
          <p:cNvSpPr txBox="1"/>
          <p:nvPr/>
        </p:nvSpPr>
        <p:spPr>
          <a:xfrm>
            <a:off x="6644423" y="3273631"/>
            <a:ext cx="7736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ASP32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4D2487-F370-21F3-CCBC-84F9101627E7}"/>
              </a:ext>
            </a:extLst>
          </p:cNvPr>
          <p:cNvSpPr txBox="1"/>
          <p:nvPr/>
        </p:nvSpPr>
        <p:spPr>
          <a:xfrm>
            <a:off x="6677101" y="3417497"/>
            <a:ext cx="64304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ASP33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742065-FC0C-E372-A6BA-4264AE808117}"/>
              </a:ext>
            </a:extLst>
          </p:cNvPr>
          <p:cNvSpPr txBox="1"/>
          <p:nvPr/>
        </p:nvSpPr>
        <p:spPr>
          <a:xfrm>
            <a:off x="7135079" y="3447832"/>
            <a:ext cx="59732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ASP34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8857F9-C139-2994-EE56-9F22BE3B82C7}"/>
              </a:ext>
            </a:extLst>
          </p:cNvPr>
          <p:cNvSpPr txBox="1"/>
          <p:nvPr/>
        </p:nvSpPr>
        <p:spPr>
          <a:xfrm>
            <a:off x="7374566" y="3611118"/>
            <a:ext cx="697462" cy="1914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ASP35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E16ECD-328A-AF8F-6711-7D391A4F4D8D}"/>
              </a:ext>
            </a:extLst>
          </p:cNvPr>
          <p:cNvSpPr txBox="1"/>
          <p:nvPr/>
        </p:nvSpPr>
        <p:spPr>
          <a:xfrm>
            <a:off x="7635826" y="3447833"/>
            <a:ext cx="6082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ASP36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D314D6-9E7F-C8C4-03F5-F223C0ACD5C2}"/>
              </a:ext>
            </a:extLst>
          </p:cNvPr>
          <p:cNvSpPr txBox="1"/>
          <p:nvPr/>
        </p:nvSpPr>
        <p:spPr>
          <a:xfrm>
            <a:off x="7494308" y="3153919"/>
            <a:ext cx="68897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ASP37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6345C4-47DB-FDC1-0D01-F69CAC3D66D0}"/>
              </a:ext>
            </a:extLst>
          </p:cNvPr>
          <p:cNvSpPr txBox="1"/>
          <p:nvPr/>
        </p:nvSpPr>
        <p:spPr>
          <a:xfrm>
            <a:off x="7951505" y="3295432"/>
            <a:ext cx="7960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ASP38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F5A809-B941-A315-C12D-607A52E2ACB3}"/>
              </a:ext>
            </a:extLst>
          </p:cNvPr>
          <p:cNvSpPr txBox="1"/>
          <p:nvPr/>
        </p:nvSpPr>
        <p:spPr>
          <a:xfrm>
            <a:off x="7940620" y="3632890"/>
            <a:ext cx="64337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ASP39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D7D748-CA0D-FCBB-00FB-47F2C7A6244E}"/>
              </a:ext>
            </a:extLst>
          </p:cNvPr>
          <p:cNvSpPr txBox="1"/>
          <p:nvPr/>
        </p:nvSpPr>
        <p:spPr>
          <a:xfrm>
            <a:off x="8430477" y="3632889"/>
            <a:ext cx="71957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ASP40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6928DB-34A8-F907-F163-D4F0678636B1}"/>
              </a:ext>
            </a:extLst>
          </p:cNvPr>
          <p:cNvSpPr txBox="1"/>
          <p:nvPr/>
        </p:nvSpPr>
        <p:spPr>
          <a:xfrm>
            <a:off x="8463133" y="3295435"/>
            <a:ext cx="7780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ASP41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8177B4-3002-96AF-2879-007E07C204BE}"/>
              </a:ext>
            </a:extLst>
          </p:cNvPr>
          <p:cNvSpPr txBox="1"/>
          <p:nvPr/>
        </p:nvSpPr>
        <p:spPr>
          <a:xfrm>
            <a:off x="8898558" y="3165198"/>
            <a:ext cx="6858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ASP42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ECBFA2-7C49-0509-A732-49B77670B57A}"/>
              </a:ext>
            </a:extLst>
          </p:cNvPr>
          <p:cNvSpPr txBox="1"/>
          <p:nvPr/>
        </p:nvSpPr>
        <p:spPr>
          <a:xfrm>
            <a:off x="8963871" y="3349864"/>
            <a:ext cx="7388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ASP43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D431ED-F946-57B8-51B9-E1F5478D95FD}"/>
              </a:ext>
            </a:extLst>
          </p:cNvPr>
          <p:cNvSpPr txBox="1"/>
          <p:nvPr/>
        </p:nvSpPr>
        <p:spPr>
          <a:xfrm>
            <a:off x="8952981" y="3567580"/>
            <a:ext cx="8806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ASP44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DA8340-BEC6-DC75-B786-5267DB615F89}"/>
              </a:ext>
            </a:extLst>
          </p:cNvPr>
          <p:cNvSpPr txBox="1"/>
          <p:nvPr/>
        </p:nvSpPr>
        <p:spPr>
          <a:xfrm>
            <a:off x="9442838" y="3328094"/>
            <a:ext cx="7055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ASP45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0252537-01B2-9908-704F-A2A5E81A8DFB}"/>
              </a:ext>
            </a:extLst>
          </p:cNvPr>
          <p:cNvSpPr txBox="1"/>
          <p:nvPr/>
        </p:nvSpPr>
        <p:spPr>
          <a:xfrm>
            <a:off x="9910923" y="3241405"/>
            <a:ext cx="7715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ASP46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6AA5B09-9129-35A9-8193-2A498086BF32}"/>
              </a:ext>
            </a:extLst>
          </p:cNvPr>
          <p:cNvSpPr txBox="1"/>
          <p:nvPr/>
        </p:nvSpPr>
        <p:spPr>
          <a:xfrm>
            <a:off x="9910923" y="3447841"/>
            <a:ext cx="79900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ASP47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793AD22-4321-8E1E-4D0C-DFE155E90551}"/>
              </a:ext>
            </a:extLst>
          </p:cNvPr>
          <p:cNvSpPr txBox="1"/>
          <p:nvPr/>
        </p:nvSpPr>
        <p:spPr>
          <a:xfrm>
            <a:off x="10564067" y="3524041"/>
            <a:ext cx="7990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ASP48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C58BFD5-597D-4758-9366-389400BAEDFA}"/>
              </a:ext>
            </a:extLst>
          </p:cNvPr>
          <p:cNvSpPr txBox="1"/>
          <p:nvPr/>
        </p:nvSpPr>
        <p:spPr>
          <a:xfrm>
            <a:off x="10564066" y="3321566"/>
            <a:ext cx="6697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b="1" dirty="0">
                <a:solidFill>
                  <a:schemeClr val="bg1"/>
                </a:solidFill>
              </a:rPr>
              <a:t>ASP49</a:t>
            </a:r>
            <a:endParaRPr lang="zh-CN" alt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60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CF95AF-2115-121F-79B7-32B670C727E8}"/>
              </a:ext>
            </a:extLst>
          </p:cNvPr>
          <p:cNvSpPr/>
          <p:nvPr/>
        </p:nvSpPr>
        <p:spPr>
          <a:xfrm>
            <a:off x="658821" y="2983553"/>
            <a:ext cx="3630694" cy="16063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Loading Force: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F=100N,Dispacement &lt; 3mm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F=400N,Displacement &lt; 15mm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Target: No plastic strain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Loading Direction: Normal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Temperature: 23℃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1.2. Static pressure test of FID and ABT</a:t>
            </a:r>
          </a:p>
        </p:txBody>
      </p:sp>
      <p:sp>
        <p:nvSpPr>
          <p:cNvPr id="3" name="Footer Placeholder 12">
            <a:extLst>
              <a:ext uri="{FF2B5EF4-FFF2-40B4-BE49-F238E27FC236}">
                <a16:creationId xmlns:a16="http://schemas.microsoft.com/office/drawing/2014/main" id="{68A83931-8A37-C7BB-A976-612137987E45}"/>
              </a:ext>
            </a:extLst>
          </p:cNvPr>
          <p:cNvSpPr txBox="1">
            <a:spLocks/>
          </p:cNvSpPr>
          <p:nvPr/>
        </p:nvSpPr>
        <p:spPr bwMode="gray">
          <a:xfrm>
            <a:off x="407988" y="6593109"/>
            <a:ext cx="10108364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4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When loading force is 100N , a</a:t>
            </a:r>
            <a:r>
              <a:rPr lang="en-US" altLang="zh-CN" sz="1600" dirty="0"/>
              <a:t>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pressure test of FID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638637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037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17719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916370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945573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930181">
                  <a:extLst>
                    <a:ext uri="{9D8B030D-6E8A-4147-A177-3AD203B41FA5}">
                      <a16:colId xmlns:a16="http://schemas.microsoft.com/office/drawing/2014/main" val="3969017981"/>
                    </a:ext>
                  </a:extLst>
                </a:gridCol>
                <a:gridCol w="1002528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5688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(FID)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ASP01</a:t>
                      </a:r>
                      <a:endParaRPr lang="zh-CN" altLang="en-US" sz="1200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100N</a:t>
                      </a:r>
                    </a:p>
                    <a:p>
                      <a:pPr algn="ctr"/>
                      <a:r>
                        <a:rPr lang="en-US" altLang="zh-CN" sz="1200" dirty="0"/>
                        <a:t>ø25mm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Displacement&lt;3mm </a:t>
                      </a:r>
                    </a:p>
                    <a:p>
                      <a:pPr algn="ctr"/>
                      <a:r>
                        <a:rPr lang="en-US" altLang="zh-CN" sz="1200" dirty="0"/>
                        <a:t>No plastic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1.77mm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1.16mm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1.79mm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1.71mm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1.11mm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1.72mm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21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altLang="zh-CN" dirty="0"/>
              <a:t>When loading force is 100N , a</a:t>
            </a:r>
            <a:r>
              <a:rPr lang="en-US" altLang="zh-CN" sz="1600" dirty="0"/>
              <a:t>ll points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pressure test of ABT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62539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003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02838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919112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904009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945572">
                  <a:extLst>
                    <a:ext uri="{9D8B030D-6E8A-4147-A177-3AD203B41FA5}">
                      <a16:colId xmlns:a16="http://schemas.microsoft.com/office/drawing/2014/main" val="3969017981"/>
                    </a:ext>
                  </a:extLst>
                </a:gridCol>
                <a:gridCol w="927461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27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(ABT)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ASP07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100N</a:t>
                      </a:r>
                    </a:p>
                    <a:p>
                      <a:pPr algn="ctr"/>
                      <a:r>
                        <a:rPr lang="en-US" altLang="zh-CN" sz="1200" dirty="0"/>
                        <a:t>ø25mm</a:t>
                      </a: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Displacement&lt;3mm </a:t>
                      </a:r>
                    </a:p>
                    <a:p>
                      <a:pPr algn="ctr"/>
                      <a:r>
                        <a:rPr lang="en-US" altLang="zh-CN" sz="1200" dirty="0"/>
                        <a:t>No plastic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1.62mm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ASP08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1.74mm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ASP09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1.47mm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ASP10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1.94mm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2124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ASP11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1.53mm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57343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1.73mm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1374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2.05mm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699239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2.05mm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06029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1.89mm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286210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1.63mm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37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55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When loading force is 400N , there has individual elements in FID occurred plastic strain at ASP04</a:t>
            </a:r>
            <a:r>
              <a:rPr lang="zh-CN" altLang="en-US" dirty="0"/>
              <a:t>、</a:t>
            </a:r>
            <a:r>
              <a:rPr lang="en-US" altLang="zh-CN" dirty="0"/>
              <a:t>ASP06, there is low possibility to occur plastic deformation.</a:t>
            </a:r>
          </a:p>
          <a:p>
            <a:r>
              <a:rPr lang="en-US" altLang="zh-CN" sz="1600" dirty="0"/>
              <a:t>ASP01-03 and ASP05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pressure test of FID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636286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659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15077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930736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976137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873983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953436">
                  <a:extLst>
                    <a:ext uri="{9D8B030D-6E8A-4147-A177-3AD203B41FA5}">
                      <a16:colId xmlns:a16="http://schemas.microsoft.com/office/drawing/2014/main" val="3969017981"/>
                    </a:ext>
                  </a:extLst>
                </a:gridCol>
                <a:gridCol w="998838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(FID)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ASP01</a:t>
                      </a:r>
                      <a:endParaRPr lang="zh-CN" altLang="en-US" sz="1200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ø25mm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Displacement&lt;15mm </a:t>
                      </a:r>
                    </a:p>
                    <a:p>
                      <a:pPr algn="ctr"/>
                      <a:r>
                        <a:rPr lang="en-US" altLang="zh-CN" sz="1200" dirty="0"/>
                        <a:t>No plastic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5.00mm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3.84mm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6.01mm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7.24mm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4.85mm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ASP06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6.99mm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99313"/>
                  </a:ext>
                </a:extLst>
              </a:tr>
            </a:tbl>
          </a:graphicData>
        </a:graphic>
      </p:graphicFrame>
      <p:grpSp>
        <p:nvGrpSpPr>
          <p:cNvPr id="33" name="Grupo 19">
            <a:extLst>
              <a:ext uri="{FF2B5EF4-FFF2-40B4-BE49-F238E27FC236}">
                <a16:creationId xmlns:a16="http://schemas.microsoft.com/office/drawing/2014/main" id="{02C09E6F-5728-5EED-2AB0-C558F43496B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1CB5A50C-7652-FD1A-5917-C15BDF041275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4E9F4D01-FD59-BF22-D71D-5E91F1D6A4A3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9">
              <a:extLst>
                <a:ext uri="{FF2B5EF4-FFF2-40B4-BE49-F238E27FC236}">
                  <a16:creationId xmlns:a16="http://schemas.microsoft.com/office/drawing/2014/main" id="{F1F30EF7-F151-F43F-1663-FD9C873E1F1B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CustomShape 8">
              <a:extLst>
                <a:ext uri="{FF2B5EF4-FFF2-40B4-BE49-F238E27FC236}">
                  <a16:creationId xmlns:a16="http://schemas.microsoft.com/office/drawing/2014/main" id="{37E7926C-9622-1C4E-8F5C-C3507FE4DE1D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8" name="Grupo 1">
              <a:extLst>
                <a:ext uri="{FF2B5EF4-FFF2-40B4-BE49-F238E27FC236}">
                  <a16:creationId xmlns:a16="http://schemas.microsoft.com/office/drawing/2014/main" id="{CC5FDF73-885A-52B6-601D-FAE78FC7090F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00BF77C3-27EF-4A73-8548-71ADB860776E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940E8070-6739-D2CF-B621-BADAAB0D24E5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4" name="CustomShape 9">
                <a:extLst>
                  <a:ext uri="{FF2B5EF4-FFF2-40B4-BE49-F238E27FC236}">
                    <a16:creationId xmlns:a16="http://schemas.microsoft.com/office/drawing/2014/main" id="{D5BD0DF0-7E47-F048-A88D-B2EE61C05ACA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6873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When loading force is 400N, there has no plastic strain occurred in IP, but individual elements in ABT occurred plastic strain at ASP07-08, ASP10-11, ASP14, there is low possibility to occur plastic deformation. </a:t>
            </a:r>
          </a:p>
          <a:p>
            <a:r>
              <a:rPr lang="en-US" altLang="zh-CN" sz="1600" dirty="0"/>
              <a:t>ASP09, ASP12-13 and ASP15-16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Static pressure test of ABT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7" y="1900010"/>
          <a:ext cx="6317691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165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744322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912345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867778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946667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  <a:gridCol w="946667">
                  <a:extLst>
                    <a:ext uri="{9D8B030D-6E8A-4147-A177-3AD203B41FA5}">
                      <a16:colId xmlns:a16="http://schemas.microsoft.com/office/drawing/2014/main" val="3969017981"/>
                    </a:ext>
                  </a:extLst>
                </a:gridCol>
                <a:gridCol w="991747">
                  <a:extLst>
                    <a:ext uri="{9D8B030D-6E8A-4147-A177-3AD203B41FA5}">
                      <a16:colId xmlns:a16="http://schemas.microsoft.com/office/drawing/2014/main" val="548093987"/>
                    </a:ext>
                  </a:extLst>
                </a:gridCol>
              </a:tblGrid>
              <a:tr h="2796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Target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CAE Result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(ABT)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Plastic Strain</a:t>
                      </a:r>
                    </a:p>
                    <a:p>
                      <a:pPr algn="ctr"/>
                      <a:r>
                        <a:rPr lang="en-US" altLang="zh-CN" sz="1400" dirty="0"/>
                        <a:t>(IP)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ASP07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ø25mm</a:t>
                      </a: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Displacement&lt;15mm </a:t>
                      </a:r>
                    </a:p>
                    <a:p>
                      <a:pPr algn="ctr"/>
                      <a:r>
                        <a:rPr lang="en-US" altLang="zh-CN" sz="1200" dirty="0"/>
                        <a:t>No plastic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5.91mm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6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ASP08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6.29mm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572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ASP09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5.17mm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ASP10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6.78mm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2124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ASP11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400N</a:t>
                      </a:r>
                    </a:p>
                    <a:p>
                      <a:pPr algn="ctr"/>
                      <a:r>
                        <a:rPr lang="en-US" altLang="zh-CN" sz="1200" dirty="0"/>
                        <a:t>ø25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5.93mm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57343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6.42mm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781374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6.36mm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699239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6.29mm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0.004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06029"/>
                  </a:ext>
                </a:extLst>
              </a:tr>
              <a:tr h="13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5.86mm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286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ASP16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6.13mm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37663"/>
                  </a:ext>
                </a:extLst>
              </a:tr>
            </a:tbl>
          </a:graphicData>
        </a:graphic>
      </p:graphicFrame>
      <p:grpSp>
        <p:nvGrpSpPr>
          <p:cNvPr id="7" name="Grupo 19">
            <a:extLst>
              <a:ext uri="{FF2B5EF4-FFF2-40B4-BE49-F238E27FC236}">
                <a16:creationId xmlns:a16="http://schemas.microsoft.com/office/drawing/2014/main" id="{02C09E6F-5728-5EED-2AB0-C558F43496B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8" name="CustomShape 9">
              <a:extLst>
                <a:ext uri="{FF2B5EF4-FFF2-40B4-BE49-F238E27FC236}">
                  <a16:creationId xmlns:a16="http://schemas.microsoft.com/office/drawing/2014/main" id="{1CB5A50C-7652-FD1A-5917-C15BDF041275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CustomShape 9">
              <a:extLst>
                <a:ext uri="{FF2B5EF4-FFF2-40B4-BE49-F238E27FC236}">
                  <a16:creationId xmlns:a16="http://schemas.microsoft.com/office/drawing/2014/main" id="{4E9F4D01-FD59-BF22-D71D-5E91F1D6A4A3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CustomShape 9">
              <a:extLst>
                <a:ext uri="{FF2B5EF4-FFF2-40B4-BE49-F238E27FC236}">
                  <a16:creationId xmlns:a16="http://schemas.microsoft.com/office/drawing/2014/main" id="{F1F30EF7-F151-F43F-1663-FD9C873E1F1B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CustomShape 8">
              <a:extLst>
                <a:ext uri="{FF2B5EF4-FFF2-40B4-BE49-F238E27FC236}">
                  <a16:creationId xmlns:a16="http://schemas.microsoft.com/office/drawing/2014/main" id="{37E7926C-9622-1C4E-8F5C-C3507FE4DE1D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3" name="Grupo 1">
              <a:extLst>
                <a:ext uri="{FF2B5EF4-FFF2-40B4-BE49-F238E27FC236}">
                  <a16:creationId xmlns:a16="http://schemas.microsoft.com/office/drawing/2014/main" id="{CC5FDF73-885A-52B6-601D-FAE78FC7090F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4" name="CustomShape 9">
                <a:extLst>
                  <a:ext uri="{FF2B5EF4-FFF2-40B4-BE49-F238E27FC236}">
                    <a16:creationId xmlns:a16="http://schemas.microsoft.com/office/drawing/2014/main" id="{00BF77C3-27EF-4A73-8548-71ADB860776E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5" name="CustomShape 9">
                <a:extLst>
                  <a:ext uri="{FF2B5EF4-FFF2-40B4-BE49-F238E27FC236}">
                    <a16:creationId xmlns:a16="http://schemas.microsoft.com/office/drawing/2014/main" id="{940E8070-6739-D2CF-B621-BADAAB0D24E5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6" name="CustomShape 9">
                <a:extLst>
                  <a:ext uri="{FF2B5EF4-FFF2-40B4-BE49-F238E27FC236}">
                    <a16:creationId xmlns:a16="http://schemas.microsoft.com/office/drawing/2014/main" id="{D5BD0DF0-7E47-F048-A88D-B2EE61C05ACA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357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CF95AF-2115-121F-79B7-32B670C727E8}"/>
              </a:ext>
            </a:extLst>
          </p:cNvPr>
          <p:cNvSpPr/>
          <p:nvPr/>
        </p:nvSpPr>
        <p:spPr>
          <a:xfrm>
            <a:off x="658821" y="2625805"/>
            <a:ext cx="4751379" cy="16063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Loading Force: 200N (Loading lasting for 100ms)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Impactor : </a:t>
            </a:r>
            <a:r>
              <a:rPr lang="el-GR" altLang="zh-CN" dirty="0">
                <a:cs typeface="Times New Roman" panose="02020603050405020304" pitchFamily="18" charset="0"/>
              </a:rPr>
              <a:t>Φ80</a:t>
            </a:r>
            <a:r>
              <a:rPr lang="en-US" altLang="zh-CN" dirty="0">
                <a:cs typeface="Times New Roman" panose="02020603050405020304" pitchFamily="18" charset="0"/>
              </a:rPr>
              <a:t>mm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Target: 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1</a:t>
            </a:r>
            <a:r>
              <a:rPr lang="zh-CN" altLang="en-US" dirty="0"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cs typeface="Times New Roman" panose="02020603050405020304" pitchFamily="18" charset="0"/>
              </a:rPr>
              <a:t>No breakage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2</a:t>
            </a:r>
            <a:r>
              <a:rPr lang="zh-CN" altLang="en-US" dirty="0"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cs typeface="Times New Roman" panose="02020603050405020304" pitchFamily="18" charset="0"/>
              </a:rPr>
              <a:t>Glove Box keep in place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Loading Direction: Global –Z , At the middle of glove box in Y direction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Temperature: 23℃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8779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altLang="zh-CN" sz="2800" dirty="0">
                <a:solidFill>
                  <a:srgbClr val="002733"/>
                </a:solidFill>
              </a:rPr>
              <a:t>1.3. Static glove compartment compression test</a:t>
            </a:r>
          </a:p>
        </p:txBody>
      </p:sp>
      <p:sp>
        <p:nvSpPr>
          <p:cNvPr id="3" name="Footer Placeholder 12">
            <a:extLst>
              <a:ext uri="{FF2B5EF4-FFF2-40B4-BE49-F238E27FC236}">
                <a16:creationId xmlns:a16="http://schemas.microsoft.com/office/drawing/2014/main" id="{68A83931-8A37-C7BB-A976-612137987E45}"/>
              </a:ext>
            </a:extLst>
          </p:cNvPr>
          <p:cNvSpPr txBox="1">
            <a:spLocks/>
          </p:cNvSpPr>
          <p:nvPr/>
        </p:nvSpPr>
        <p:spPr bwMode="gray">
          <a:xfrm>
            <a:off x="407988" y="6593109"/>
            <a:ext cx="10108364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17" name="内容占位符 3">
            <a:extLst>
              <a:ext uri="{FF2B5EF4-FFF2-40B4-BE49-F238E27FC236}">
                <a16:creationId xmlns:a16="http://schemas.microsoft.com/office/drawing/2014/main" id="{5A97A251-74B7-A107-98D2-CFB0CF7E8AC9}"/>
              </a:ext>
            </a:extLst>
          </p:cNvPr>
          <p:cNvGraphicFramePr>
            <a:graphicFrameLocks/>
          </p:cNvGraphicFramePr>
          <p:nvPr/>
        </p:nvGraphicFramePr>
        <p:xfrm>
          <a:off x="710792" y="5274908"/>
          <a:ext cx="4751378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636">
                  <a:extLst>
                    <a:ext uri="{9D8B030D-6E8A-4147-A177-3AD203B41FA5}">
                      <a16:colId xmlns:a16="http://schemas.microsoft.com/office/drawing/2014/main" val="2130013670"/>
                    </a:ext>
                  </a:extLst>
                </a:gridCol>
                <a:gridCol w="1127404">
                  <a:extLst>
                    <a:ext uri="{9D8B030D-6E8A-4147-A177-3AD203B41FA5}">
                      <a16:colId xmlns:a16="http://schemas.microsoft.com/office/drawing/2014/main" val="1398859481"/>
                    </a:ext>
                  </a:extLst>
                </a:gridCol>
                <a:gridCol w="1373609">
                  <a:extLst>
                    <a:ext uri="{9D8B030D-6E8A-4147-A177-3AD203B41FA5}">
                      <a16:colId xmlns:a16="http://schemas.microsoft.com/office/drawing/2014/main" val="3051455794"/>
                    </a:ext>
                  </a:extLst>
                </a:gridCol>
                <a:gridCol w="1428729">
                  <a:extLst>
                    <a:ext uri="{9D8B030D-6E8A-4147-A177-3AD203B41FA5}">
                      <a16:colId xmlns:a16="http://schemas.microsoft.com/office/drawing/2014/main" val="244192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Point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Z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641087"/>
                  </a:ext>
                </a:extLst>
              </a:tr>
              <a:tr h="251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Position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2508.65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437.65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1362.94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05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911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sz="1600" dirty="0"/>
              <a:t>The max plastic strain is </a:t>
            </a:r>
            <a:r>
              <a:rPr lang="en-US" altLang="zh-CN" dirty="0"/>
              <a:t>0.037</a:t>
            </a:r>
            <a:r>
              <a:rPr lang="en-US" altLang="zh-CN" sz="1600" dirty="0"/>
              <a:t>, less than the elongation of PP-TD20 (0.5).</a:t>
            </a:r>
          </a:p>
          <a:p>
            <a:r>
              <a:rPr lang="en-US" altLang="zh-CN" dirty="0"/>
              <a:t>There is low risk of failure.</a:t>
            </a:r>
            <a:endParaRPr lang="en-US" altLang="zh-CN" sz="1600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>
                <a:solidFill>
                  <a:srgbClr val="002733"/>
                </a:solidFill>
              </a:rPr>
              <a:t>Static glove compartment compression test </a:t>
            </a:r>
            <a:r>
              <a:rPr lang="en-US" altLang="zh-CN" dirty="0"/>
              <a:t>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6" y="1900009"/>
          <a:ext cx="6167667" cy="1626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695">
                  <a:extLst>
                    <a:ext uri="{9D8B030D-6E8A-4147-A177-3AD203B41FA5}">
                      <a16:colId xmlns:a16="http://schemas.microsoft.com/office/drawing/2014/main" val="3947876828"/>
                    </a:ext>
                  </a:extLst>
                </a:gridCol>
                <a:gridCol w="1609576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2210140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1023256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5965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Load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Target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CAE Result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Status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10304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200N</a:t>
                      </a:r>
                    </a:p>
                    <a:p>
                      <a:pPr algn="ctr"/>
                      <a:r>
                        <a:rPr lang="el-GR" altLang="zh-CN" sz="1600" dirty="0"/>
                        <a:t>Φ80</a:t>
                      </a:r>
                      <a:r>
                        <a:rPr lang="en-US" altLang="zh-CN" sz="1600" dirty="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cs typeface="Times New Roman" panose="02020603050405020304" pitchFamily="18" charset="0"/>
                        </a:rPr>
                        <a:t>Plastic strain</a:t>
                      </a:r>
                      <a:r>
                        <a:rPr lang="zh-CN" altLang="en-US" sz="1600" dirty="0"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en-US" altLang="zh-CN" sz="1600" dirty="0">
                          <a:cs typeface="Times New Roman" panose="02020603050405020304" pitchFamily="18" charset="0"/>
                        </a:rPr>
                        <a:t>0.5(PP-TD20)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Plastic strain=0.037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286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13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CF95AF-2115-121F-79B7-32B670C727E8}"/>
              </a:ext>
            </a:extLst>
          </p:cNvPr>
          <p:cNvSpPr/>
          <p:nvPr/>
        </p:nvSpPr>
        <p:spPr>
          <a:xfrm>
            <a:off x="567915" y="4774601"/>
            <a:ext cx="5593773" cy="16063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Loading: </a:t>
            </a:r>
            <a:r>
              <a:rPr lang="nn-NO" altLang="zh-CN" dirty="0">
                <a:cs typeface="Times New Roman" panose="02020603050405020304" pitchFamily="18" charset="0"/>
              </a:rPr>
              <a:t>V=24.1km/h  (ω=0.00863rad/ms)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Applicator size: D=165mm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dirty="0">
                <a:cs typeface="Times New Roman" panose="02020603050405020304" pitchFamily="18" charset="0"/>
              </a:rPr>
              <a:t>Target:</a:t>
            </a:r>
          </a:p>
          <a:p>
            <a:r>
              <a:rPr lang="en-US" altLang="zh-CN" dirty="0">
                <a:cs typeface="Times New Roman" panose="02020603050405020304" pitchFamily="18" charset="0"/>
              </a:rPr>
              <a:t> Not exceeding 80g for a duration of 3ms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2.1 Head impact</a:t>
            </a:r>
          </a:p>
        </p:txBody>
      </p:sp>
      <p:sp>
        <p:nvSpPr>
          <p:cNvPr id="3" name="Footer Placeholder 12">
            <a:extLst>
              <a:ext uri="{FF2B5EF4-FFF2-40B4-BE49-F238E27FC236}">
                <a16:creationId xmlns:a16="http://schemas.microsoft.com/office/drawing/2014/main" id="{68A83931-8A37-C7BB-A976-612137987E45}"/>
              </a:ext>
            </a:extLst>
          </p:cNvPr>
          <p:cNvSpPr txBox="1">
            <a:spLocks/>
          </p:cNvSpPr>
          <p:nvPr/>
        </p:nvSpPr>
        <p:spPr bwMode="gray">
          <a:xfrm>
            <a:off x="407988" y="6593109"/>
            <a:ext cx="10108364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</a:t>
            </a:r>
            <a:endParaRPr lang="en-GB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A89C5FC-BF7C-7A52-B608-B2A6DF466E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392"/>
          <a:stretch/>
        </p:blipFill>
        <p:spPr>
          <a:xfrm>
            <a:off x="6909869" y="2043179"/>
            <a:ext cx="3236769" cy="277164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332E9E7-B7A3-B98F-8C1C-078F78F4A7A9}"/>
              </a:ext>
            </a:extLst>
          </p:cNvPr>
          <p:cNvSpPr txBox="1"/>
          <p:nvPr/>
        </p:nvSpPr>
        <p:spPr>
          <a:xfrm>
            <a:off x="10222351" y="2087497"/>
            <a:ext cx="1631533" cy="605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800" dirty="0"/>
              <a:t>D=165mm</a:t>
            </a:r>
          </a:p>
          <a:p>
            <a:pPr marL="0" indent="0" algn="l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altLang="zh-CN" sz="1800" dirty="0"/>
              <a:t>M=6.8kg</a:t>
            </a:r>
            <a:endParaRPr lang="zh-CN" altLang="en-US" sz="1800" dirty="0" err="1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1508568-1DAE-F4DF-7CB1-25354FA5DB4C}"/>
              </a:ext>
            </a:extLst>
          </p:cNvPr>
          <p:cNvGrpSpPr/>
          <p:nvPr/>
        </p:nvGrpSpPr>
        <p:grpSpPr>
          <a:xfrm>
            <a:off x="6606590" y="5157167"/>
            <a:ext cx="2267222" cy="841256"/>
            <a:chOff x="5426801" y="5097177"/>
            <a:chExt cx="2267222" cy="841256"/>
          </a:xfrm>
        </p:grpSpPr>
        <p:sp>
          <p:nvSpPr>
            <p:cNvPr id="21" name="CustomShape 9">
              <a:extLst>
                <a:ext uri="{FF2B5EF4-FFF2-40B4-BE49-F238E27FC236}">
                  <a16:creationId xmlns:a16="http://schemas.microsoft.com/office/drawing/2014/main" id="{524639DA-9BF3-7FE9-3043-953741D20A1A}"/>
                </a:ext>
              </a:extLst>
            </p:cNvPr>
            <p:cNvSpPr/>
            <p:nvPr/>
          </p:nvSpPr>
          <p:spPr>
            <a:xfrm>
              <a:off x="5430001" y="5704757"/>
              <a:ext cx="196890" cy="192516"/>
            </a:xfrm>
            <a:prstGeom prst="ellipse">
              <a:avLst/>
            </a:prstGeom>
            <a:solidFill>
              <a:srgbClr val="92D05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2" name="CustomShape 9">
              <a:extLst>
                <a:ext uri="{FF2B5EF4-FFF2-40B4-BE49-F238E27FC236}">
                  <a16:creationId xmlns:a16="http://schemas.microsoft.com/office/drawing/2014/main" id="{517674F3-5D1D-B2EF-3847-1ED59E9BBFD3}"/>
                </a:ext>
              </a:extLst>
            </p:cNvPr>
            <p:cNvSpPr/>
            <p:nvPr/>
          </p:nvSpPr>
          <p:spPr>
            <a:xfrm>
              <a:off x="5430001" y="5419284"/>
              <a:ext cx="196890" cy="192516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3" name="CustomShape 9">
              <a:extLst>
                <a:ext uri="{FF2B5EF4-FFF2-40B4-BE49-F238E27FC236}">
                  <a16:creationId xmlns:a16="http://schemas.microsoft.com/office/drawing/2014/main" id="{DD1AE560-D87E-F62D-3C99-026A75AC3C30}"/>
                </a:ext>
              </a:extLst>
            </p:cNvPr>
            <p:cNvSpPr/>
            <p:nvPr/>
          </p:nvSpPr>
          <p:spPr>
            <a:xfrm>
              <a:off x="5426801" y="5138833"/>
              <a:ext cx="196890" cy="192516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1DEDD5F-7653-71F9-3FC0-9B4E0CF68901}"/>
                </a:ext>
              </a:extLst>
            </p:cNvPr>
            <p:cNvSpPr txBox="1"/>
            <p:nvPr/>
          </p:nvSpPr>
          <p:spPr>
            <a:xfrm>
              <a:off x="5730080" y="5097177"/>
              <a:ext cx="1963943" cy="84125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600" dirty="0"/>
                <a:t>3ms &gt; 80g</a:t>
              </a:r>
            </a:p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600" dirty="0"/>
                <a:t>65g </a:t>
              </a:r>
              <a:r>
                <a:rPr lang="zh-CN" altLang="en-US" sz="1600" dirty="0"/>
                <a:t>≤ </a:t>
              </a:r>
              <a:r>
                <a:rPr lang="en-US" altLang="zh-CN" sz="1600" dirty="0"/>
                <a:t>3ms </a:t>
              </a:r>
              <a:r>
                <a:rPr lang="zh-CN" altLang="en-US" sz="1600" dirty="0"/>
                <a:t>≤ </a:t>
              </a:r>
              <a:r>
                <a:rPr lang="en-US" altLang="zh-CN" sz="1600" dirty="0"/>
                <a:t>80g</a:t>
              </a:r>
            </a:p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600" dirty="0"/>
                <a:t>3ms </a:t>
              </a:r>
              <a:r>
                <a:rPr lang="zh-CN" altLang="en-US" sz="1600" dirty="0"/>
                <a:t>＜ </a:t>
              </a:r>
              <a:r>
                <a:rPr lang="en-US" altLang="zh-CN" sz="1600" dirty="0"/>
                <a:t>65g</a:t>
              </a:r>
              <a:endParaRPr lang="zh-CN" altLang="en-US" sz="16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868742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14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3" name="Footer Placeholder 12">
            <a:extLst>
              <a:ext uri="{FF2B5EF4-FFF2-40B4-BE49-F238E27FC236}">
                <a16:creationId xmlns:a16="http://schemas.microsoft.com/office/drawing/2014/main" id="{68A83931-8A37-C7BB-A976-612137987E45}"/>
              </a:ext>
            </a:extLst>
          </p:cNvPr>
          <p:cNvSpPr txBox="1">
            <a:spLocks/>
          </p:cNvSpPr>
          <p:nvPr/>
        </p:nvSpPr>
        <p:spPr bwMode="gray">
          <a:xfrm>
            <a:off x="407988" y="6593109"/>
            <a:ext cx="10108364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7" name="表格 19">
            <a:extLst>
              <a:ext uri="{FF2B5EF4-FFF2-40B4-BE49-F238E27FC236}">
                <a16:creationId xmlns:a16="http://schemas.microsoft.com/office/drawing/2014/main" id="{1657D4E0-BB4C-15EA-03E3-ECBEB80EE23B}"/>
              </a:ext>
            </a:extLst>
          </p:cNvPr>
          <p:cNvGraphicFramePr>
            <a:graphicFrameLocks/>
          </p:cNvGraphicFramePr>
          <p:nvPr/>
        </p:nvGraphicFramePr>
        <p:xfrm>
          <a:off x="478801" y="1932669"/>
          <a:ext cx="478518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113">
                  <a:extLst>
                    <a:ext uri="{9D8B030D-6E8A-4147-A177-3AD203B41FA5}">
                      <a16:colId xmlns:a16="http://schemas.microsoft.com/office/drawing/2014/main" val="2937743484"/>
                    </a:ext>
                  </a:extLst>
                </a:gridCol>
                <a:gridCol w="1053477">
                  <a:extLst>
                    <a:ext uri="{9D8B030D-6E8A-4147-A177-3AD203B41FA5}">
                      <a16:colId xmlns:a16="http://schemas.microsoft.com/office/drawing/2014/main" val="4281611943"/>
                    </a:ext>
                  </a:extLst>
                </a:gridCol>
                <a:gridCol w="1196295">
                  <a:extLst>
                    <a:ext uri="{9D8B030D-6E8A-4147-A177-3AD203B41FA5}">
                      <a16:colId xmlns:a16="http://schemas.microsoft.com/office/drawing/2014/main" val="3605295907"/>
                    </a:ext>
                  </a:extLst>
                </a:gridCol>
                <a:gridCol w="1196295">
                  <a:extLst>
                    <a:ext uri="{9D8B030D-6E8A-4147-A177-3AD203B41FA5}">
                      <a16:colId xmlns:a16="http://schemas.microsoft.com/office/drawing/2014/main" val="4155857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Point Number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X/mm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Y/mm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Z/mm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12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+mn-lt"/>
                        </a:rPr>
                        <a:t>ASP01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2436.86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-36.82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1735.00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5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ASP02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2436.86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143.18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1735.00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16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ASP03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2436.86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323.18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1735.00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864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ASP04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2436.86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483.18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1735.00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39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ASP05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2462.22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-37.29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1654.05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048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ASP06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2462.22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142.71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1654.05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ASP07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2461.14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322.67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1657.42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989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ASP08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2463.68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483.18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1649.49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8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ASP09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2454.70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524.98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1688.43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704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ASP10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2408.69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642.98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1686.27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01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ASP11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2397.82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655.39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1589.21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16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+mn-lt"/>
                        </a:rPr>
                        <a:t>ASP12</a:t>
                      </a:r>
                      <a:endParaRPr lang="zh-CN" altLang="en-US" sz="14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2448.64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632.69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1509.66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394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93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All of the points can meet the target. And the red boxed area is exemption zone.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Head impact result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11" name="表格占位符 10">
            <a:extLst>
              <a:ext uri="{FF2B5EF4-FFF2-40B4-BE49-F238E27FC236}">
                <a16:creationId xmlns:a16="http://schemas.microsoft.com/office/drawing/2014/main" id="{98A6839A-987D-1333-6E7D-A87B62058F2F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450848" y="2021866"/>
          <a:ext cx="6456053" cy="358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3624">
                  <a:extLst>
                    <a:ext uri="{9D8B030D-6E8A-4147-A177-3AD203B41FA5}">
                      <a16:colId xmlns:a16="http://schemas.microsoft.com/office/drawing/2014/main" val="76915138"/>
                    </a:ext>
                  </a:extLst>
                </a:gridCol>
                <a:gridCol w="1686749">
                  <a:extLst>
                    <a:ext uri="{9D8B030D-6E8A-4147-A177-3AD203B41FA5}">
                      <a16:colId xmlns:a16="http://schemas.microsoft.com/office/drawing/2014/main" val="2216023470"/>
                    </a:ext>
                  </a:extLst>
                </a:gridCol>
                <a:gridCol w="1276254">
                  <a:extLst>
                    <a:ext uri="{9D8B030D-6E8A-4147-A177-3AD203B41FA5}">
                      <a16:colId xmlns:a16="http://schemas.microsoft.com/office/drawing/2014/main" val="1809639572"/>
                    </a:ext>
                  </a:extLst>
                </a:gridCol>
                <a:gridCol w="1276254">
                  <a:extLst>
                    <a:ext uri="{9D8B030D-6E8A-4147-A177-3AD203B41FA5}">
                      <a16:colId xmlns:a16="http://schemas.microsoft.com/office/drawing/2014/main" val="447518341"/>
                    </a:ext>
                  </a:extLst>
                </a:gridCol>
                <a:gridCol w="983172">
                  <a:extLst>
                    <a:ext uri="{9D8B030D-6E8A-4147-A177-3AD203B41FA5}">
                      <a16:colId xmlns:a16="http://schemas.microsoft.com/office/drawing/2014/main" val="269377654"/>
                    </a:ext>
                  </a:extLst>
                </a:gridCol>
              </a:tblGrid>
              <a:tr h="2895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Point Number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Target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V01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Status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485947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ASP01</a:t>
                      </a:r>
                      <a:endParaRPr lang="zh-CN" altLang="en-US" sz="1100" dirty="0"/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54.68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52.01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721345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57.10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52.49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34693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ASP03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51.47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22542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ASP04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49.69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58869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ASP05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62.62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62.54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488627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ASP06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87.67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78.55</a:t>
                      </a:r>
                      <a:endParaRPr lang="zh-CN" alt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907973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ASP07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80.30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14250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ASP08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91.12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27730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ASP09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76.37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36907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ASP10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104.80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89058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ASP11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105.59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465243"/>
                  </a:ext>
                </a:extLst>
              </a:tr>
              <a:tr h="273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ASP12</a:t>
                      </a:r>
                      <a:endParaRPr lang="zh-CN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97.80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Acceptable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9934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0F4AC28B-7CE5-EE73-D1F2-1AE5BFCF733A}"/>
              </a:ext>
            </a:extLst>
          </p:cNvPr>
          <p:cNvGrpSpPr/>
          <p:nvPr/>
        </p:nvGrpSpPr>
        <p:grpSpPr>
          <a:xfrm>
            <a:off x="1880452" y="3421745"/>
            <a:ext cx="1746680" cy="648358"/>
            <a:chOff x="5426801" y="5186637"/>
            <a:chExt cx="2256844" cy="746528"/>
          </a:xfrm>
        </p:grpSpPr>
        <p:sp>
          <p:nvSpPr>
            <p:cNvPr id="19" name="CustomShape 9">
              <a:extLst>
                <a:ext uri="{FF2B5EF4-FFF2-40B4-BE49-F238E27FC236}">
                  <a16:creationId xmlns:a16="http://schemas.microsoft.com/office/drawing/2014/main" id="{3B0F33DE-92E2-8792-EF52-33940320CEDA}"/>
                </a:ext>
              </a:extLst>
            </p:cNvPr>
            <p:cNvSpPr/>
            <p:nvPr/>
          </p:nvSpPr>
          <p:spPr>
            <a:xfrm>
              <a:off x="5430001" y="5740649"/>
              <a:ext cx="196890" cy="192516"/>
            </a:xfrm>
            <a:prstGeom prst="ellipse">
              <a:avLst/>
            </a:prstGeom>
            <a:solidFill>
              <a:srgbClr val="92D05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0" name="CustomShape 9">
              <a:extLst>
                <a:ext uri="{FF2B5EF4-FFF2-40B4-BE49-F238E27FC236}">
                  <a16:creationId xmlns:a16="http://schemas.microsoft.com/office/drawing/2014/main" id="{0A87E041-D9D8-02AE-A271-2D91071050B4}"/>
                </a:ext>
              </a:extLst>
            </p:cNvPr>
            <p:cNvSpPr/>
            <p:nvPr/>
          </p:nvSpPr>
          <p:spPr>
            <a:xfrm>
              <a:off x="5430001" y="5443212"/>
              <a:ext cx="196890" cy="192516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1" name="CustomShape 9">
              <a:extLst>
                <a:ext uri="{FF2B5EF4-FFF2-40B4-BE49-F238E27FC236}">
                  <a16:creationId xmlns:a16="http://schemas.microsoft.com/office/drawing/2014/main" id="{7AE187A0-435E-E5DE-3AC4-56DF6FF79B4B}"/>
                </a:ext>
              </a:extLst>
            </p:cNvPr>
            <p:cNvSpPr/>
            <p:nvPr/>
          </p:nvSpPr>
          <p:spPr>
            <a:xfrm>
              <a:off x="5426801" y="5186689"/>
              <a:ext cx="196890" cy="192516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04BEA67-50A9-F8AA-AD39-A157F0FCF07F}"/>
                </a:ext>
              </a:extLst>
            </p:cNvPr>
            <p:cNvSpPr txBox="1"/>
            <p:nvPr/>
          </p:nvSpPr>
          <p:spPr>
            <a:xfrm>
              <a:off x="5719702" y="5186637"/>
              <a:ext cx="1963943" cy="5556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200" dirty="0"/>
                <a:t>3ms &gt; 80g</a:t>
              </a:r>
            </a:p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200" dirty="0"/>
                <a:t>65g </a:t>
              </a:r>
              <a:r>
                <a:rPr lang="zh-CN" altLang="en-US" sz="1200" dirty="0"/>
                <a:t>≤ </a:t>
              </a:r>
              <a:r>
                <a:rPr lang="en-US" altLang="zh-CN" sz="1200" dirty="0"/>
                <a:t>3ms </a:t>
              </a:r>
              <a:r>
                <a:rPr lang="zh-CN" altLang="en-US" sz="1200" dirty="0"/>
                <a:t>≤ </a:t>
              </a:r>
              <a:r>
                <a:rPr lang="en-US" altLang="zh-CN" sz="1200" dirty="0"/>
                <a:t>80g</a:t>
              </a:r>
            </a:p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r>
                <a:rPr lang="en-US" altLang="zh-CN" sz="1200" dirty="0"/>
                <a:t>3ms </a:t>
              </a:r>
              <a:r>
                <a:rPr lang="zh-CN" altLang="en-US" sz="1200" dirty="0"/>
                <a:t>＜ </a:t>
              </a:r>
              <a:r>
                <a:rPr lang="en-US" altLang="zh-CN" sz="1200" dirty="0"/>
                <a:t>65g</a:t>
              </a:r>
              <a:endParaRPr lang="zh-CN" altLang="en-US" sz="1200" dirty="0" err="1"/>
            </a:p>
          </p:txBody>
        </p:sp>
      </p:grpSp>
      <p:grpSp>
        <p:nvGrpSpPr>
          <p:cNvPr id="13" name="Grupo 19">
            <a:extLst>
              <a:ext uri="{FF2B5EF4-FFF2-40B4-BE49-F238E27FC236}">
                <a16:creationId xmlns:a16="http://schemas.microsoft.com/office/drawing/2014/main" id="{BBF07297-B0C7-7550-73D5-9F3C9D60A520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14" name="CustomShape 9">
              <a:extLst>
                <a:ext uri="{FF2B5EF4-FFF2-40B4-BE49-F238E27FC236}">
                  <a16:creationId xmlns:a16="http://schemas.microsoft.com/office/drawing/2014/main" id="{6D8961CC-63CA-763D-26DF-D8CCA280334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6E40DF4E-5766-DC14-C1CE-61455005DF26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9">
              <a:extLst>
                <a:ext uri="{FF2B5EF4-FFF2-40B4-BE49-F238E27FC236}">
                  <a16:creationId xmlns:a16="http://schemas.microsoft.com/office/drawing/2014/main" id="{FE6D31B4-A1B6-271C-81EA-92908E441FF6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CustomShape 8">
              <a:extLst>
                <a:ext uri="{FF2B5EF4-FFF2-40B4-BE49-F238E27FC236}">
                  <a16:creationId xmlns:a16="http://schemas.microsoft.com/office/drawing/2014/main" id="{D96CD9A2-2FB5-5AA6-31EB-11E7CE12FD0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40" name="Grupo 1">
              <a:extLst>
                <a:ext uri="{FF2B5EF4-FFF2-40B4-BE49-F238E27FC236}">
                  <a16:creationId xmlns:a16="http://schemas.microsoft.com/office/drawing/2014/main" id="{95383E63-CAD2-44E5-D450-A29FA5B05303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41" name="CustomShape 9">
                <a:extLst>
                  <a:ext uri="{FF2B5EF4-FFF2-40B4-BE49-F238E27FC236}">
                    <a16:creationId xmlns:a16="http://schemas.microsoft.com/office/drawing/2014/main" id="{AC099F24-72B8-A582-D161-95F9091C030A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44" name="CustomShape 9">
                <a:extLst>
                  <a:ext uri="{FF2B5EF4-FFF2-40B4-BE49-F238E27FC236}">
                    <a16:creationId xmlns:a16="http://schemas.microsoft.com/office/drawing/2014/main" id="{B4276BC5-A094-8357-863C-BAA40AD906D2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5" name="CustomShape 9">
                <a:extLst>
                  <a:ext uri="{FF2B5EF4-FFF2-40B4-BE49-F238E27FC236}">
                    <a16:creationId xmlns:a16="http://schemas.microsoft.com/office/drawing/2014/main" id="{D35E5972-8753-BA71-7F6B-0F0BB2F189F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803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16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3.1 NVH analysis</a:t>
            </a:r>
          </a:p>
        </p:txBody>
      </p:sp>
      <p:sp>
        <p:nvSpPr>
          <p:cNvPr id="12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7988" y="6584400"/>
            <a:ext cx="10108364" cy="126000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AC9FEE-1DF6-AD28-72E5-B43B083C2B37}"/>
              </a:ext>
            </a:extLst>
          </p:cNvPr>
          <p:cNvSpPr/>
          <p:nvPr/>
        </p:nvSpPr>
        <p:spPr>
          <a:xfrm>
            <a:off x="575605" y="3547995"/>
            <a:ext cx="3854192" cy="83517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Global Frequency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&gt; 35Hz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</p:txBody>
      </p:sp>
    </p:spTree>
    <p:extLst>
      <p:ext uri="{BB962C8B-B14F-4D97-AF65-F5344CB8AC3E}">
        <p14:creationId xmlns:p14="http://schemas.microsoft.com/office/powerpoint/2010/main" val="120152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17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Global Modal of IP&amp;CNSL = </a:t>
            </a:r>
            <a:r>
              <a:rPr lang="en-US" altLang="zh-CN" dirty="0">
                <a:solidFill>
                  <a:schemeClr val="tx1"/>
                </a:solidFill>
              </a:rPr>
              <a:t>35.3</a:t>
            </a:r>
            <a:r>
              <a:rPr lang="en-US" altLang="zh-CN" dirty="0"/>
              <a:t>Hz &gt; 35Hz,</a:t>
            </a:r>
            <a:r>
              <a:rPr lang="zh-CN" altLang="en-US" dirty="0"/>
              <a:t> </a:t>
            </a:r>
            <a:r>
              <a:rPr lang="en-US" altLang="zh-CN" dirty="0"/>
              <a:t>and it can meet the target.</a:t>
            </a:r>
          </a:p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Global Modal of HSK = </a:t>
            </a:r>
            <a:r>
              <a:rPr lang="en-US" altLang="zh-CN" dirty="0">
                <a:solidFill>
                  <a:schemeClr val="tx1"/>
                </a:solidFill>
              </a:rPr>
              <a:t>40.0</a:t>
            </a:r>
            <a:r>
              <a:rPr lang="en-US" altLang="zh-CN" dirty="0"/>
              <a:t>Hz &gt; 35Hz, and it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Results overview of NVH analysis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59410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18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19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3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4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5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6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3" name="表格占位符 7">
            <a:extLst>
              <a:ext uri="{FF2B5EF4-FFF2-40B4-BE49-F238E27FC236}">
                <a16:creationId xmlns:a16="http://schemas.microsoft.com/office/drawing/2014/main" id="{72C7AAD6-D723-04B9-CF28-E5902E41740E}"/>
              </a:ext>
            </a:extLst>
          </p:cNvPr>
          <p:cNvGraphicFramePr>
            <a:graphicFrameLocks/>
          </p:cNvGraphicFramePr>
          <p:nvPr/>
        </p:nvGraphicFramePr>
        <p:xfrm>
          <a:off x="1054851" y="1928419"/>
          <a:ext cx="9461501" cy="338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177">
                  <a:extLst>
                    <a:ext uri="{9D8B030D-6E8A-4147-A177-3AD203B41FA5}">
                      <a16:colId xmlns:a16="http://schemas.microsoft.com/office/drawing/2014/main" val="2481704842"/>
                    </a:ext>
                  </a:extLst>
                </a:gridCol>
                <a:gridCol w="1177764">
                  <a:extLst>
                    <a:ext uri="{9D8B030D-6E8A-4147-A177-3AD203B41FA5}">
                      <a16:colId xmlns:a16="http://schemas.microsoft.com/office/drawing/2014/main" val="928479458"/>
                    </a:ext>
                  </a:extLst>
                </a:gridCol>
                <a:gridCol w="3255420">
                  <a:extLst>
                    <a:ext uri="{9D8B030D-6E8A-4147-A177-3AD203B41FA5}">
                      <a16:colId xmlns:a16="http://schemas.microsoft.com/office/drawing/2014/main" val="4028686089"/>
                    </a:ext>
                  </a:extLst>
                </a:gridCol>
                <a:gridCol w="1261391">
                  <a:extLst>
                    <a:ext uri="{9D8B030D-6E8A-4147-A177-3AD203B41FA5}">
                      <a16:colId xmlns:a16="http://schemas.microsoft.com/office/drawing/2014/main" val="2887143440"/>
                    </a:ext>
                  </a:extLst>
                </a:gridCol>
                <a:gridCol w="1630749">
                  <a:extLst>
                    <a:ext uri="{9D8B030D-6E8A-4147-A177-3AD203B41FA5}">
                      <a16:colId xmlns:a16="http://schemas.microsoft.com/office/drawing/2014/main" val="2377884716"/>
                    </a:ext>
                  </a:extLst>
                </a:gridCol>
              </a:tblGrid>
              <a:tr h="81588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lt"/>
                        </a:rPr>
                        <a:t>Global Modal</a:t>
                      </a:r>
                      <a:endParaRPr lang="zh-CN" altLang="en-US" sz="1800" dirty="0">
                        <a:latin typeface="+mn-lt"/>
                      </a:endParaRP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Target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lt"/>
                        </a:rPr>
                        <a:t>CAE Result / Hz</a:t>
                      </a:r>
                      <a:endParaRPr lang="zh-CN" altLang="en-US" sz="1800" dirty="0"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Status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302475"/>
                  </a:ext>
                </a:extLst>
              </a:tr>
              <a:tr h="492663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+mn-lt"/>
                        </a:rPr>
                        <a:t>V00</a:t>
                      </a:r>
                      <a:endParaRPr lang="zh-CN" altLang="en-US" sz="1800" dirty="0">
                        <a:latin typeface="+mn-lt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300751"/>
                  </a:ext>
                </a:extLst>
              </a:tr>
              <a:tr h="45763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/>
                        <a:t>IP&amp;CNSL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1st</a:t>
                      </a:r>
                      <a:endParaRPr lang="zh-CN" altLang="en-US" sz="16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</a:rPr>
                        <a:t>Natural Frequency &gt; 35Hz</a:t>
                      </a:r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35.1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040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600" baseline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2nd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40.2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418201"/>
                  </a:ext>
                </a:extLst>
              </a:tr>
              <a:tr h="4727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335144"/>
                  </a:ext>
                </a:extLst>
              </a:tr>
              <a:tr h="48777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baseline="0" dirty="0"/>
                        <a:t>HSK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1st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40.0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613325"/>
                  </a:ext>
                </a:extLst>
              </a:tr>
              <a:tr h="487774">
                <a:tc vMerge="1">
                  <a:txBody>
                    <a:bodyPr/>
                    <a:lstStyle/>
                    <a:p>
                      <a:pPr algn="ctr"/>
                      <a:endParaRPr lang="en-US" altLang="zh-CN" sz="16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2nd</a:t>
                      </a:r>
                      <a:endParaRPr lang="zh-CN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40.2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OK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036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05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18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3.4 Rear Impact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92003D4-B620-F37D-F831-D3F4711E6C91}"/>
              </a:ext>
            </a:extLst>
          </p:cNvPr>
          <p:cNvSpPr/>
          <p:nvPr/>
        </p:nvSpPr>
        <p:spPr>
          <a:xfrm>
            <a:off x="596742" y="2890205"/>
            <a:ext cx="4853705" cy="228870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Loading: 30g Sine wave 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structure is complete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not detach from MQT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and clip remain closed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Global -X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</p:txBody>
      </p:sp>
      <p:sp>
        <p:nvSpPr>
          <p:cNvPr id="12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7988" y="6584400"/>
            <a:ext cx="10108364" cy="126000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20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19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load case of Rear Impact can meet the target.</a:t>
            </a:r>
          </a:p>
          <a:p>
            <a:r>
              <a:rPr lang="en-US" altLang="zh-CN" dirty="0"/>
              <a:t>There are only individual welding columns and ribs have detached, and there are no parts flying out. </a:t>
            </a:r>
            <a:endParaRPr lang="zh-CN" altLang="en-US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Results overview of Rear Impact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1" name="Grupo 19">
            <a:extLst>
              <a:ext uri="{FF2B5EF4-FFF2-40B4-BE49-F238E27FC236}">
                <a16:creationId xmlns:a16="http://schemas.microsoft.com/office/drawing/2014/main" id="{6D990188-E5C0-1C1D-5AEE-85527600D39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2" name="CustomShape 9">
              <a:extLst>
                <a:ext uri="{FF2B5EF4-FFF2-40B4-BE49-F238E27FC236}">
                  <a16:creationId xmlns:a16="http://schemas.microsoft.com/office/drawing/2014/main" id="{E6B6C570-1B70-D846-4371-BD97A8E8A070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AEA4E4A9-A187-6256-CCF1-1F676953C2E0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99577C17-81E3-A9AA-41C4-516C663FE5CF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8">
              <a:extLst>
                <a:ext uri="{FF2B5EF4-FFF2-40B4-BE49-F238E27FC236}">
                  <a16:creationId xmlns:a16="http://schemas.microsoft.com/office/drawing/2014/main" id="{8213CD32-D15A-C579-C84B-A3CE9A5412A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6" name="Grupo 1">
              <a:extLst>
                <a:ext uri="{FF2B5EF4-FFF2-40B4-BE49-F238E27FC236}">
                  <a16:creationId xmlns:a16="http://schemas.microsoft.com/office/drawing/2014/main" id="{1600D330-BCEB-1B44-5B13-ABE382E533C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7" name="CustomShape 9">
                <a:extLst>
                  <a:ext uri="{FF2B5EF4-FFF2-40B4-BE49-F238E27FC236}">
                    <a16:creationId xmlns:a16="http://schemas.microsoft.com/office/drawing/2014/main" id="{606A5496-0FC4-2967-B999-9DE7D4F7F1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FFFFFF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38265107-8BB1-35C3-C0B5-4AE80533890F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18384BDC-6A59-780B-FB94-78FC58975DDC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46243" y="1883800"/>
          <a:ext cx="10368154" cy="3468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670">
                  <a:extLst>
                    <a:ext uri="{9D8B030D-6E8A-4147-A177-3AD203B41FA5}">
                      <a16:colId xmlns:a16="http://schemas.microsoft.com/office/drawing/2014/main" val="435554186"/>
                    </a:ext>
                  </a:extLst>
                </a:gridCol>
                <a:gridCol w="4061994">
                  <a:extLst>
                    <a:ext uri="{9D8B030D-6E8A-4147-A177-3AD203B41FA5}">
                      <a16:colId xmlns:a16="http://schemas.microsoft.com/office/drawing/2014/main" val="2012943242"/>
                    </a:ext>
                  </a:extLst>
                </a:gridCol>
                <a:gridCol w="3283647">
                  <a:extLst>
                    <a:ext uri="{9D8B030D-6E8A-4147-A177-3AD203B41FA5}">
                      <a16:colId xmlns:a16="http://schemas.microsoft.com/office/drawing/2014/main" val="2364921878"/>
                    </a:ext>
                  </a:extLst>
                </a:gridCol>
                <a:gridCol w="1191843">
                  <a:extLst>
                    <a:ext uri="{9D8B030D-6E8A-4147-A177-3AD203B41FA5}">
                      <a16:colId xmlns:a16="http://schemas.microsoft.com/office/drawing/2014/main" val="257658002"/>
                    </a:ext>
                  </a:extLst>
                </a:gridCol>
              </a:tblGrid>
              <a:tr h="390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Load case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Target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CAE Result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Status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41327"/>
                  </a:ext>
                </a:extLst>
              </a:tr>
              <a:tr h="137012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Rear Impact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The dashboard</a:t>
                      </a:r>
                      <a:r>
                        <a:rPr lang="en-US" altLang="zh-CN" sz="1400" baseline="0" dirty="0"/>
                        <a:t> structure is complete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The IP structure and</a:t>
                      </a:r>
                      <a:r>
                        <a:rPr lang="en-US" altLang="zh-CN" sz="1400" baseline="0" dirty="0"/>
                        <a:t> </a:t>
                      </a:r>
                      <a:r>
                        <a:rPr lang="en-US" altLang="zh-CN" sz="1400" dirty="0"/>
                        <a:t>Wrap-around trim bracket is complete.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OK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05691"/>
                  </a:ext>
                </a:extLst>
              </a:tr>
              <a:tr h="552622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The dashboard can</a:t>
                      </a:r>
                      <a:r>
                        <a:rPr lang="en-US" altLang="zh-CN" sz="1400" baseline="0" dirty="0"/>
                        <a:t> not detach from CCB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The</a:t>
                      </a:r>
                      <a:r>
                        <a:rPr lang="en-US" altLang="zh-CN" sz="1400" baseline="0" dirty="0"/>
                        <a:t> </a:t>
                      </a:r>
                      <a:r>
                        <a:rPr lang="en-US" altLang="zh-CN" sz="1400" dirty="0"/>
                        <a:t>connection</a:t>
                      </a:r>
                      <a:r>
                        <a:rPr lang="en-US" altLang="zh-CN" sz="1400" baseline="0" dirty="0"/>
                        <a:t> points</a:t>
                      </a:r>
                      <a:r>
                        <a:rPr lang="en-US" altLang="zh-CN" sz="1400" dirty="0"/>
                        <a:t> between</a:t>
                      </a:r>
                      <a:r>
                        <a:rPr lang="en-US" altLang="zh-CN" sz="1400" baseline="0" dirty="0"/>
                        <a:t> IP and</a:t>
                      </a:r>
                      <a:r>
                        <a:rPr lang="en-US" altLang="zh-CN" sz="1400" dirty="0"/>
                        <a:t> CCB have not</a:t>
                      </a:r>
                      <a:r>
                        <a:rPr lang="en-US" altLang="zh-CN" sz="1400" baseline="0" dirty="0"/>
                        <a:t>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fallen off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OK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50865"/>
                  </a:ext>
                </a:extLst>
              </a:tr>
              <a:tr h="1155205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3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Cover and clip remain closed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The Glove box remain closed after impact, there are only individual </a:t>
                      </a:r>
                      <a:r>
                        <a:rPr lang="en-US" altLang="zh-CN" sz="1400" baseline="0" dirty="0"/>
                        <a:t>welding columns and ribs have detached, and there are no parts flying out.  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Acceptable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2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306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20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Load case 3.6 review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407988" y="6584400"/>
            <a:ext cx="10108364" cy="126000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AA3A3A-0DE3-0192-88E8-09CCF3FA2D63}"/>
              </a:ext>
            </a:extLst>
          </p:cNvPr>
          <p:cNvSpPr txBox="1"/>
          <p:nvPr/>
        </p:nvSpPr>
        <p:spPr>
          <a:xfrm>
            <a:off x="658821" y="2509226"/>
            <a:ext cx="58826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Acceleration: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Spectrum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Direction: Global X Y Z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Displacement&lt;0.1mm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ADB590-6BB1-258B-C2A0-CB8FFE463186}"/>
              </a:ext>
            </a:extLst>
          </p:cNvPr>
          <p:cNvSpPr txBox="1"/>
          <p:nvPr/>
        </p:nvSpPr>
        <p:spPr>
          <a:xfrm>
            <a:off x="478801" y="2008552"/>
            <a:ext cx="7856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3.6 Image stability of FID and ABT</a:t>
            </a:r>
            <a:endParaRPr lang="en-US" altLang="zh-CN" sz="28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38BD907-D5BD-5B4C-60E2-9AC9BD89BC5C}"/>
              </a:ext>
            </a:extLst>
          </p:cNvPr>
          <p:cNvSpPr txBox="1"/>
          <p:nvPr/>
        </p:nvSpPr>
        <p:spPr>
          <a:xfrm>
            <a:off x="836420" y="4300273"/>
            <a:ext cx="2040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2400" dirty="0">
                <a:solidFill>
                  <a:schemeClr val="tx2"/>
                </a:solidFill>
              </a:rPr>
              <a:t>Response points</a:t>
            </a:r>
            <a:endParaRPr lang="zh-CN" altLang="en-US" sz="24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62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21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dirty="0"/>
              <a:t>All response points can meet the target.</a:t>
            </a:r>
          </a:p>
        </p:txBody>
      </p:sp>
      <p:graphicFrame>
        <p:nvGraphicFramePr>
          <p:cNvPr id="4" name="表格占位符 3">
            <a:extLst>
              <a:ext uri="{FF2B5EF4-FFF2-40B4-BE49-F238E27FC236}">
                <a16:creationId xmlns:a16="http://schemas.microsoft.com/office/drawing/2014/main" id="{2993F0CC-C4C6-2204-7002-6AA3EC560F47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65325"/>
          <a:ext cx="9699791" cy="3549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632">
                  <a:extLst>
                    <a:ext uri="{9D8B030D-6E8A-4147-A177-3AD203B41FA5}">
                      <a16:colId xmlns:a16="http://schemas.microsoft.com/office/drawing/2014/main" val="3003352224"/>
                    </a:ext>
                  </a:extLst>
                </a:gridCol>
                <a:gridCol w="1389926">
                  <a:extLst>
                    <a:ext uri="{9D8B030D-6E8A-4147-A177-3AD203B41FA5}">
                      <a16:colId xmlns:a16="http://schemas.microsoft.com/office/drawing/2014/main" val="945107764"/>
                    </a:ext>
                  </a:extLst>
                </a:gridCol>
                <a:gridCol w="2675029">
                  <a:extLst>
                    <a:ext uri="{9D8B030D-6E8A-4147-A177-3AD203B41FA5}">
                      <a16:colId xmlns:a16="http://schemas.microsoft.com/office/drawing/2014/main" val="37079232"/>
                    </a:ext>
                  </a:extLst>
                </a:gridCol>
                <a:gridCol w="1140873">
                  <a:extLst>
                    <a:ext uri="{9D8B030D-6E8A-4147-A177-3AD203B41FA5}">
                      <a16:colId xmlns:a16="http://schemas.microsoft.com/office/drawing/2014/main" val="3495166158"/>
                    </a:ext>
                  </a:extLst>
                </a:gridCol>
                <a:gridCol w="1104515">
                  <a:extLst>
                    <a:ext uri="{9D8B030D-6E8A-4147-A177-3AD203B41FA5}">
                      <a16:colId xmlns:a16="http://schemas.microsoft.com/office/drawing/2014/main" val="3782339713"/>
                    </a:ext>
                  </a:extLst>
                </a:gridCol>
                <a:gridCol w="1225322">
                  <a:extLst>
                    <a:ext uri="{9D8B030D-6E8A-4147-A177-3AD203B41FA5}">
                      <a16:colId xmlns:a16="http://schemas.microsoft.com/office/drawing/2014/main" val="2718640953"/>
                    </a:ext>
                  </a:extLst>
                </a:gridCol>
                <a:gridCol w="1126494">
                  <a:extLst>
                    <a:ext uri="{9D8B030D-6E8A-4147-A177-3AD203B41FA5}">
                      <a16:colId xmlns:a16="http://schemas.microsoft.com/office/drawing/2014/main" val="3738955317"/>
                    </a:ext>
                  </a:extLst>
                </a:gridCol>
              </a:tblGrid>
              <a:tr h="50713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Point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Load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Target</a:t>
                      </a:r>
                      <a:endParaRPr lang="zh-CN" altLang="en-US" sz="12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CAE Results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Status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752217"/>
                  </a:ext>
                </a:extLst>
              </a:tr>
              <a:tr h="507136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X(mm)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Y(mm)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Z(mm)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359362"/>
                  </a:ext>
                </a:extLst>
              </a:tr>
              <a:tr h="5071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ASP01</a:t>
                      </a:r>
                      <a:endParaRPr lang="zh-CN" altLang="en-US" sz="12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Spectrum</a:t>
                      </a:r>
                      <a:endParaRPr lang="zh-CN" altLang="en-US" sz="12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Displacement&lt;0.1 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1389"/>
                  </a:ext>
                </a:extLst>
              </a:tr>
              <a:tr h="5071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180064"/>
                  </a:ext>
                </a:extLst>
              </a:tr>
              <a:tr h="5071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910607"/>
                  </a:ext>
                </a:extLst>
              </a:tr>
              <a:tr h="5071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ASP04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87791"/>
                  </a:ext>
                </a:extLst>
              </a:tr>
              <a:tr h="5071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ASP05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489115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3.6 Image stability of FID and ABT 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011" y="745374"/>
            <a:ext cx="1947542" cy="10153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9BFEB0F-E5F2-06D9-B937-19BA3B1176D3}"/>
              </a:ext>
            </a:extLst>
          </p:cNvPr>
          <p:cNvSpPr/>
          <p:nvPr/>
        </p:nvSpPr>
        <p:spPr>
          <a:xfrm>
            <a:off x="9326477" y="3001895"/>
            <a:ext cx="688610" cy="2395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668674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22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dirty="0"/>
              <a:t>All response points can meet the target.</a:t>
            </a:r>
          </a:p>
        </p:txBody>
      </p:sp>
      <p:graphicFrame>
        <p:nvGraphicFramePr>
          <p:cNvPr id="4" name="表格占位符 3">
            <a:extLst>
              <a:ext uri="{FF2B5EF4-FFF2-40B4-BE49-F238E27FC236}">
                <a16:creationId xmlns:a16="http://schemas.microsoft.com/office/drawing/2014/main" id="{2993F0CC-C4C6-2204-7002-6AA3EC560F47}"/>
              </a:ext>
            </a:extLst>
          </p:cNvPr>
          <p:cNvGraphicFramePr>
            <a:graphicFrameLocks noGrp="1"/>
          </p:cNvGraphicFramePr>
          <p:nvPr>
            <p:ph type="tbl" sz="quarter" idx="4294967295"/>
          </p:nvPr>
        </p:nvGraphicFramePr>
        <p:xfrm>
          <a:off x="527050" y="1916557"/>
          <a:ext cx="9904328" cy="359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512">
                  <a:extLst>
                    <a:ext uri="{9D8B030D-6E8A-4147-A177-3AD203B41FA5}">
                      <a16:colId xmlns:a16="http://schemas.microsoft.com/office/drawing/2014/main" val="3003352224"/>
                    </a:ext>
                  </a:extLst>
                </a:gridCol>
                <a:gridCol w="1419235">
                  <a:extLst>
                    <a:ext uri="{9D8B030D-6E8A-4147-A177-3AD203B41FA5}">
                      <a16:colId xmlns:a16="http://schemas.microsoft.com/office/drawing/2014/main" val="945107764"/>
                    </a:ext>
                  </a:extLst>
                </a:gridCol>
                <a:gridCol w="2731437">
                  <a:extLst>
                    <a:ext uri="{9D8B030D-6E8A-4147-A177-3AD203B41FA5}">
                      <a16:colId xmlns:a16="http://schemas.microsoft.com/office/drawing/2014/main" val="37079232"/>
                    </a:ext>
                  </a:extLst>
                </a:gridCol>
                <a:gridCol w="1164930">
                  <a:extLst>
                    <a:ext uri="{9D8B030D-6E8A-4147-A177-3AD203B41FA5}">
                      <a16:colId xmlns:a16="http://schemas.microsoft.com/office/drawing/2014/main" val="3495166158"/>
                    </a:ext>
                  </a:extLst>
                </a:gridCol>
                <a:gridCol w="1127806">
                  <a:extLst>
                    <a:ext uri="{9D8B030D-6E8A-4147-A177-3AD203B41FA5}">
                      <a16:colId xmlns:a16="http://schemas.microsoft.com/office/drawing/2014/main" val="3782339713"/>
                    </a:ext>
                  </a:extLst>
                </a:gridCol>
                <a:gridCol w="1251160">
                  <a:extLst>
                    <a:ext uri="{9D8B030D-6E8A-4147-A177-3AD203B41FA5}">
                      <a16:colId xmlns:a16="http://schemas.microsoft.com/office/drawing/2014/main" val="2718640953"/>
                    </a:ext>
                  </a:extLst>
                </a:gridCol>
                <a:gridCol w="1150248">
                  <a:extLst>
                    <a:ext uri="{9D8B030D-6E8A-4147-A177-3AD203B41FA5}">
                      <a16:colId xmlns:a16="http://schemas.microsoft.com/office/drawing/2014/main" val="3738955317"/>
                    </a:ext>
                  </a:extLst>
                </a:gridCol>
              </a:tblGrid>
              <a:tr h="35920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Point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Load</a:t>
                      </a:r>
                      <a:endParaRPr lang="zh-CN" altLang="en-US" sz="12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Target</a:t>
                      </a:r>
                      <a:endParaRPr lang="zh-CN" altLang="en-US" sz="12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CAE Results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Status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752217"/>
                  </a:ext>
                </a:extLst>
              </a:tr>
              <a:tr h="35920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X(mm)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Y(mm)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Z(mm)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359362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ASP06</a:t>
                      </a:r>
                      <a:endParaRPr lang="zh-CN" altLang="en-US" sz="1200" dirty="0"/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Spectrum</a:t>
                      </a:r>
                      <a:endParaRPr lang="zh-CN" altLang="en-US" sz="1200" dirty="0"/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Displacement&lt;0.1 mm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31389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ASP07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180064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ASP08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910607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ASP09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87791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ASP10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299368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ASP11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90921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ASP12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595241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ASP13</a:t>
                      </a:r>
                      <a:endParaRPr lang="zh-CN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0.00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OK</a:t>
                      </a:r>
                      <a:endParaRPr lang="zh-CN" altLang="en-US" sz="12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489115"/>
                  </a:ext>
                </a:extLst>
              </a:tr>
            </a:tbl>
          </a:graphicData>
        </a:graphic>
      </p:graphicFrame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3.6 Image stability of FID and ABT results overview</a:t>
            </a:r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4" name="Grupo 19">
            <a:extLst>
              <a:ext uri="{FF2B5EF4-FFF2-40B4-BE49-F238E27FC236}">
                <a16:creationId xmlns:a16="http://schemas.microsoft.com/office/drawing/2014/main" id="{F22BFD07-732C-4790-9E64-860C8A3F0966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5" name="CustomShape 9">
              <a:extLst>
                <a:ext uri="{FF2B5EF4-FFF2-40B4-BE49-F238E27FC236}">
                  <a16:creationId xmlns:a16="http://schemas.microsoft.com/office/drawing/2014/main" id="{1275F3A0-8968-4C0B-A438-984CDE0BF95A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CustomShape 9">
              <a:extLst>
                <a:ext uri="{FF2B5EF4-FFF2-40B4-BE49-F238E27FC236}">
                  <a16:creationId xmlns:a16="http://schemas.microsoft.com/office/drawing/2014/main" id="{C5F8E015-E2FD-49B3-8BDF-44D621AA8D05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CustomShape 9">
              <a:extLst>
                <a:ext uri="{FF2B5EF4-FFF2-40B4-BE49-F238E27FC236}">
                  <a16:creationId xmlns:a16="http://schemas.microsoft.com/office/drawing/2014/main" id="{B9CFFB10-C53A-432E-87CC-478A0739D942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CustomShape 8">
              <a:extLst>
                <a:ext uri="{FF2B5EF4-FFF2-40B4-BE49-F238E27FC236}">
                  <a16:creationId xmlns:a16="http://schemas.microsoft.com/office/drawing/2014/main" id="{B0A29D94-2638-4878-BCFE-89A735CC9D39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9" name="Grupo 1">
              <a:extLst>
                <a:ext uri="{FF2B5EF4-FFF2-40B4-BE49-F238E27FC236}">
                  <a16:creationId xmlns:a16="http://schemas.microsoft.com/office/drawing/2014/main" id="{4159E755-032D-450E-BAC9-B830D2C7077C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0" name="CustomShape 9">
                <a:extLst>
                  <a:ext uri="{FF2B5EF4-FFF2-40B4-BE49-F238E27FC236}">
                    <a16:creationId xmlns:a16="http://schemas.microsoft.com/office/drawing/2014/main" id="{B3A63F11-04CC-41FB-ADB3-2CE69FE2EF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92D05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31" name="CustomShape 9">
                <a:extLst>
                  <a:ext uri="{FF2B5EF4-FFF2-40B4-BE49-F238E27FC236}">
                    <a16:creationId xmlns:a16="http://schemas.microsoft.com/office/drawing/2014/main" id="{8FAB183F-57B2-499E-B7EE-AA098CC5237D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2" name="CustomShape 9">
                <a:extLst>
                  <a:ext uri="{FF2B5EF4-FFF2-40B4-BE49-F238E27FC236}">
                    <a16:creationId xmlns:a16="http://schemas.microsoft.com/office/drawing/2014/main" id="{FB2F5B3C-3D47-47BF-BC6D-649E45D1006E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938" y="876453"/>
            <a:ext cx="2485292" cy="83490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9BFEB0F-E5F2-06D9-B937-19BA3B1176D3}"/>
              </a:ext>
            </a:extLst>
          </p:cNvPr>
          <p:cNvSpPr/>
          <p:nvPr/>
        </p:nvSpPr>
        <p:spPr>
          <a:xfrm>
            <a:off x="9542584" y="2700730"/>
            <a:ext cx="688610" cy="2717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70443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10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23</a:t>
            </a:fld>
            <a:endParaRPr lang="en-GB" noProof="0" dirty="0"/>
          </a:p>
        </p:txBody>
      </p:sp>
      <p:sp>
        <p:nvSpPr>
          <p:cNvPr id="18" name="Title 17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Load case review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1EC7341F-AD79-E375-CA44-CCCF22AFBB55}"/>
              </a:ext>
            </a:extLst>
          </p:cNvPr>
          <p:cNvSpPr txBox="1">
            <a:spLocks/>
          </p:cNvSpPr>
          <p:nvPr/>
        </p:nvSpPr>
        <p:spPr bwMode="gray">
          <a:xfrm>
            <a:off x="658821" y="1965888"/>
            <a:ext cx="11233150" cy="3600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600" b="0" kern="1200" spc="1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4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1219140" rtl="0" eaLnBrk="1" latinLnBrk="0" hangingPunct="1">
              <a:spcBef>
                <a:spcPts val="0"/>
              </a:spcBef>
              <a:buFont typeface="VW Text Office" panose="020B0503040200000003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219140" rtl="0" eaLnBrk="1" latinLnBrk="0" hangingPunct="1">
              <a:spcBef>
                <a:spcPts val="0"/>
              </a:spcBef>
              <a:buFont typeface="Symbol" panose="05050102010706020507" pitchFamily="18" charset="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3.2. </a:t>
            </a:r>
            <a:r>
              <a:rPr lang="en-US" altLang="zh-CN" dirty="0"/>
              <a:t>Airbag deployment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92003D4-B620-F37D-F831-D3F4711E6C91}"/>
              </a:ext>
            </a:extLst>
          </p:cNvPr>
          <p:cNvSpPr/>
          <p:nvPr/>
        </p:nvSpPr>
        <p:spPr>
          <a:xfrm>
            <a:off x="596742" y="2890205"/>
            <a:ext cx="4853705" cy="228870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rtlCol="0" anchor="t"/>
          <a:lstStyle/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structure is complete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Airbag safety deployment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Glass no failure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and clip remain closed</a:t>
            </a: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23℃/-35 ℃ /85 ℃</a:t>
            </a:r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4294967295"/>
          </p:nvPr>
        </p:nvSpPr>
        <p:spPr>
          <a:xfrm>
            <a:off x="407988" y="6584400"/>
            <a:ext cx="10108364" cy="126000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681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24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dirty="0"/>
              <a:t>The load case of Airbag deployment RT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Results overview of Airbag deployment RT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3893" y="1871770"/>
          <a:ext cx="11037770" cy="3615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8902">
                  <a:extLst>
                    <a:ext uri="{9D8B030D-6E8A-4147-A177-3AD203B41FA5}">
                      <a16:colId xmlns:a16="http://schemas.microsoft.com/office/drawing/2014/main" val="435554186"/>
                    </a:ext>
                  </a:extLst>
                </a:gridCol>
                <a:gridCol w="4312145">
                  <a:extLst>
                    <a:ext uri="{9D8B030D-6E8A-4147-A177-3AD203B41FA5}">
                      <a16:colId xmlns:a16="http://schemas.microsoft.com/office/drawing/2014/main" val="2012943242"/>
                    </a:ext>
                  </a:extLst>
                </a:gridCol>
                <a:gridCol w="3652383">
                  <a:extLst>
                    <a:ext uri="{9D8B030D-6E8A-4147-A177-3AD203B41FA5}">
                      <a16:colId xmlns:a16="http://schemas.microsoft.com/office/drawing/2014/main" val="2364921878"/>
                    </a:ext>
                  </a:extLst>
                </a:gridCol>
                <a:gridCol w="1124340">
                  <a:extLst>
                    <a:ext uri="{9D8B030D-6E8A-4147-A177-3AD203B41FA5}">
                      <a16:colId xmlns:a16="http://schemas.microsoft.com/office/drawing/2014/main" val="257658002"/>
                    </a:ext>
                  </a:extLst>
                </a:gridCol>
              </a:tblGrid>
              <a:tr h="3770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41327"/>
                  </a:ext>
                </a:extLst>
              </a:tr>
              <a:tr h="1193848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Airbag deployment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Structure complete, no parts fly out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Upper and</a:t>
                      </a:r>
                      <a:r>
                        <a:rPr lang="en-US" altLang="zh-CN" sz="1400" baseline="0" dirty="0"/>
                        <a:t> lower</a:t>
                      </a:r>
                      <a:r>
                        <a:rPr lang="en-US" altLang="zh-CN" sz="1400" dirty="0"/>
                        <a:t> bracket structure is complete; Speaker cover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air outlet trim panel and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upper atmosphere light cover </a:t>
                      </a:r>
                      <a:r>
                        <a:rPr lang="en-US" altLang="zh-CN" sz="1400" dirty="0"/>
                        <a:t>have not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fallen off.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05691"/>
                  </a:ext>
                </a:extLst>
              </a:tr>
              <a:tr h="927055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IP Structure of airbag area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max. plastic strain of upper</a:t>
                      </a:r>
                      <a:r>
                        <a:rPr lang="en-US" altLang="zh-CN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bracket and upper cover are higher than the</a:t>
                      </a:r>
                      <a:r>
                        <a:rPr lang="en-US" altLang="zh-CN" sz="1400" dirty="0"/>
                        <a:t> elongation of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PP-LGF20(0.032</a:t>
                      </a:r>
                      <a:r>
                        <a:rPr lang="en-US" altLang="zh-CN" sz="1400" dirty="0"/>
                        <a:t>) , there are minor damage</a:t>
                      </a:r>
                      <a:r>
                        <a:rPr lang="en-US" altLang="zh-CN" sz="1400" baseline="0" dirty="0"/>
                        <a:t> in upper</a:t>
                      </a:r>
                      <a:r>
                        <a:rPr lang="en-US" altLang="zh-CN" sz="1400" dirty="0"/>
                        <a:t> bracket and </a:t>
                      </a:r>
                      <a:r>
                        <a:rPr lang="en-US" altLang="zh-CN" sz="1400" baseline="0" dirty="0"/>
                        <a:t>topp</a:t>
                      </a:r>
                      <a:r>
                        <a:rPr lang="en-US" altLang="zh-CN" sz="1400" dirty="0"/>
                        <a:t>er cover.</a:t>
                      </a:r>
                      <a:endParaRPr lang="en-US" altLang="zh-CN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highlight>
                            <a:srgbClr val="FFFF00"/>
                          </a:highlight>
                        </a:rPr>
                        <a:t>Acceptable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50865"/>
                  </a:ext>
                </a:extLst>
              </a:tr>
              <a:tr h="3455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Front Glass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Front Glass has no failure.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OK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16546"/>
                  </a:ext>
                </a:extLst>
              </a:tr>
              <a:tr h="754009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Airbag deployment avoid the ICP, A-</a:t>
                      </a:r>
                      <a:r>
                        <a:rPr lang="en-US" altLang="zh-CN" sz="1600" dirty="0" err="1"/>
                        <a:t>Saeule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ABT shake;</a:t>
                      </a:r>
                    </a:p>
                    <a:p>
                      <a:r>
                        <a:rPr lang="en-US" altLang="zh-CN" sz="1400" dirty="0"/>
                        <a:t>Contact with A-</a:t>
                      </a:r>
                      <a:r>
                        <a:rPr lang="en-US" altLang="zh-CN" sz="1400" dirty="0" err="1"/>
                        <a:t>Saeule</a:t>
                      </a:r>
                      <a:r>
                        <a:rPr lang="en-US" altLang="zh-CN" sz="1400" dirty="0"/>
                        <a:t> when airbag deployment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highlight>
                            <a:srgbClr val="FFFF00"/>
                          </a:highlight>
                        </a:rPr>
                        <a:t>Acceptable</a:t>
                      </a:r>
                      <a:endParaRPr lang="zh-CN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2921"/>
                  </a:ext>
                </a:extLst>
              </a:tr>
            </a:tbl>
          </a:graphicData>
        </a:graphic>
      </p:graphicFrame>
      <p:grpSp>
        <p:nvGrpSpPr>
          <p:cNvPr id="18" name="Grupo 19">
            <a:extLst>
              <a:ext uri="{FF2B5EF4-FFF2-40B4-BE49-F238E27FC236}">
                <a16:creationId xmlns:a16="http://schemas.microsoft.com/office/drawing/2014/main" id="{6D990188-E5C0-1C1D-5AEE-85527600D39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19" name="CustomShape 9">
              <a:extLst>
                <a:ext uri="{FF2B5EF4-FFF2-40B4-BE49-F238E27FC236}">
                  <a16:creationId xmlns:a16="http://schemas.microsoft.com/office/drawing/2014/main" id="{E6B6C570-1B70-D846-4371-BD97A8E8A070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CustomShape 9">
              <a:extLst>
                <a:ext uri="{FF2B5EF4-FFF2-40B4-BE49-F238E27FC236}">
                  <a16:creationId xmlns:a16="http://schemas.microsoft.com/office/drawing/2014/main" id="{AEA4E4A9-A187-6256-CCF1-1F676953C2E0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CustomShape 9">
              <a:extLst>
                <a:ext uri="{FF2B5EF4-FFF2-40B4-BE49-F238E27FC236}">
                  <a16:creationId xmlns:a16="http://schemas.microsoft.com/office/drawing/2014/main" id="{99577C17-81E3-A9AA-41C4-516C663FE5CF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CustomShape 8">
              <a:extLst>
                <a:ext uri="{FF2B5EF4-FFF2-40B4-BE49-F238E27FC236}">
                  <a16:creationId xmlns:a16="http://schemas.microsoft.com/office/drawing/2014/main" id="{8213CD32-D15A-C579-C84B-A3CE9A5412A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26" name="Grupo 1">
              <a:extLst>
                <a:ext uri="{FF2B5EF4-FFF2-40B4-BE49-F238E27FC236}">
                  <a16:creationId xmlns:a16="http://schemas.microsoft.com/office/drawing/2014/main" id="{1600D330-BCEB-1B44-5B13-ABE382E533C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27" name="CustomShape 9">
                <a:extLst>
                  <a:ext uri="{FF2B5EF4-FFF2-40B4-BE49-F238E27FC236}">
                    <a16:creationId xmlns:a16="http://schemas.microsoft.com/office/drawing/2014/main" id="{606A5496-0FC4-2967-B999-9DE7D4F7F1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FFFFFF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28" name="CustomShape 9">
                <a:extLst>
                  <a:ext uri="{FF2B5EF4-FFF2-40B4-BE49-F238E27FC236}">
                    <a16:creationId xmlns:a16="http://schemas.microsoft.com/office/drawing/2014/main" id="{38265107-8BB1-35C3-C0B5-4AE80533890F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29" name="CustomShape 9">
                <a:extLst>
                  <a:ext uri="{FF2B5EF4-FFF2-40B4-BE49-F238E27FC236}">
                    <a16:creationId xmlns:a16="http://schemas.microsoft.com/office/drawing/2014/main" id="{18384BDC-6A59-780B-FB94-78FC58975DDC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9BFEB0F-E5F2-06D9-B937-19BA3B1176D3}"/>
              </a:ext>
            </a:extLst>
          </p:cNvPr>
          <p:cNvSpPr/>
          <p:nvPr/>
        </p:nvSpPr>
        <p:spPr>
          <a:xfrm>
            <a:off x="10593859" y="2323603"/>
            <a:ext cx="984247" cy="3268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2429101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25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dirty="0"/>
              <a:t>The load case of Airbag deployment HT can 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Results overview of Airbag deployment HT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1" name="Grupo 19">
            <a:extLst>
              <a:ext uri="{FF2B5EF4-FFF2-40B4-BE49-F238E27FC236}">
                <a16:creationId xmlns:a16="http://schemas.microsoft.com/office/drawing/2014/main" id="{6D990188-E5C0-1C1D-5AEE-85527600D39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2" name="CustomShape 9">
              <a:extLst>
                <a:ext uri="{FF2B5EF4-FFF2-40B4-BE49-F238E27FC236}">
                  <a16:creationId xmlns:a16="http://schemas.microsoft.com/office/drawing/2014/main" id="{E6B6C570-1B70-D846-4371-BD97A8E8A070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AEA4E4A9-A187-6256-CCF1-1F676953C2E0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99577C17-81E3-A9AA-41C4-516C663FE5CF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8">
              <a:extLst>
                <a:ext uri="{FF2B5EF4-FFF2-40B4-BE49-F238E27FC236}">
                  <a16:creationId xmlns:a16="http://schemas.microsoft.com/office/drawing/2014/main" id="{8213CD32-D15A-C579-C84B-A3CE9A5412A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6" name="Grupo 1">
              <a:extLst>
                <a:ext uri="{FF2B5EF4-FFF2-40B4-BE49-F238E27FC236}">
                  <a16:creationId xmlns:a16="http://schemas.microsoft.com/office/drawing/2014/main" id="{1600D330-BCEB-1B44-5B13-ABE382E533C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7" name="CustomShape 9">
                <a:extLst>
                  <a:ext uri="{FF2B5EF4-FFF2-40B4-BE49-F238E27FC236}">
                    <a16:creationId xmlns:a16="http://schemas.microsoft.com/office/drawing/2014/main" id="{606A5496-0FC4-2967-B999-9DE7D4F7F1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FFFFFF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38265107-8BB1-35C3-C0B5-4AE80533890F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18384BDC-6A59-780B-FB94-78FC58975DDC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3893" y="1872241"/>
          <a:ext cx="11037770" cy="3748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8902">
                  <a:extLst>
                    <a:ext uri="{9D8B030D-6E8A-4147-A177-3AD203B41FA5}">
                      <a16:colId xmlns:a16="http://schemas.microsoft.com/office/drawing/2014/main" val="435554186"/>
                    </a:ext>
                  </a:extLst>
                </a:gridCol>
                <a:gridCol w="4312145">
                  <a:extLst>
                    <a:ext uri="{9D8B030D-6E8A-4147-A177-3AD203B41FA5}">
                      <a16:colId xmlns:a16="http://schemas.microsoft.com/office/drawing/2014/main" val="2012943242"/>
                    </a:ext>
                  </a:extLst>
                </a:gridCol>
                <a:gridCol w="3507906">
                  <a:extLst>
                    <a:ext uri="{9D8B030D-6E8A-4147-A177-3AD203B41FA5}">
                      <a16:colId xmlns:a16="http://schemas.microsoft.com/office/drawing/2014/main" val="2364921878"/>
                    </a:ext>
                  </a:extLst>
                </a:gridCol>
                <a:gridCol w="1268817">
                  <a:extLst>
                    <a:ext uri="{9D8B030D-6E8A-4147-A177-3AD203B41FA5}">
                      <a16:colId xmlns:a16="http://schemas.microsoft.com/office/drawing/2014/main" val="257658002"/>
                    </a:ext>
                  </a:extLst>
                </a:gridCol>
              </a:tblGrid>
              <a:tr h="3508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41327"/>
                  </a:ext>
                </a:extLst>
              </a:tr>
              <a:tr h="1099757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Airbag deployment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Structure complete, no parts fly out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Upper and</a:t>
                      </a:r>
                      <a:r>
                        <a:rPr lang="en-US" altLang="zh-CN" sz="1400" baseline="0" dirty="0"/>
                        <a:t> lower</a:t>
                      </a:r>
                      <a:r>
                        <a:rPr lang="en-US" altLang="zh-CN" sz="1400" dirty="0"/>
                        <a:t> bracket structure is complete; Speaker cover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air outlet trim panel and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upper atmosphere light cover </a:t>
                      </a:r>
                      <a:r>
                        <a:rPr lang="en-US" altLang="zh-CN" sz="1400" dirty="0"/>
                        <a:t>have not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fallen off.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05691"/>
                  </a:ext>
                </a:extLst>
              </a:tr>
              <a:tr h="1023336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IP Structure of airbag area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max. plastic strain of upper, lower IP bracket and upper cover are higher than the</a:t>
                      </a:r>
                      <a:r>
                        <a:rPr lang="en-US" altLang="zh-CN" sz="1400" dirty="0"/>
                        <a:t> elongation of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PP-LGF20(0.063</a:t>
                      </a:r>
                      <a:r>
                        <a:rPr lang="en-US" altLang="zh-CN" sz="1400" dirty="0"/>
                        <a:t>),</a:t>
                      </a:r>
                      <a:r>
                        <a:rPr lang="en-US" altLang="zh-CN" sz="1400" baseline="0" dirty="0"/>
                        <a:t> </a:t>
                      </a:r>
                      <a:r>
                        <a:rPr lang="en-US" altLang="zh-CN" sz="1400" dirty="0"/>
                        <a:t>there are minor damage</a:t>
                      </a:r>
                      <a:r>
                        <a:rPr lang="en-US" altLang="zh-CN" sz="1400" baseline="0" dirty="0"/>
                        <a:t> in upper</a:t>
                      </a:r>
                      <a:r>
                        <a:rPr lang="en-US" altLang="zh-CN" sz="1400" dirty="0"/>
                        <a:t> bracket and </a:t>
                      </a:r>
                      <a:r>
                        <a:rPr lang="en-US" altLang="zh-CN" sz="1400" baseline="0" dirty="0"/>
                        <a:t>topp</a:t>
                      </a:r>
                      <a:r>
                        <a:rPr lang="en-US" altLang="zh-CN" sz="1400" dirty="0"/>
                        <a:t>er cover.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highlight>
                            <a:srgbClr val="FFFF00"/>
                          </a:highlight>
                        </a:rPr>
                        <a:t>NOK</a:t>
                      </a:r>
                      <a:endParaRPr lang="zh-CN" alt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50865"/>
                  </a:ext>
                </a:extLst>
              </a:tr>
              <a:tr h="321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Front Glass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Front Glass has on failure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16546"/>
                  </a:ext>
                </a:extLst>
              </a:tr>
              <a:tr h="789430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Airbag deployment avoid the ICP, A-</a:t>
                      </a:r>
                      <a:r>
                        <a:rPr lang="en-US" altLang="zh-CN" sz="1600" dirty="0" err="1"/>
                        <a:t>Saeule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ABT shake;</a:t>
                      </a:r>
                    </a:p>
                    <a:p>
                      <a:r>
                        <a:rPr lang="en-US" altLang="zh-CN" sz="1400" dirty="0"/>
                        <a:t>Contact with A-</a:t>
                      </a:r>
                      <a:r>
                        <a:rPr lang="en-US" altLang="zh-CN" sz="1400" dirty="0" err="1"/>
                        <a:t>Saeule</a:t>
                      </a:r>
                      <a:r>
                        <a:rPr lang="en-US" altLang="zh-CN" sz="1400" dirty="0"/>
                        <a:t> when airbag deployment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highlight>
                            <a:srgbClr val="FFFF00"/>
                          </a:highlight>
                        </a:rPr>
                        <a:t>NOK</a:t>
                      </a:r>
                      <a:endParaRPr lang="zh-CN" alt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2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008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23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478801" y="6551476"/>
            <a:ext cx="360040" cy="153888"/>
          </a:xfrm>
        </p:spPr>
        <p:txBody>
          <a:bodyPr/>
          <a:lstStyle/>
          <a:p>
            <a:fld id="{D9249B2F-9173-48D3-A5BC-90A6758C671B}" type="slidenum">
              <a:rPr lang="en-GB" noProof="0" smtClean="0"/>
              <a:pPr/>
              <a:t>26</a:t>
            </a:fld>
            <a:endParaRPr lang="en-GB" noProof="0" dirty="0"/>
          </a:p>
        </p:txBody>
      </p:sp>
      <p:sp>
        <p:nvSpPr>
          <p:cNvPr id="43" name="Content Placeholder 42"/>
          <p:cNvSpPr>
            <a:spLocks noGrp="1"/>
          </p:cNvSpPr>
          <p:nvPr>
            <p:ph idx="4294967295"/>
          </p:nvPr>
        </p:nvSpPr>
        <p:spPr>
          <a:xfrm>
            <a:off x="526426" y="5716935"/>
            <a:ext cx="11132462" cy="697389"/>
          </a:xfrm>
        </p:spPr>
        <p:txBody>
          <a:bodyPr/>
          <a:lstStyle/>
          <a:p>
            <a:r>
              <a:rPr lang="en-US" dirty="0"/>
              <a:t>The load case of Airbag deployment </a:t>
            </a:r>
            <a:r>
              <a:rPr lang="en-US" altLang="zh-CN" dirty="0"/>
              <a:t>L</a:t>
            </a:r>
            <a:r>
              <a:rPr lang="en-US" dirty="0"/>
              <a:t>T can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dirty="0"/>
              <a:t>meet the target.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4294967295"/>
          </p:nvPr>
        </p:nvSpPr>
        <p:spPr>
          <a:xfrm>
            <a:off x="407988" y="1052513"/>
            <a:ext cx="11379164" cy="3600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Results overview of Airbag deployment LT</a:t>
            </a:r>
            <a:endParaRPr lang="en-US" dirty="0"/>
          </a:p>
        </p:txBody>
      </p:sp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407986" y="647687"/>
            <a:ext cx="11376025" cy="387798"/>
          </a:xfrm>
        </p:spPr>
        <p:txBody>
          <a:bodyPr vert="horz" rIns="0">
            <a:spAutoFit/>
          </a:bodyPr>
          <a:lstStyle/>
          <a:p>
            <a:r>
              <a:rPr lang="en-US" altLang="zh-CN" dirty="0"/>
              <a:t>A01_IP</a:t>
            </a:r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   </a:t>
            </a:r>
            <a:endParaRPr lang="en-GB" dirty="0"/>
          </a:p>
        </p:txBody>
      </p:sp>
      <p:grpSp>
        <p:nvGrpSpPr>
          <p:cNvPr id="21" name="Grupo 19">
            <a:extLst>
              <a:ext uri="{FF2B5EF4-FFF2-40B4-BE49-F238E27FC236}">
                <a16:creationId xmlns:a16="http://schemas.microsoft.com/office/drawing/2014/main" id="{6D990188-E5C0-1C1D-5AEE-85527600D39F}"/>
              </a:ext>
            </a:extLst>
          </p:cNvPr>
          <p:cNvGrpSpPr/>
          <p:nvPr/>
        </p:nvGrpSpPr>
        <p:grpSpPr>
          <a:xfrm>
            <a:off x="11206995" y="1020015"/>
            <a:ext cx="264755" cy="711903"/>
            <a:chOff x="8749258" y="52264"/>
            <a:chExt cx="216024" cy="594066"/>
          </a:xfrm>
        </p:grpSpPr>
        <p:sp>
          <p:nvSpPr>
            <p:cNvPr id="22" name="CustomShape 9">
              <a:extLst>
                <a:ext uri="{FF2B5EF4-FFF2-40B4-BE49-F238E27FC236}">
                  <a16:creationId xmlns:a16="http://schemas.microsoft.com/office/drawing/2014/main" id="{E6B6C570-1B70-D846-4371-BD97A8E8A070}"/>
                </a:ext>
              </a:extLst>
            </p:cNvPr>
            <p:cNvSpPr/>
            <p:nvPr/>
          </p:nvSpPr>
          <p:spPr>
            <a:xfrm>
              <a:off x="8775573" y="80460"/>
              <a:ext cx="160650" cy="160650"/>
            </a:xfrm>
            <a:prstGeom prst="ellipse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CustomShape 9">
              <a:extLst>
                <a:ext uri="{FF2B5EF4-FFF2-40B4-BE49-F238E27FC236}">
                  <a16:creationId xmlns:a16="http://schemas.microsoft.com/office/drawing/2014/main" id="{AEA4E4A9-A187-6256-CCF1-1F676953C2E0}"/>
                </a:ext>
              </a:extLst>
            </p:cNvPr>
            <p:cNvSpPr/>
            <p:nvPr/>
          </p:nvSpPr>
          <p:spPr>
            <a:xfrm>
              <a:off x="8771413" y="257107"/>
              <a:ext cx="160650" cy="160650"/>
            </a:xfrm>
            <a:prstGeom prst="ellipse">
              <a:avLst/>
            </a:prstGeom>
            <a:solidFill>
              <a:srgbClr val="FFFF00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CustomShape 9">
              <a:extLst>
                <a:ext uri="{FF2B5EF4-FFF2-40B4-BE49-F238E27FC236}">
                  <a16:creationId xmlns:a16="http://schemas.microsoft.com/office/drawing/2014/main" id="{99577C17-81E3-A9AA-41C4-516C663FE5CF}"/>
                </a:ext>
              </a:extLst>
            </p:cNvPr>
            <p:cNvSpPr/>
            <p:nvPr/>
          </p:nvSpPr>
          <p:spPr>
            <a:xfrm>
              <a:off x="8773488" y="446224"/>
              <a:ext cx="160650" cy="160650"/>
            </a:xfrm>
            <a:prstGeom prst="ellipse">
              <a:avLst/>
            </a:prstGeom>
            <a:solidFill>
              <a:srgbClr val="339933"/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CustomShape 8">
              <a:extLst>
                <a:ext uri="{FF2B5EF4-FFF2-40B4-BE49-F238E27FC236}">
                  <a16:creationId xmlns:a16="http://schemas.microsoft.com/office/drawing/2014/main" id="{8213CD32-D15A-C579-C84B-A3CE9A5412A7}"/>
                </a:ext>
              </a:extLst>
            </p:cNvPr>
            <p:cNvSpPr/>
            <p:nvPr/>
          </p:nvSpPr>
          <p:spPr>
            <a:xfrm>
              <a:off x="8749258" y="52264"/>
              <a:ext cx="216024" cy="594066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65000"/>
              </a:schemeClr>
            </a:solidFill>
            <a:ln w="936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s-ES" dirty="0"/>
            </a:p>
          </p:txBody>
        </p:sp>
        <p:grpSp>
          <p:nvGrpSpPr>
            <p:cNvPr id="36" name="Grupo 1">
              <a:extLst>
                <a:ext uri="{FF2B5EF4-FFF2-40B4-BE49-F238E27FC236}">
                  <a16:creationId xmlns:a16="http://schemas.microsoft.com/office/drawing/2014/main" id="{1600D330-BCEB-1B44-5B13-ABE382E533CB}"/>
                </a:ext>
              </a:extLst>
            </p:cNvPr>
            <p:cNvGrpSpPr/>
            <p:nvPr/>
          </p:nvGrpSpPr>
          <p:grpSpPr>
            <a:xfrm>
              <a:off x="8776118" y="86090"/>
              <a:ext cx="160650" cy="526414"/>
              <a:chOff x="8776118" y="80460"/>
              <a:chExt cx="160650" cy="526414"/>
            </a:xfrm>
          </p:grpSpPr>
          <p:sp>
            <p:nvSpPr>
              <p:cNvPr id="37" name="CustomShape 9">
                <a:extLst>
                  <a:ext uri="{FF2B5EF4-FFF2-40B4-BE49-F238E27FC236}">
                    <a16:creationId xmlns:a16="http://schemas.microsoft.com/office/drawing/2014/main" id="{606A5496-0FC4-2967-B999-9DE7D4F7F180}"/>
                  </a:ext>
                </a:extLst>
              </p:cNvPr>
              <p:cNvSpPr/>
              <p:nvPr/>
            </p:nvSpPr>
            <p:spPr>
              <a:xfrm>
                <a:off x="8776118" y="80460"/>
                <a:ext cx="160650" cy="160650"/>
              </a:xfrm>
              <a:prstGeom prst="ellipse">
                <a:avLst/>
              </a:prstGeom>
              <a:solidFill>
                <a:srgbClr val="FFFFFF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8" name="CustomShape 9">
                <a:extLst>
                  <a:ext uri="{FF2B5EF4-FFF2-40B4-BE49-F238E27FC236}">
                    <a16:creationId xmlns:a16="http://schemas.microsoft.com/office/drawing/2014/main" id="{38265107-8BB1-35C3-C0B5-4AE80533890F}"/>
                  </a:ext>
                </a:extLst>
              </p:cNvPr>
              <p:cNvSpPr/>
              <p:nvPr/>
            </p:nvSpPr>
            <p:spPr>
              <a:xfrm>
                <a:off x="8776118" y="263342"/>
                <a:ext cx="160650" cy="160650"/>
              </a:xfrm>
              <a:prstGeom prst="ellipse">
                <a:avLst/>
              </a:prstGeom>
              <a:solidFill>
                <a:srgbClr val="FFFF00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40" name="CustomShape 9">
                <a:extLst>
                  <a:ext uri="{FF2B5EF4-FFF2-40B4-BE49-F238E27FC236}">
                    <a16:creationId xmlns:a16="http://schemas.microsoft.com/office/drawing/2014/main" id="{18384BDC-6A59-780B-FB94-78FC58975DDC}"/>
                  </a:ext>
                </a:extLst>
              </p:cNvPr>
              <p:cNvSpPr/>
              <p:nvPr/>
            </p:nvSpPr>
            <p:spPr>
              <a:xfrm>
                <a:off x="8776118" y="446224"/>
                <a:ext cx="160650" cy="160650"/>
              </a:xfrm>
              <a:prstGeom prst="ellipse">
                <a:avLst/>
              </a:prstGeom>
              <a:solidFill>
                <a:schemeClr val="bg1"/>
              </a:solidFill>
              <a:ln w="9360">
                <a:noFill/>
                <a:round/>
              </a:ln>
            </p:spPr>
            <p:txBody>
              <a:bodyPr/>
              <a:lstStyle/>
              <a:p>
                <a:endParaRPr lang="es-ES" dirty="0"/>
              </a:p>
            </p:txBody>
          </p:sp>
        </p:grpSp>
      </p:grp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3893" y="1860974"/>
          <a:ext cx="11037770" cy="3688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8902">
                  <a:extLst>
                    <a:ext uri="{9D8B030D-6E8A-4147-A177-3AD203B41FA5}">
                      <a16:colId xmlns:a16="http://schemas.microsoft.com/office/drawing/2014/main" val="435554186"/>
                    </a:ext>
                  </a:extLst>
                </a:gridCol>
                <a:gridCol w="4312145">
                  <a:extLst>
                    <a:ext uri="{9D8B030D-6E8A-4147-A177-3AD203B41FA5}">
                      <a16:colId xmlns:a16="http://schemas.microsoft.com/office/drawing/2014/main" val="2012943242"/>
                    </a:ext>
                  </a:extLst>
                </a:gridCol>
                <a:gridCol w="3617214">
                  <a:extLst>
                    <a:ext uri="{9D8B030D-6E8A-4147-A177-3AD203B41FA5}">
                      <a16:colId xmlns:a16="http://schemas.microsoft.com/office/drawing/2014/main" val="2364921878"/>
                    </a:ext>
                  </a:extLst>
                </a:gridCol>
                <a:gridCol w="1159509">
                  <a:extLst>
                    <a:ext uri="{9D8B030D-6E8A-4147-A177-3AD203B41FA5}">
                      <a16:colId xmlns:a16="http://schemas.microsoft.com/office/drawing/2014/main" val="257658002"/>
                    </a:ext>
                  </a:extLst>
                </a:gridCol>
              </a:tblGrid>
              <a:tr h="349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Load case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Target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CAE Result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Status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441327"/>
                  </a:ext>
                </a:extLst>
              </a:tr>
              <a:tr h="1311419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Airbag deployment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Structure complete, no parts fly out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Upper and</a:t>
                      </a:r>
                      <a:r>
                        <a:rPr lang="en-US" altLang="zh-CN" sz="1400" baseline="0" dirty="0"/>
                        <a:t> lower</a:t>
                      </a:r>
                      <a:r>
                        <a:rPr lang="en-US" altLang="zh-CN" sz="1400" dirty="0"/>
                        <a:t> bracket structure is complete; Speaker cover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air outlet trim panel and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upper atmosphere light cover </a:t>
                      </a:r>
                      <a:r>
                        <a:rPr lang="en-US" altLang="zh-CN" sz="1400" dirty="0"/>
                        <a:t>have not </a:t>
                      </a:r>
                      <a:r>
                        <a:rPr lang="en-US" altLang="zh-CN" sz="1400" dirty="0">
                          <a:solidFill>
                            <a:schemeClr val="tx2"/>
                          </a:solidFill>
                        </a:rPr>
                        <a:t>fallen off.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05691"/>
                  </a:ext>
                </a:extLst>
              </a:tr>
              <a:tr h="903422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IP Structure of airbag area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max. plastic strain of upper</a:t>
                      </a:r>
                      <a:r>
                        <a:rPr lang="en-US" altLang="zh-CN" sz="1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bracket and upper cover are higher than the</a:t>
                      </a:r>
                      <a:r>
                        <a:rPr lang="en-US" altLang="zh-CN" sz="1400" dirty="0"/>
                        <a:t> elongation of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PP-LGF20(0.034</a:t>
                      </a:r>
                      <a:r>
                        <a:rPr lang="en-US" altLang="zh-CN" sz="1400" dirty="0"/>
                        <a:t>), there are minor damage</a:t>
                      </a:r>
                      <a:r>
                        <a:rPr lang="en-US" altLang="zh-CN" sz="1400" baseline="0" dirty="0"/>
                        <a:t> in topp</a:t>
                      </a:r>
                      <a:r>
                        <a:rPr lang="en-US" altLang="zh-CN" sz="1400" dirty="0"/>
                        <a:t>er cover.</a:t>
                      </a:r>
                      <a:endParaRPr lang="en-US" altLang="zh-CN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highlight>
                            <a:srgbClr val="FFFF00"/>
                          </a:highlight>
                        </a:rPr>
                        <a:t>NOK</a:t>
                      </a:r>
                      <a:endParaRPr lang="zh-CN" alt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50865"/>
                  </a:ext>
                </a:extLst>
              </a:tr>
              <a:tr h="3205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Front Glass no failure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Front Glass has on failure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OK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16546"/>
                  </a:ext>
                </a:extLst>
              </a:tr>
              <a:tr h="699423">
                <a:tc v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Airbag deployment avoid the ICP, A-</a:t>
                      </a:r>
                      <a:r>
                        <a:rPr lang="en-US" altLang="zh-CN" sz="1600" dirty="0" err="1"/>
                        <a:t>Saeule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ABT shake;</a:t>
                      </a:r>
                    </a:p>
                    <a:p>
                      <a:r>
                        <a:rPr lang="en-US" altLang="zh-CN" sz="1400" dirty="0"/>
                        <a:t>Contact with A-</a:t>
                      </a:r>
                      <a:r>
                        <a:rPr lang="en-US" altLang="zh-CN" sz="1400" dirty="0" err="1"/>
                        <a:t>Saeule</a:t>
                      </a:r>
                      <a:r>
                        <a:rPr lang="en-US" altLang="zh-CN" sz="1400" dirty="0"/>
                        <a:t> when airbag deployment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highlight>
                            <a:srgbClr val="FFFF00"/>
                          </a:highlight>
                        </a:rPr>
                        <a:t>NOK</a:t>
                      </a:r>
                      <a:endParaRPr lang="zh-CN" alt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2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852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0ff92c5-92ff-43fe-a760-6a9303f9073d}" enabled="1" method="Standard" siteId="{1272ef7d-0a4c-4c35-8f4b-416e283c5d59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2442</Words>
  <Application>Microsoft Office PowerPoint</Application>
  <PresentationFormat>Widescreen</PresentationFormat>
  <Paragraphs>978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主题​​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  <vt:lpstr>A01_IP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Qiao, Shihao (VCTC-EKAI)</dc:creator>
  <cp:lastModifiedBy>Qiao, Shihao (VCTC-EKAI)</cp:lastModifiedBy>
  <cp:revision>4</cp:revision>
  <dcterms:created xsi:type="dcterms:W3CDTF">2026-04-14T06:22:11Z</dcterms:created>
  <dcterms:modified xsi:type="dcterms:W3CDTF">2026-04-20T02:08:07Z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主题​​:8</vt:lpwstr>
  </property>
  <property fmtid="{D5CDD505-2E9C-101B-9397-08002B2CF9AE}" pid="3" name="ClassificationContentMarkingFooterText">
    <vt:lpwstr>INTERNAL</vt:lpwstr>
  </property>
</Properties>
</file>